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3" r:id="rId16"/>
    <p:sldId id="270" r:id="rId17"/>
    <p:sldId id="271" r:id="rId18"/>
    <p:sldId id="272"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1" d="100"/>
          <a:sy n="71" d="100"/>
        </p:scale>
        <p:origin x="67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675954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238"/>
        </a:solidFill>
        <a:effectLst/>
      </p:bgPr>
    </p:bg>
    <p:spTree>
      <p:nvGrpSpPr>
        <p:cNvPr id="1" name=""/>
        <p:cNvGrpSpPr/>
        <p:nvPr/>
      </p:nvGrpSpPr>
      <p:grpSpPr>
        <a:xfrm>
          <a:off x="0" y="0"/>
          <a:ext cx="0" cy="0"/>
          <a:chOff x="0" y="0"/>
          <a:chExt cx="0" cy="0"/>
        </a:xfrm>
      </p:grpSpPr>
      <p:sp>
        <p:nvSpPr>
          <p:cNvPr id="2" name="Text 0"/>
          <p:cNvSpPr/>
          <p:nvPr/>
        </p:nvSpPr>
        <p:spPr>
          <a:xfrm>
            <a:off x="822960" y="1828800"/>
            <a:ext cx="10515600" cy="1280160"/>
          </a:xfrm>
          <a:prstGeom prst="rect">
            <a:avLst/>
          </a:prstGeom>
          <a:noFill/>
          <a:ln/>
        </p:spPr>
        <p:txBody>
          <a:bodyPr wrap="square" lIns="0" tIns="0" rIns="0" bIns="0" rtlCol="0" anchor="ctr"/>
          <a:lstStyle/>
          <a:p>
            <a:pPr marL="0" indent="0">
              <a:buNone/>
            </a:pPr>
            <a:r>
              <a:rPr lang="ja-JP" sz="6000" b="1" dirty="0">
                <a:solidFill>
                  <a:srgbClr val="FFFFFF"/>
                </a:solidFill>
                <a:latin typeface="Noto Sans CJK JP" pitchFamily="34" charset="0"/>
                <a:ea typeface="Noto Sans CJK JP"/>
                <a:cs typeface="Noto Sans CJK JP" pitchFamily="34" charset="-120"/>
              </a:rPr>
              <a:t>ガロア理論</a:t>
            </a:r>
            <a:endParaRPr lang="en-US" sz="6000" dirty="0"/>
          </a:p>
        </p:txBody>
      </p:sp>
      <p:sp>
        <p:nvSpPr>
          <p:cNvPr id="3" name="Text 1"/>
          <p:cNvSpPr/>
          <p:nvPr/>
        </p:nvSpPr>
        <p:spPr>
          <a:xfrm>
            <a:off x="822960" y="3154680"/>
            <a:ext cx="10515600" cy="731520"/>
          </a:xfrm>
          <a:prstGeom prst="rect">
            <a:avLst/>
          </a:prstGeom>
          <a:noFill/>
          <a:ln/>
        </p:spPr>
        <p:txBody>
          <a:bodyPr wrap="square" lIns="0" tIns="0" rIns="0" bIns="0" rtlCol="0" anchor="ctr"/>
          <a:lstStyle/>
          <a:p>
            <a:pPr marL="0" indent="0">
              <a:buNone/>
            </a:pPr>
            <a:r>
              <a:rPr lang="ja-JP" sz="3000" dirty="0">
                <a:solidFill>
                  <a:srgbClr val="CAD6F0"/>
                </a:solidFill>
                <a:latin typeface="Noto Sans CJK JP" pitchFamily="34" charset="0"/>
                <a:ea typeface="Noto Sans CJK JP"/>
                <a:cs typeface="Noto Sans CJK JP" pitchFamily="34" charset="-120"/>
              </a:rPr>
              <a:t>なぜ5次方程式には</a:t>
            </a:r>
            <a:r>
              <a:rPr lang="ja-JP" sz="3000" b="1" dirty="0">
                <a:solidFill>
                  <a:srgbClr val="0F9E8E"/>
                </a:solidFill>
                <a:latin typeface="Noto Sans CJK JP" pitchFamily="34" charset="0"/>
                <a:ea typeface="Noto Sans CJK JP"/>
                <a:cs typeface="Noto Sans CJK JP" pitchFamily="34" charset="-120"/>
              </a:rPr>
              <a:t>解の公式がない</a:t>
            </a:r>
            <a:r>
              <a:rPr lang="ja-JP" sz="3000" dirty="0">
                <a:solidFill>
                  <a:srgbClr val="CAD6F0"/>
                </a:solidFill>
                <a:latin typeface="Noto Sans CJK JP" pitchFamily="34" charset="0"/>
                <a:ea typeface="Noto Sans CJK JP"/>
                <a:cs typeface="Noto Sans CJK JP" pitchFamily="34" charset="-120"/>
              </a:rPr>
              <a:t>のか</a:t>
            </a:r>
            <a:endParaRPr lang="en-US" sz="3000" dirty="0"/>
          </a:p>
        </p:txBody>
      </p:sp>
      <p:sp>
        <p:nvSpPr>
          <p:cNvPr id="4" name="Text 2"/>
          <p:cNvSpPr/>
          <p:nvPr/>
        </p:nvSpPr>
        <p:spPr>
          <a:xfrm>
            <a:off x="841248" y="4069080"/>
            <a:ext cx="10515600" cy="457200"/>
          </a:xfrm>
          <a:prstGeom prst="rect">
            <a:avLst/>
          </a:prstGeom>
          <a:noFill/>
          <a:ln/>
        </p:spPr>
        <p:txBody>
          <a:bodyPr wrap="square" lIns="0" tIns="0" rIns="0" bIns="0" rtlCol="0" anchor="ctr"/>
          <a:lstStyle/>
          <a:p>
            <a:pPr marL="0" indent="0">
              <a:buNone/>
            </a:pPr>
            <a:r>
              <a:rPr lang="ja-JP" sz="1800" i="1" dirty="0">
                <a:solidFill>
                  <a:srgbClr val="8A93A8"/>
                </a:solidFill>
                <a:latin typeface="Noto Sans CJK JP" pitchFamily="34" charset="0"/>
                <a:ea typeface="Noto Sans CJK JP"/>
                <a:cs typeface="Noto Sans CJK JP" pitchFamily="34" charset="-120"/>
              </a:rPr>
              <a:t>対称性のことばで方程式の「解けやすさ」を測る</a:t>
            </a:r>
            <a:endParaRPr lang="en-US" sz="1800" dirty="0"/>
          </a:p>
        </p:txBody>
      </p:sp>
      <p:sp>
        <p:nvSpPr>
          <p:cNvPr id="5" name="Text 3"/>
          <p:cNvSpPr/>
          <p:nvPr/>
        </p:nvSpPr>
        <p:spPr>
          <a:xfrm>
            <a:off x="841248" y="5669280"/>
            <a:ext cx="10515600" cy="822960"/>
          </a:xfrm>
          <a:prstGeom prst="rect">
            <a:avLst/>
          </a:prstGeom>
          <a:noFill/>
          <a:ln/>
        </p:spPr>
        <p:txBody>
          <a:bodyPr wrap="square" lIns="0" tIns="0" rIns="0" bIns="0" rtlCol="0" anchor="ctr"/>
          <a:lstStyle/>
          <a:p>
            <a:pPr marL="0" indent="0">
              <a:lnSpc>
                <a:spcPct val="120000"/>
              </a:lnSpc>
              <a:buNone/>
            </a:pPr>
            <a:r>
              <a:rPr lang="ja-JP" sz="1500" dirty="0">
                <a:solidFill>
                  <a:srgbClr val="7A84A0"/>
                </a:solidFill>
                <a:latin typeface="Noto Sans CJK JP" pitchFamily="34" charset="0"/>
                <a:ea typeface="Noto Sans CJK JP"/>
                <a:cs typeface="Noto Sans CJK JP" pitchFamily="34" charset="-120"/>
              </a:rPr>
              <a:t>作成日:2026年6月7日</a:t>
            </a:r>
            <a:endParaRPr lang="en-US" sz="1500" dirty="0"/>
          </a:p>
          <a:p>
            <a:pPr marL="0" indent="0">
              <a:lnSpc>
                <a:spcPct val="120000"/>
              </a:lnSpc>
              <a:buNone/>
            </a:pPr>
            <a:r>
              <a:rPr lang="ja-JP" sz="1500" dirty="0">
                <a:solidFill>
                  <a:srgbClr val="7A84A0"/>
                </a:solidFill>
                <a:latin typeface="Noto Sans CJK JP" pitchFamily="34" charset="0"/>
                <a:ea typeface="Noto Sans CJK JP"/>
                <a:cs typeface="Noto Sans CJK JP" pitchFamily="34" charset="-120"/>
              </a:rPr>
              <a:t>5garashi.com 設計事務所</a:t>
            </a:r>
            <a:endParaRPr lang="en-US" sz="1500" dirty="0"/>
          </a:p>
        </p:txBody>
      </p:sp>
      <p:sp>
        <p:nvSpPr>
          <p:cNvPr id="6" name="Shape 4"/>
          <p:cNvSpPr/>
          <p:nvPr/>
        </p:nvSpPr>
        <p:spPr>
          <a:xfrm>
            <a:off x="822960" y="1965960"/>
            <a:ext cx="64008" cy="960120"/>
          </a:xfrm>
          <a:prstGeom prst="rect">
            <a:avLst/>
          </a:prstGeom>
          <a:solidFill>
            <a:srgbClr val="0F9E8E"/>
          </a:solidFill>
          <a:ln/>
        </p:spPr>
        <p:txBody>
          <a:bodyPr/>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72800" cy="731520"/>
          </a:xfrm>
          <a:prstGeom prst="rect">
            <a:avLst/>
          </a:prstGeom>
          <a:noFill/>
          <a:ln/>
        </p:spPr>
        <p:txBody>
          <a:bodyPr wrap="square" lIns="0" tIns="0" rIns="0" bIns="0" rtlCol="0" anchor="ctr"/>
          <a:lstStyle/>
          <a:p>
            <a:pPr marL="0" indent="0">
              <a:buNone/>
            </a:pPr>
            <a:r>
              <a:rPr lang="ja-JP" sz="3400" b="1" dirty="0">
                <a:solidFill>
                  <a:srgbClr val="1A2238"/>
                </a:solidFill>
                <a:latin typeface="Noto Sans CJK JP" pitchFamily="34" charset="0"/>
                <a:ea typeface="Noto Sans CJK JP"/>
                <a:cs typeface="Noto Sans CJK JP" pitchFamily="34" charset="-120"/>
              </a:rPr>
              <a:t>この資料のゴール</a:t>
            </a:r>
            <a:endParaRPr lang="en-US" sz="3400" dirty="0"/>
          </a:p>
        </p:txBody>
      </p:sp>
      <p:sp>
        <p:nvSpPr>
          <p:cNvPr id="3" name="Shape 1"/>
          <p:cNvSpPr/>
          <p:nvPr/>
        </p:nvSpPr>
        <p:spPr>
          <a:xfrm>
            <a:off x="822960" y="1463040"/>
            <a:ext cx="566928" cy="566928"/>
          </a:xfrm>
          <a:prstGeom prst="ellipse">
            <a:avLst/>
          </a:prstGeom>
          <a:solidFill>
            <a:srgbClr val="0F9E8E"/>
          </a:solidFill>
          <a:ln/>
        </p:spPr>
        <p:txBody>
          <a:bodyPr/>
          <a:lstStyle/>
          <a:p>
            <a:endParaRPr/>
          </a:p>
        </p:txBody>
      </p:sp>
      <p:sp>
        <p:nvSpPr>
          <p:cNvPr id="4" name="Text 2"/>
          <p:cNvSpPr/>
          <p:nvPr/>
        </p:nvSpPr>
        <p:spPr>
          <a:xfrm>
            <a:off x="822960" y="1463040"/>
            <a:ext cx="566928" cy="566928"/>
          </a:xfrm>
          <a:prstGeom prst="rect">
            <a:avLst/>
          </a:prstGeom>
          <a:noFill/>
          <a:ln/>
        </p:spPr>
        <p:txBody>
          <a:bodyPr wrap="square" lIns="0" tIns="0" rIns="0" bIns="0" rtlCol="0" anchor="ctr"/>
          <a:lstStyle/>
          <a:p>
            <a:pPr marL="0" indent="0" algn="ctr">
              <a:buNone/>
            </a:pPr>
            <a:r>
              <a:rPr lang="ja-JP" sz="2600" b="1" dirty="0">
                <a:solidFill>
                  <a:srgbClr val="FFFFFF"/>
                </a:solidFill>
                <a:latin typeface="Noto Sans CJK JP" pitchFamily="34" charset="0"/>
                <a:ea typeface="Noto Sans CJK JP"/>
                <a:cs typeface="Noto Sans CJK JP" pitchFamily="34" charset="-120"/>
              </a:rPr>
              <a:t>1</a:t>
            </a:r>
            <a:endParaRPr lang="en-US" sz="2600" dirty="0"/>
          </a:p>
        </p:txBody>
      </p:sp>
      <p:sp>
        <p:nvSpPr>
          <p:cNvPr id="5" name="Text 3"/>
          <p:cNvSpPr/>
          <p:nvPr/>
        </p:nvSpPr>
        <p:spPr>
          <a:xfrm>
            <a:off x="1600200" y="1444752"/>
            <a:ext cx="3657600" cy="457200"/>
          </a:xfrm>
          <a:prstGeom prst="rect">
            <a:avLst/>
          </a:prstGeom>
          <a:noFill/>
          <a:ln/>
        </p:spPr>
        <p:txBody>
          <a:bodyPr wrap="square" lIns="0" tIns="0" rIns="0" bIns="0" rtlCol="0" anchor="ctr"/>
          <a:lstStyle/>
          <a:p>
            <a:pPr marL="0" indent="0">
              <a:buNone/>
            </a:pPr>
            <a:r>
              <a:rPr lang="ja-JP" sz="2200" b="1" dirty="0">
                <a:solidFill>
                  <a:srgbClr val="1A2238"/>
                </a:solidFill>
                <a:latin typeface="Noto Sans CJK JP" pitchFamily="34" charset="0"/>
                <a:ea typeface="Noto Sans CJK JP"/>
                <a:cs typeface="Noto Sans CJK JP" pitchFamily="34" charset="-120"/>
              </a:rPr>
              <a:t>ガロア群とは何か</a:t>
            </a:r>
            <a:endParaRPr lang="en-US" sz="2200" dirty="0"/>
          </a:p>
        </p:txBody>
      </p:sp>
      <p:sp>
        <p:nvSpPr>
          <p:cNvPr id="6" name="Text 4"/>
          <p:cNvSpPr/>
          <p:nvPr/>
        </p:nvSpPr>
        <p:spPr>
          <a:xfrm>
            <a:off x="5394960" y="1444752"/>
            <a:ext cx="6035040" cy="603504"/>
          </a:xfrm>
          <a:prstGeom prst="rect">
            <a:avLst/>
          </a:prstGeom>
          <a:noFill/>
          <a:ln/>
        </p:spPr>
        <p:txBody>
          <a:bodyPr wrap="square" lIns="0" tIns="0" rIns="0" bIns="0" rtlCol="0" anchor="ctr"/>
          <a:lstStyle/>
          <a:p>
            <a:pPr marL="0" indent="0">
              <a:buNone/>
            </a:pPr>
            <a:r>
              <a:rPr lang="ja-JP" sz="1700" dirty="0">
                <a:solidFill>
                  <a:srgbClr val="6B7180"/>
                </a:solidFill>
                <a:latin typeface="Noto Sans CJK JP" pitchFamily="34" charset="0"/>
                <a:ea typeface="Noto Sans CJK JP"/>
                <a:cs typeface="Noto Sans CJK JP" pitchFamily="34" charset="-120"/>
              </a:rPr>
              <a:t>根どうしの和・積などの関係を保つ「対称性」を群としてとらえる</a:t>
            </a:r>
            <a:endParaRPr lang="en-US" sz="1700" dirty="0"/>
          </a:p>
        </p:txBody>
      </p:sp>
      <p:sp>
        <p:nvSpPr>
          <p:cNvPr id="7" name="Shape 5"/>
          <p:cNvSpPr/>
          <p:nvPr/>
        </p:nvSpPr>
        <p:spPr>
          <a:xfrm>
            <a:off x="822960" y="2542032"/>
            <a:ext cx="566928" cy="566928"/>
          </a:xfrm>
          <a:prstGeom prst="ellipse">
            <a:avLst/>
          </a:prstGeom>
          <a:solidFill>
            <a:srgbClr val="0F9E8E"/>
          </a:solidFill>
          <a:ln/>
        </p:spPr>
        <p:txBody>
          <a:bodyPr/>
          <a:lstStyle/>
          <a:p>
            <a:endParaRPr/>
          </a:p>
        </p:txBody>
      </p:sp>
      <p:sp>
        <p:nvSpPr>
          <p:cNvPr id="8" name="Text 6"/>
          <p:cNvSpPr/>
          <p:nvPr/>
        </p:nvSpPr>
        <p:spPr>
          <a:xfrm>
            <a:off x="822960" y="2542032"/>
            <a:ext cx="566928" cy="566928"/>
          </a:xfrm>
          <a:prstGeom prst="rect">
            <a:avLst/>
          </a:prstGeom>
          <a:noFill/>
          <a:ln/>
        </p:spPr>
        <p:txBody>
          <a:bodyPr wrap="square" lIns="0" tIns="0" rIns="0" bIns="0" rtlCol="0" anchor="ctr"/>
          <a:lstStyle/>
          <a:p>
            <a:pPr marL="0" indent="0" algn="ctr">
              <a:buNone/>
            </a:pPr>
            <a:r>
              <a:rPr lang="ja-JP" sz="2600" b="1" dirty="0">
                <a:solidFill>
                  <a:srgbClr val="FFFFFF"/>
                </a:solidFill>
                <a:latin typeface="Noto Sans CJK JP" pitchFamily="34" charset="0"/>
                <a:ea typeface="Noto Sans CJK JP"/>
                <a:cs typeface="Noto Sans CJK JP" pitchFamily="34" charset="-120"/>
              </a:rPr>
              <a:t>2</a:t>
            </a:r>
            <a:endParaRPr lang="en-US" sz="2600" dirty="0"/>
          </a:p>
        </p:txBody>
      </p:sp>
      <p:sp>
        <p:nvSpPr>
          <p:cNvPr id="9" name="Text 7"/>
          <p:cNvSpPr/>
          <p:nvPr/>
        </p:nvSpPr>
        <p:spPr>
          <a:xfrm>
            <a:off x="1600200" y="2523744"/>
            <a:ext cx="3657600" cy="457200"/>
          </a:xfrm>
          <a:prstGeom prst="rect">
            <a:avLst/>
          </a:prstGeom>
          <a:noFill/>
          <a:ln/>
        </p:spPr>
        <p:txBody>
          <a:bodyPr wrap="square" lIns="0" tIns="0" rIns="0" bIns="0" rtlCol="0" anchor="ctr"/>
          <a:lstStyle/>
          <a:p>
            <a:pPr marL="0" indent="0">
              <a:buNone/>
            </a:pPr>
            <a:r>
              <a:rPr lang="ja-JP" sz="2200" b="1" dirty="0">
                <a:solidFill>
                  <a:srgbClr val="1A2238"/>
                </a:solidFill>
                <a:latin typeface="Noto Sans CJK JP" pitchFamily="34" charset="0"/>
                <a:ea typeface="Noto Sans CJK JP"/>
                <a:cs typeface="Noto Sans CJK JP" pitchFamily="34" charset="-120"/>
              </a:rPr>
              <a:t>群が縮小すると体が拡大</a:t>
            </a:r>
            <a:endParaRPr lang="en-US" sz="2200" dirty="0"/>
          </a:p>
        </p:txBody>
      </p:sp>
      <p:sp>
        <p:nvSpPr>
          <p:cNvPr id="10" name="Text 8"/>
          <p:cNvSpPr/>
          <p:nvPr/>
        </p:nvSpPr>
        <p:spPr>
          <a:xfrm>
            <a:off x="5394960" y="2523744"/>
            <a:ext cx="6035040" cy="603504"/>
          </a:xfrm>
          <a:prstGeom prst="rect">
            <a:avLst/>
          </a:prstGeom>
          <a:noFill/>
          <a:ln/>
        </p:spPr>
        <p:txBody>
          <a:bodyPr wrap="square" lIns="0" tIns="0" rIns="0" bIns="0" rtlCol="0" anchor="ctr"/>
          <a:lstStyle/>
          <a:p>
            <a:pPr marL="0" indent="0">
              <a:buNone/>
            </a:pPr>
            <a:r>
              <a:rPr lang="ja-JP" sz="1700" dirty="0">
                <a:solidFill>
                  <a:srgbClr val="6B7180"/>
                </a:solidFill>
                <a:latin typeface="Noto Sans CJK JP" pitchFamily="34" charset="0"/>
                <a:ea typeface="Noto Sans CJK JP"/>
                <a:cs typeface="Noto Sans CJK JP" pitchFamily="34" charset="-120"/>
              </a:rPr>
              <a:t>基礎体Q・中間体L・分解体K が群と対応する</a:t>
            </a:r>
            <a:endParaRPr lang="en-US" sz="1700" dirty="0"/>
          </a:p>
        </p:txBody>
      </p:sp>
      <p:sp>
        <p:nvSpPr>
          <p:cNvPr id="11" name="Shape 9"/>
          <p:cNvSpPr/>
          <p:nvPr/>
        </p:nvSpPr>
        <p:spPr>
          <a:xfrm>
            <a:off x="822960" y="3621024"/>
            <a:ext cx="566928" cy="566928"/>
          </a:xfrm>
          <a:prstGeom prst="ellipse">
            <a:avLst/>
          </a:prstGeom>
          <a:solidFill>
            <a:srgbClr val="0F9E8E"/>
          </a:solidFill>
          <a:ln/>
        </p:spPr>
        <p:txBody>
          <a:bodyPr/>
          <a:lstStyle/>
          <a:p>
            <a:endParaRPr/>
          </a:p>
        </p:txBody>
      </p:sp>
      <p:sp>
        <p:nvSpPr>
          <p:cNvPr id="12" name="Text 10"/>
          <p:cNvSpPr/>
          <p:nvPr/>
        </p:nvSpPr>
        <p:spPr>
          <a:xfrm>
            <a:off x="822960" y="3621024"/>
            <a:ext cx="566928" cy="566928"/>
          </a:xfrm>
          <a:prstGeom prst="rect">
            <a:avLst/>
          </a:prstGeom>
          <a:noFill/>
          <a:ln/>
        </p:spPr>
        <p:txBody>
          <a:bodyPr wrap="square" lIns="0" tIns="0" rIns="0" bIns="0" rtlCol="0" anchor="ctr"/>
          <a:lstStyle/>
          <a:p>
            <a:pPr marL="0" indent="0" algn="ctr">
              <a:buNone/>
            </a:pPr>
            <a:r>
              <a:rPr lang="ja-JP" sz="2600" b="1" dirty="0">
                <a:solidFill>
                  <a:srgbClr val="FFFFFF"/>
                </a:solidFill>
                <a:latin typeface="Noto Sans CJK JP" pitchFamily="34" charset="0"/>
                <a:ea typeface="Noto Sans CJK JP"/>
                <a:cs typeface="Noto Sans CJK JP" pitchFamily="34" charset="-120"/>
              </a:rPr>
              <a:t>3</a:t>
            </a:r>
            <a:endParaRPr lang="en-US" sz="2600" dirty="0"/>
          </a:p>
        </p:txBody>
      </p:sp>
      <p:sp>
        <p:nvSpPr>
          <p:cNvPr id="13" name="Text 11"/>
          <p:cNvSpPr/>
          <p:nvPr/>
        </p:nvSpPr>
        <p:spPr>
          <a:xfrm>
            <a:off x="1600200" y="3602736"/>
            <a:ext cx="3657600" cy="457200"/>
          </a:xfrm>
          <a:prstGeom prst="rect">
            <a:avLst/>
          </a:prstGeom>
          <a:noFill/>
          <a:ln/>
        </p:spPr>
        <p:txBody>
          <a:bodyPr wrap="square" lIns="0" tIns="0" rIns="0" bIns="0" rtlCol="0" anchor="ctr"/>
          <a:lstStyle/>
          <a:p>
            <a:pPr marL="0" indent="0">
              <a:buNone/>
            </a:pPr>
            <a:r>
              <a:rPr lang="ja-JP" sz="2200" b="1" dirty="0">
                <a:solidFill>
                  <a:srgbClr val="1A2238"/>
                </a:solidFill>
                <a:latin typeface="Noto Sans CJK JP" pitchFamily="34" charset="0"/>
                <a:ea typeface="Noto Sans CJK JP"/>
                <a:cs typeface="Noto Sans CJK JP" pitchFamily="34" charset="-120"/>
              </a:rPr>
              <a:t>解ける条件</a:t>
            </a:r>
            <a:endParaRPr lang="en-US" sz="2200" dirty="0"/>
          </a:p>
        </p:txBody>
      </p:sp>
      <p:sp>
        <p:nvSpPr>
          <p:cNvPr id="14" name="Text 12"/>
          <p:cNvSpPr/>
          <p:nvPr/>
        </p:nvSpPr>
        <p:spPr>
          <a:xfrm>
            <a:off x="5394960" y="3602736"/>
            <a:ext cx="6035040" cy="603504"/>
          </a:xfrm>
          <a:prstGeom prst="rect">
            <a:avLst/>
          </a:prstGeom>
          <a:noFill/>
          <a:ln/>
        </p:spPr>
        <p:txBody>
          <a:bodyPr wrap="square" lIns="0" tIns="0" rIns="0" bIns="0" rtlCol="0" anchor="ctr"/>
          <a:lstStyle/>
          <a:p>
            <a:pPr marL="0" indent="0">
              <a:buNone/>
            </a:pPr>
            <a:r>
              <a:rPr lang="ja-JP" sz="1700" dirty="0">
                <a:solidFill>
                  <a:srgbClr val="6B7180"/>
                </a:solidFill>
                <a:latin typeface="Noto Sans CJK JP" pitchFamily="34" charset="0"/>
                <a:ea typeface="Noto Sans CJK JP"/>
                <a:cs typeface="Noto Sans CJK JP" pitchFamily="34" charset="-120"/>
              </a:rPr>
              <a:t>「縮小鎖が {e} まで届く」=べき根(√やⁿ√)で解ける</a:t>
            </a:r>
            <a:endParaRPr lang="en-US" sz="1700" dirty="0"/>
          </a:p>
        </p:txBody>
      </p:sp>
      <p:sp>
        <p:nvSpPr>
          <p:cNvPr id="15" name="Shape 13"/>
          <p:cNvSpPr/>
          <p:nvPr/>
        </p:nvSpPr>
        <p:spPr>
          <a:xfrm>
            <a:off x="822960" y="4700016"/>
            <a:ext cx="566928" cy="566928"/>
          </a:xfrm>
          <a:prstGeom prst="ellipse">
            <a:avLst/>
          </a:prstGeom>
          <a:solidFill>
            <a:srgbClr val="0F9E8E"/>
          </a:solidFill>
          <a:ln/>
        </p:spPr>
        <p:txBody>
          <a:bodyPr/>
          <a:lstStyle/>
          <a:p>
            <a:endParaRPr/>
          </a:p>
        </p:txBody>
      </p:sp>
      <p:sp>
        <p:nvSpPr>
          <p:cNvPr id="16" name="Text 14"/>
          <p:cNvSpPr/>
          <p:nvPr/>
        </p:nvSpPr>
        <p:spPr>
          <a:xfrm>
            <a:off x="822960" y="4700016"/>
            <a:ext cx="566928" cy="566928"/>
          </a:xfrm>
          <a:prstGeom prst="rect">
            <a:avLst/>
          </a:prstGeom>
          <a:noFill/>
          <a:ln/>
        </p:spPr>
        <p:txBody>
          <a:bodyPr wrap="square" lIns="0" tIns="0" rIns="0" bIns="0" rtlCol="0" anchor="ctr"/>
          <a:lstStyle/>
          <a:p>
            <a:pPr marL="0" indent="0" algn="ctr">
              <a:buNone/>
            </a:pPr>
            <a:r>
              <a:rPr lang="ja-JP" sz="2600" b="1" dirty="0">
                <a:solidFill>
                  <a:srgbClr val="FFFFFF"/>
                </a:solidFill>
                <a:latin typeface="Noto Sans CJK JP" pitchFamily="34" charset="0"/>
                <a:ea typeface="Noto Sans CJK JP"/>
                <a:cs typeface="Noto Sans CJK JP" pitchFamily="34" charset="-120"/>
              </a:rPr>
              <a:t>4</a:t>
            </a:r>
            <a:endParaRPr lang="en-US" sz="2600" dirty="0"/>
          </a:p>
        </p:txBody>
      </p:sp>
      <p:sp>
        <p:nvSpPr>
          <p:cNvPr id="17" name="Text 15"/>
          <p:cNvSpPr/>
          <p:nvPr/>
        </p:nvSpPr>
        <p:spPr>
          <a:xfrm>
            <a:off x="1600200" y="4681728"/>
            <a:ext cx="3657600" cy="457200"/>
          </a:xfrm>
          <a:prstGeom prst="rect">
            <a:avLst/>
          </a:prstGeom>
          <a:noFill/>
          <a:ln/>
        </p:spPr>
        <p:txBody>
          <a:bodyPr wrap="square" lIns="0" tIns="0" rIns="0" bIns="0" rtlCol="0" anchor="ctr"/>
          <a:lstStyle/>
          <a:p>
            <a:pPr marL="0" indent="0">
              <a:buNone/>
            </a:pPr>
            <a:r>
              <a:rPr lang="ja-JP" sz="2200" b="1" dirty="0">
                <a:solidFill>
                  <a:srgbClr val="1A2238"/>
                </a:solidFill>
                <a:latin typeface="Noto Sans CJK JP" pitchFamily="34" charset="0"/>
                <a:ea typeface="Noto Sans CJK JP"/>
                <a:cs typeface="Noto Sans CJK JP" pitchFamily="34" charset="-120"/>
              </a:rPr>
              <a:t>5次の壁</a:t>
            </a:r>
            <a:endParaRPr lang="en-US" sz="2200" dirty="0"/>
          </a:p>
        </p:txBody>
      </p:sp>
      <p:sp>
        <p:nvSpPr>
          <p:cNvPr id="18" name="Text 16"/>
          <p:cNvSpPr/>
          <p:nvPr/>
        </p:nvSpPr>
        <p:spPr>
          <a:xfrm>
            <a:off x="5394960" y="4681728"/>
            <a:ext cx="6035040" cy="603504"/>
          </a:xfrm>
          <a:prstGeom prst="rect">
            <a:avLst/>
          </a:prstGeom>
          <a:noFill/>
          <a:ln/>
        </p:spPr>
        <p:txBody>
          <a:bodyPr wrap="square" lIns="0" tIns="0" rIns="0" bIns="0" rtlCol="0" anchor="ctr"/>
          <a:lstStyle/>
          <a:p>
            <a:pPr marL="0" indent="0">
              <a:buNone/>
            </a:pPr>
            <a:r>
              <a:rPr lang="ja-JP" sz="1700" dirty="0">
                <a:solidFill>
                  <a:srgbClr val="6B7180"/>
                </a:solidFill>
                <a:latin typeface="Noto Sans CJK JP" pitchFamily="34" charset="0"/>
                <a:ea typeface="Noto Sans CJK JP"/>
                <a:cs typeface="Noto Sans CJK JP" pitchFamily="34" charset="-120"/>
              </a:rPr>
              <a:t>A₅ の特殊さが解の公式の不在を生む</a:t>
            </a:r>
            <a:endParaRPr lang="en-US" sz="1700" dirty="0"/>
          </a:p>
        </p:txBody>
      </p:sp>
      <p:sp>
        <p:nvSpPr>
          <p:cNvPr id="19" name="Shape 17"/>
          <p:cNvSpPr/>
          <p:nvPr/>
        </p:nvSpPr>
        <p:spPr>
          <a:xfrm>
            <a:off x="822960" y="5532120"/>
            <a:ext cx="10607040" cy="841248"/>
          </a:xfrm>
          <a:prstGeom prst="roundRect">
            <a:avLst>
              <a:gd name="adj" fmla="val 12903"/>
            </a:avLst>
          </a:prstGeom>
          <a:solidFill>
            <a:srgbClr val="F4F6FA"/>
          </a:solidFill>
          <a:ln/>
        </p:spPr>
        <p:txBody>
          <a:bodyPr/>
          <a:lstStyle/>
          <a:p>
            <a:endParaRPr/>
          </a:p>
        </p:txBody>
      </p:sp>
      <p:sp>
        <p:nvSpPr>
          <p:cNvPr id="20" name="Shape 18"/>
          <p:cNvSpPr/>
          <p:nvPr/>
        </p:nvSpPr>
        <p:spPr>
          <a:xfrm>
            <a:off x="822960" y="5532120"/>
            <a:ext cx="73152" cy="841248"/>
          </a:xfrm>
          <a:prstGeom prst="rect">
            <a:avLst/>
          </a:prstGeom>
          <a:solidFill>
            <a:srgbClr val="E0992B"/>
          </a:solidFill>
          <a:ln/>
        </p:spPr>
        <p:txBody>
          <a:bodyPr/>
          <a:lstStyle/>
          <a:p>
            <a:endParaRPr/>
          </a:p>
        </p:txBody>
      </p:sp>
      <p:sp>
        <p:nvSpPr>
          <p:cNvPr id="21" name="Text 19"/>
          <p:cNvSpPr/>
          <p:nvPr/>
        </p:nvSpPr>
        <p:spPr>
          <a:xfrm>
            <a:off x="1051560" y="5532120"/>
            <a:ext cx="10744200" cy="841248"/>
          </a:xfrm>
          <a:prstGeom prst="rect">
            <a:avLst/>
          </a:prstGeom>
          <a:noFill/>
          <a:ln/>
        </p:spPr>
        <p:txBody>
          <a:bodyPr wrap="square" lIns="0" tIns="0" rIns="0" bIns="0" rtlCol="0" anchor="ctr"/>
          <a:lstStyle/>
          <a:p>
            <a:pPr marL="0" indent="0">
              <a:lnSpc>
                <a:spcPct val="115000"/>
              </a:lnSpc>
              <a:buNone/>
            </a:pPr>
            <a:r>
              <a:rPr lang="ja-JP" sz="1400" b="0" dirty="0">
                <a:solidFill>
                  <a:srgbClr val="1A2238"/>
                </a:solidFill>
                <a:latin typeface="Noto Sans CJK JP"/>
                <a:ea typeface="Noto Sans CJK JP"/>
              </a:rPr>
              <a:t>本編は抽象的な議論が続きます。巻末の</a:t>
            </a:r>
            <a:r>
              <a:rPr lang="ja-JP" sz="1600" b="1" dirty="0">
                <a:solidFill>
                  <a:srgbClr val="1A2238"/>
                </a:solidFill>
                <a:latin typeface="Noto Sans CJK JP"/>
                <a:ea typeface="Noto Sans CJK JP"/>
              </a:rPr>
              <a:t>補論</a:t>
            </a:r>
            <a:r>
              <a:rPr lang="ja-JP" altLang="ja-JP" sz="1600" b="1" dirty="0">
                <a:solidFill>
                  <a:srgbClr val="1A2238"/>
                </a:solidFill>
                <a:latin typeface="Noto Sans CJK JP"/>
                <a:ea typeface="Noto Sans CJK JP"/>
              </a:rPr>
              <a:t>1.2</a:t>
            </a:r>
            <a:r>
              <a:rPr lang="ja-JP" sz="1600" b="1" dirty="0">
                <a:solidFill>
                  <a:srgbClr val="1A2238"/>
                </a:solidFill>
                <a:latin typeface="Noto Sans CJK JP"/>
                <a:ea typeface="Noto Sans CJK JP"/>
              </a:rPr>
              <a:t>(</a:t>
            </a:r>
            <a:r>
              <a:rPr lang="ja-JP" sz="1600" b="1" dirty="0" err="1">
                <a:solidFill>
                  <a:srgbClr val="1A2238"/>
                </a:solidFill>
                <a:latin typeface="Noto Sans CJK JP"/>
                <a:ea typeface="Noto Sans CJK JP"/>
              </a:rPr>
              <a:t>具体例</a:t>
            </a:r>
            <a:r>
              <a:rPr lang="ja-JP" sz="1600" b="1" dirty="0">
                <a:solidFill>
                  <a:srgbClr val="1A2238"/>
                </a:solidFill>
                <a:latin typeface="Noto Sans CJK JP"/>
                <a:ea typeface="Noto Sans CJK JP"/>
              </a:rPr>
              <a:t>)</a:t>
            </a:r>
            <a:r>
              <a:rPr lang="ja-JP" sz="1400" b="0" dirty="0" err="1">
                <a:solidFill>
                  <a:srgbClr val="1A2238"/>
                </a:solidFill>
                <a:latin typeface="Noto Sans CJK JP"/>
                <a:ea typeface="Noto Sans CJK JP"/>
              </a:rPr>
              <a:t>から先に読むと、本編のイメージがつかみやすくなります</a:t>
            </a:r>
            <a:r>
              <a:rPr lang="ja-JP" sz="1400" b="0" dirty="0">
                <a:solidFill>
                  <a:srgbClr val="1A2238"/>
                </a:solidFill>
                <a:latin typeface="Noto Sans CJK JP"/>
                <a:ea typeface="Noto Sans CJK JP"/>
              </a:rPr>
              <a:t>。</a:t>
            </a:r>
            <a:endParaRPr lang="en-US" sz="1400" b="0" dirty="0">
              <a:solidFill>
                <a:srgbClr val="1A2238"/>
              </a:solidFill>
              <a:latin typeface="Noto Sans CJK JP"/>
              <a:ea typeface="Noto Sans CJK JP"/>
            </a:endParaRPr>
          </a:p>
          <a:p>
            <a:pPr marL="0" indent="0">
              <a:lnSpc>
                <a:spcPct val="115000"/>
              </a:lnSpc>
              <a:buNone/>
            </a:pPr>
            <a:r>
              <a:rPr lang="ja-JP" b="1" dirty="0">
                <a:solidFill>
                  <a:srgbClr val="1A2238"/>
                </a:solidFill>
                <a:latin typeface="Noto Sans CJK JP"/>
                <a:ea typeface="Noto Sans CJK JP"/>
              </a:rPr>
              <a:t>最初につまずきやすい</a:t>
            </a:r>
            <a:r>
              <a:rPr lang="ja-JP" b="0" dirty="0">
                <a:solidFill>
                  <a:srgbClr val="1A2238"/>
                </a:solidFill>
                <a:latin typeface="Noto Sans CJK JP"/>
                <a:ea typeface="Noto Sans CJK JP"/>
              </a:rPr>
              <a:t>点</a:t>
            </a:r>
            <a:r>
              <a:rPr lang="ja-JP" sz="1400" b="0" dirty="0">
                <a:solidFill>
                  <a:srgbClr val="1A2238"/>
                </a:solidFill>
                <a:latin typeface="Noto Sans CJK JP"/>
                <a:ea typeface="Noto Sans CJK JP"/>
              </a:rPr>
              <a:t>は</a:t>
            </a:r>
            <a:r>
              <a:rPr lang="ja-JP" sz="1600" b="1" dirty="0">
                <a:latin typeface="Noto Sans CJK JP"/>
                <a:ea typeface="Noto Sans CJK JP"/>
              </a:rPr>
              <a:t>補論3</a:t>
            </a:r>
            <a:r>
              <a:rPr lang="ja-JP" sz="1400" b="0" dirty="0">
                <a:solidFill>
                  <a:srgbClr val="1A2238"/>
                </a:solidFill>
                <a:latin typeface="Noto Sans CJK JP"/>
                <a:ea typeface="Noto Sans CJK JP"/>
              </a:rPr>
              <a:t>にまとめています。</a:t>
            </a:r>
            <a:endParaRPr lang="en-US" sz="1400" dirty="0"/>
          </a:p>
        </p:txBody>
      </p:sp>
      <p:sp>
        <p:nvSpPr>
          <p:cNvPr id="22" name="Text 20"/>
          <p:cNvSpPr/>
          <p:nvPr/>
        </p:nvSpPr>
        <p:spPr>
          <a:xfrm>
            <a:off x="11338560" y="6355080"/>
            <a:ext cx="457200" cy="274320"/>
          </a:xfrm>
          <a:prstGeom prst="rect">
            <a:avLst/>
          </a:prstGeom>
          <a:noFill/>
          <a:ln/>
        </p:spPr>
        <p:txBody>
          <a:bodyPr wrap="square" lIns="0" tIns="0" rIns="0" bIns="0" rtlCol="0" anchor="ctr"/>
          <a:lstStyle/>
          <a:p>
            <a:pPr marL="0" indent="0" algn="r">
              <a:buNone/>
            </a:pPr>
            <a:r>
              <a:rPr lang="ja-JP" sz="1100" dirty="0">
                <a:solidFill>
                  <a:srgbClr val="6B7180"/>
                </a:solidFill>
                <a:latin typeface="Noto Sans CJK JP" pitchFamily="34" charset="0"/>
                <a:ea typeface="Noto Sans CJK JP"/>
                <a:cs typeface="Noto Sans CJK JP" pitchFamily="34" charset="-120"/>
              </a:rPr>
              <a:t>2</a:t>
            </a:r>
            <a:endParaRPr lang="en-US" sz="1100" dirty="0"/>
          </a:p>
        </p:txBody>
      </p:sp>
      <p:sp>
        <p:nvSpPr>
          <p:cNvPr id="23" name="Text 21"/>
          <p:cNvSpPr/>
          <p:nvPr/>
        </p:nvSpPr>
        <p:spPr>
          <a:xfrm>
            <a:off x="457200" y="6355080"/>
            <a:ext cx="4572000" cy="274320"/>
          </a:xfrm>
          <a:prstGeom prst="rect">
            <a:avLst/>
          </a:prstGeom>
          <a:noFill/>
          <a:ln/>
        </p:spPr>
        <p:txBody>
          <a:bodyPr wrap="square" lIns="0" tIns="0" rIns="0" bIns="0" rtlCol="0" anchor="ctr"/>
          <a:lstStyle/>
          <a:p>
            <a:pPr marL="0" indent="0" algn="l">
              <a:buNone/>
            </a:pPr>
            <a:r>
              <a:rPr lang="ja-JP" sz="1000" dirty="0">
                <a:solidFill>
                  <a:srgbClr val="6B7180"/>
                </a:solidFill>
                <a:latin typeface="Noto Sans CJK JP" pitchFamily="34" charset="0"/>
                <a:ea typeface="Noto Sans CJK JP"/>
                <a:cs typeface="Noto Sans CJK JP" pitchFamily="34" charset="-120"/>
              </a:rPr>
              <a:t>5garashi.com 設計事務所</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146304" cy="146304"/>
          </a:xfrm>
          <a:prstGeom prst="ellipse">
            <a:avLst/>
          </a:prstGeom>
          <a:solidFill>
            <a:srgbClr val="0F9E8E"/>
          </a:solidFill>
          <a:ln/>
        </p:spPr>
        <p:txBody>
          <a:bodyPr/>
          <a:lstStyle/>
          <a:p>
            <a:endParaRPr/>
          </a:p>
        </p:txBody>
      </p:sp>
      <p:sp>
        <p:nvSpPr>
          <p:cNvPr id="3" name="Text 1"/>
          <p:cNvSpPr/>
          <p:nvPr/>
        </p:nvSpPr>
        <p:spPr>
          <a:xfrm>
            <a:off x="896112" y="438912"/>
            <a:ext cx="5486400" cy="365760"/>
          </a:xfrm>
          <a:prstGeom prst="rect">
            <a:avLst/>
          </a:prstGeom>
          <a:noFill/>
          <a:ln/>
        </p:spPr>
        <p:txBody>
          <a:bodyPr wrap="square" lIns="0" tIns="0" rIns="0" bIns="0" rtlCol="0" anchor="ctr"/>
          <a:lstStyle/>
          <a:p>
            <a:pPr marL="0" indent="0">
              <a:buNone/>
            </a:pPr>
            <a:r>
              <a:rPr lang="ja-JP" sz="1600" b="1" dirty="0">
                <a:solidFill>
                  <a:srgbClr val="0F9E8E"/>
                </a:solidFill>
                <a:latin typeface="Noto Sans CJK JP" pitchFamily="34" charset="0"/>
                <a:ea typeface="Noto Sans CJK JP"/>
                <a:cs typeface="Noto Sans CJK JP" pitchFamily="34" charset="-120"/>
              </a:rPr>
              <a:t>STEP 1</a:t>
            </a:r>
            <a:endParaRPr lang="en-US" sz="1600" dirty="0"/>
          </a:p>
        </p:txBody>
      </p:sp>
      <p:sp>
        <p:nvSpPr>
          <p:cNvPr id="4" name="Text 2"/>
          <p:cNvSpPr/>
          <p:nvPr/>
        </p:nvSpPr>
        <p:spPr>
          <a:xfrm>
            <a:off x="640080" y="868680"/>
            <a:ext cx="10972800" cy="731520"/>
          </a:xfrm>
          <a:prstGeom prst="rect">
            <a:avLst/>
          </a:prstGeom>
          <a:noFill/>
          <a:ln/>
        </p:spPr>
        <p:txBody>
          <a:bodyPr wrap="square" lIns="0" tIns="0" rIns="0" bIns="0" rtlCol="0" anchor="ctr"/>
          <a:lstStyle/>
          <a:p>
            <a:pPr marL="0" indent="0">
              <a:buNone/>
            </a:pPr>
            <a:r>
              <a:rPr lang="ja-JP" sz="3200" b="1" dirty="0">
                <a:solidFill>
                  <a:srgbClr val="1A2238"/>
                </a:solidFill>
                <a:latin typeface="Noto Sans CJK JP" pitchFamily="34" charset="0"/>
                <a:ea typeface="Noto Sans CJK JP"/>
                <a:cs typeface="Noto Sans CJK JP" pitchFamily="34" charset="-120"/>
              </a:rPr>
              <a:t>ガロア群 = 根どうしの和・積などの関係を保つ置換</a:t>
            </a:r>
            <a:endParaRPr lang="en-US" sz="3200" dirty="0"/>
          </a:p>
        </p:txBody>
      </p:sp>
      <p:sp>
        <p:nvSpPr>
          <p:cNvPr id="5" name="Text 3"/>
          <p:cNvSpPr/>
          <p:nvPr/>
        </p:nvSpPr>
        <p:spPr>
          <a:xfrm>
            <a:off x="640080" y="1645920"/>
            <a:ext cx="10881360" cy="777240"/>
          </a:xfrm>
          <a:prstGeom prst="rect">
            <a:avLst/>
          </a:prstGeom>
          <a:noFill/>
          <a:ln/>
        </p:spPr>
        <p:txBody>
          <a:bodyPr wrap="square" lIns="0" tIns="0" rIns="0" bIns="0" rtlCol="0" anchor="ctr"/>
          <a:lstStyle/>
          <a:p>
            <a:pPr marL="0" indent="0">
              <a:lnSpc>
                <a:spcPct val="120000"/>
              </a:lnSpc>
              <a:buNone/>
            </a:pPr>
            <a:r>
              <a:rPr lang="ja-JP" sz="1800" dirty="0">
                <a:solidFill>
                  <a:srgbClr val="33384A"/>
                </a:solidFill>
                <a:latin typeface="Noto Sans CJK JP" pitchFamily="34" charset="0"/>
                <a:ea typeface="Noto Sans CJK JP"/>
                <a:cs typeface="Noto Sans CJK JP" pitchFamily="34" charset="-120"/>
              </a:rPr>
              <a:t>方程式の根で作った値が</a:t>
            </a:r>
            <a:r>
              <a:rPr lang="ja-JP" sz="1800" b="1" dirty="0">
                <a:solidFill>
                  <a:srgbClr val="0F9E8E"/>
                </a:solidFill>
                <a:latin typeface="Noto Sans CJK JP" pitchFamily="34" charset="0"/>
                <a:ea typeface="Noto Sans CJK JP"/>
                <a:cs typeface="Noto Sans CJK JP" pitchFamily="34" charset="-120"/>
              </a:rPr>
              <a:t>有理数になる</a:t>
            </a:r>
            <a:r>
              <a:rPr lang="ja-JP" sz="1800" dirty="0">
                <a:solidFill>
                  <a:srgbClr val="33384A"/>
                </a:solidFill>
                <a:latin typeface="Noto Sans CJK JP" pitchFamily="34" charset="0"/>
                <a:ea typeface="Noto Sans CJK JP"/>
                <a:cs typeface="Noto Sans CJK JP" pitchFamily="34" charset="-120"/>
              </a:rPr>
              <a:t>ような任意の有理式 r について、根の置換 σ を行った後も</a:t>
            </a:r>
            <a:r>
              <a:rPr lang="ja-JP" sz="1800" b="1" dirty="0">
                <a:solidFill>
                  <a:srgbClr val="0F9E8E"/>
                </a:solidFill>
                <a:latin typeface="Noto Sans CJK JP" pitchFamily="34" charset="0"/>
                <a:ea typeface="Noto Sans CJK JP"/>
                <a:cs typeface="Noto Sans CJK JP" pitchFamily="34" charset="-120"/>
              </a:rPr>
              <a:t>値が有理数のまま</a:t>
            </a:r>
            <a:r>
              <a:rPr lang="ja-JP" sz="1800" dirty="0">
                <a:solidFill>
                  <a:srgbClr val="33384A"/>
                </a:solidFill>
                <a:latin typeface="Noto Sans CJK JP" pitchFamily="34" charset="0"/>
                <a:ea typeface="Noto Sans CJK JP"/>
                <a:cs typeface="Noto Sans CJK JP" pitchFamily="34" charset="-120"/>
              </a:rPr>
              <a:t>――そんな置換を全部集めると群になる。それがガロア群 G。</a:t>
            </a:r>
            <a:endParaRPr lang="en-US" sz="1800" dirty="0"/>
          </a:p>
        </p:txBody>
      </p:sp>
      <p:sp>
        <p:nvSpPr>
          <p:cNvPr id="6" name="Shape 4"/>
          <p:cNvSpPr/>
          <p:nvPr/>
        </p:nvSpPr>
        <p:spPr>
          <a:xfrm>
            <a:off x="1463040" y="2468880"/>
            <a:ext cx="9235440" cy="777240"/>
          </a:xfrm>
          <a:prstGeom prst="roundRect">
            <a:avLst>
              <a:gd name="adj" fmla="val 11765"/>
            </a:avLst>
          </a:prstGeom>
          <a:solidFill>
            <a:srgbClr val="1A2238"/>
          </a:solidFill>
          <a:ln/>
        </p:spPr>
        <p:txBody>
          <a:bodyPr/>
          <a:lstStyle/>
          <a:p>
            <a:endParaRPr/>
          </a:p>
        </p:txBody>
      </p:sp>
      <p:sp>
        <p:nvSpPr>
          <p:cNvPr id="7" name="Text 5"/>
          <p:cNvSpPr/>
          <p:nvPr/>
        </p:nvSpPr>
        <p:spPr>
          <a:xfrm>
            <a:off x="1463040" y="2468880"/>
            <a:ext cx="9235440" cy="777240"/>
          </a:xfrm>
          <a:prstGeom prst="rect">
            <a:avLst/>
          </a:prstGeom>
          <a:noFill/>
          <a:ln/>
        </p:spPr>
        <p:txBody>
          <a:bodyPr wrap="square" lIns="0" tIns="0" rIns="0" bIns="0" rtlCol="0" anchor="ctr"/>
          <a:lstStyle/>
          <a:p>
            <a:pPr marL="0" indent="0" algn="ctr">
              <a:buNone/>
            </a:pPr>
            <a:r>
              <a:rPr lang="ja-JP" sz="2100" dirty="0">
                <a:solidFill>
                  <a:srgbClr val="FFFFFF"/>
                </a:solidFill>
                <a:latin typeface="Noto Sans CJK JP" pitchFamily="34" charset="0"/>
                <a:ea typeface="Noto Sans CJK JP"/>
                <a:cs typeface="Noto Sans CJK JP" pitchFamily="34" charset="-120"/>
              </a:rPr>
              <a:t>∀r, ∀σ∈G :  r(α₁,…,αₙ)∈Q  ⟹  σ( r(α₁,…,αₙ) )∈Q</a:t>
            </a:r>
            <a:endParaRPr lang="en-US" sz="2100" dirty="0"/>
          </a:p>
        </p:txBody>
      </p:sp>
      <p:sp>
        <p:nvSpPr>
          <p:cNvPr id="8" name="Shape 6"/>
          <p:cNvSpPr/>
          <p:nvPr/>
        </p:nvSpPr>
        <p:spPr>
          <a:xfrm>
            <a:off x="1463040" y="3337560"/>
            <a:ext cx="54864" cy="457200"/>
          </a:xfrm>
          <a:prstGeom prst="rect">
            <a:avLst/>
          </a:prstGeom>
          <a:solidFill>
            <a:srgbClr val="E0992B"/>
          </a:solidFill>
          <a:ln/>
        </p:spPr>
        <p:txBody>
          <a:bodyPr/>
          <a:lstStyle/>
          <a:p>
            <a:endParaRPr/>
          </a:p>
        </p:txBody>
      </p:sp>
      <p:sp>
        <p:nvSpPr>
          <p:cNvPr id="9" name="Text 7"/>
          <p:cNvSpPr/>
          <p:nvPr/>
        </p:nvSpPr>
        <p:spPr>
          <a:xfrm>
            <a:off x="1627632" y="3291840"/>
            <a:ext cx="9052560" cy="502920"/>
          </a:xfrm>
          <a:prstGeom prst="rect">
            <a:avLst/>
          </a:prstGeom>
          <a:noFill/>
          <a:ln/>
        </p:spPr>
        <p:txBody>
          <a:bodyPr wrap="square" lIns="0" tIns="0" rIns="0" bIns="0" rtlCol="0" anchor="ctr"/>
          <a:lstStyle/>
          <a:p>
            <a:pPr marL="0" indent="0">
              <a:buNone/>
            </a:pPr>
            <a:r>
              <a:rPr lang="ja-JP" sz="1300" i="1" dirty="0">
                <a:solidFill>
                  <a:srgbClr val="5A6072"/>
                </a:solidFill>
                <a:latin typeface="Noto Sans CJK JP" pitchFamily="34" charset="0"/>
                <a:ea typeface="Noto Sans CJK JP"/>
                <a:cs typeface="Noto Sans CJK JP" pitchFamily="34" charset="-120"/>
              </a:rPr>
              <a:t>注:この条件を</a:t>
            </a:r>
            <a:r>
              <a:rPr lang="ja-JP" sz="1300" b="1" i="1" dirty="0">
                <a:solidFill>
                  <a:srgbClr val="E0992B"/>
                </a:solidFill>
                <a:latin typeface="Noto Sans CJK JP" pitchFamily="34" charset="0"/>
                <a:ea typeface="Noto Sans CJK JP"/>
                <a:cs typeface="Noto Sans CJK JP" pitchFamily="34" charset="-120"/>
              </a:rPr>
              <a:t>すべての r </a:t>
            </a:r>
            <a:r>
              <a:rPr lang="ja-JP" sz="1300" i="1" dirty="0">
                <a:solidFill>
                  <a:srgbClr val="5A6072"/>
                </a:solidFill>
                <a:latin typeface="Noto Sans CJK JP" pitchFamily="34" charset="0"/>
                <a:ea typeface="Noto Sans CJK JP"/>
                <a:cs typeface="Noto Sans CJK JP" pitchFamily="34" charset="-120"/>
              </a:rPr>
              <a:t>で課すと、結果的に値そのものが保たれる条件  σ( r(α₁,…,αₙ) ) = r(α₁,…,αₙ)  と同じ群になる。</a:t>
            </a:r>
            <a:endParaRPr lang="en-US" sz="1300" dirty="0"/>
          </a:p>
        </p:txBody>
      </p:sp>
      <p:sp>
        <p:nvSpPr>
          <p:cNvPr id="10" name="Shape 8"/>
          <p:cNvSpPr/>
          <p:nvPr/>
        </p:nvSpPr>
        <p:spPr>
          <a:xfrm>
            <a:off x="640080" y="3950208"/>
            <a:ext cx="64008" cy="365760"/>
          </a:xfrm>
          <a:prstGeom prst="rect">
            <a:avLst/>
          </a:prstGeom>
          <a:solidFill>
            <a:srgbClr val="0F9E8E"/>
          </a:solidFill>
          <a:ln/>
        </p:spPr>
        <p:txBody>
          <a:bodyPr/>
          <a:lstStyle/>
          <a:p>
            <a:endParaRPr/>
          </a:p>
        </p:txBody>
      </p:sp>
      <p:sp>
        <p:nvSpPr>
          <p:cNvPr id="11" name="Text 9"/>
          <p:cNvSpPr/>
          <p:nvPr/>
        </p:nvSpPr>
        <p:spPr>
          <a:xfrm>
            <a:off x="868680" y="3931920"/>
            <a:ext cx="10515600" cy="365760"/>
          </a:xfrm>
          <a:prstGeom prst="rect">
            <a:avLst/>
          </a:prstGeom>
          <a:noFill/>
          <a:ln/>
        </p:spPr>
        <p:txBody>
          <a:bodyPr wrap="square" lIns="0" tIns="0" rIns="0" bIns="0" rtlCol="0" anchor="ctr"/>
          <a:lstStyle/>
          <a:p>
            <a:pPr marL="0" indent="0">
              <a:buNone/>
            </a:pPr>
            <a:r>
              <a:rPr lang="ja-JP" sz="1600" b="1" dirty="0">
                <a:solidFill>
                  <a:srgbClr val="0F9E8E"/>
                </a:solidFill>
                <a:latin typeface="Noto Sans CJK JP" pitchFamily="34" charset="0"/>
                <a:ea typeface="Noto Sans CJK JP"/>
                <a:cs typeface="Noto Sans CJK JP" pitchFamily="34" charset="-120"/>
              </a:rPr>
              <a:t>かんたんな例 ── 有理数は固定、根どうしは入れ替わる</a:t>
            </a:r>
            <a:endParaRPr lang="en-US" sz="1600" dirty="0"/>
          </a:p>
        </p:txBody>
      </p:sp>
      <p:sp>
        <p:nvSpPr>
          <p:cNvPr id="12" name="Shape 10"/>
          <p:cNvSpPr/>
          <p:nvPr/>
        </p:nvSpPr>
        <p:spPr>
          <a:xfrm>
            <a:off x="640080" y="4407408"/>
            <a:ext cx="5303520" cy="2084832"/>
          </a:xfrm>
          <a:prstGeom prst="roundRect">
            <a:avLst>
              <a:gd name="adj" fmla="val 3509"/>
            </a:avLst>
          </a:prstGeom>
          <a:solidFill>
            <a:srgbClr val="F4F6FA"/>
          </a:solidFill>
          <a:ln/>
        </p:spPr>
        <p:txBody>
          <a:bodyPr/>
          <a:lstStyle/>
          <a:p>
            <a:endParaRPr/>
          </a:p>
        </p:txBody>
      </p:sp>
      <p:sp>
        <p:nvSpPr>
          <p:cNvPr id="13" name="Text 11"/>
          <p:cNvSpPr/>
          <p:nvPr/>
        </p:nvSpPr>
        <p:spPr>
          <a:xfrm>
            <a:off x="868680" y="4526280"/>
            <a:ext cx="4846320" cy="411480"/>
          </a:xfrm>
          <a:prstGeom prst="rect">
            <a:avLst/>
          </a:prstGeom>
          <a:noFill/>
          <a:ln/>
        </p:spPr>
        <p:txBody>
          <a:bodyPr wrap="square" lIns="0" tIns="0" rIns="0" bIns="0" rtlCol="0" anchor="ctr"/>
          <a:lstStyle/>
          <a:p>
            <a:pPr marL="0" indent="0">
              <a:buNone/>
            </a:pPr>
            <a:r>
              <a:rPr lang="ja-JP" sz="2000" b="1" dirty="0">
                <a:solidFill>
                  <a:srgbClr val="1A2238"/>
                </a:solidFill>
                <a:latin typeface="Noto Sans CJK JP" pitchFamily="34" charset="0"/>
                <a:ea typeface="Noto Sans CJK JP"/>
                <a:cs typeface="Noto Sans CJK JP" pitchFamily="34" charset="-120"/>
              </a:rPr>
              <a:t>x³ − 1 = 0</a:t>
            </a:r>
            <a:endParaRPr lang="en-US" sz="2000" dirty="0"/>
          </a:p>
        </p:txBody>
      </p:sp>
      <p:sp>
        <p:nvSpPr>
          <p:cNvPr id="14" name="Text 12"/>
          <p:cNvSpPr/>
          <p:nvPr/>
        </p:nvSpPr>
        <p:spPr>
          <a:xfrm>
            <a:off x="868680" y="4983480"/>
            <a:ext cx="4892040" cy="1417320"/>
          </a:xfrm>
          <a:prstGeom prst="rect">
            <a:avLst/>
          </a:prstGeom>
          <a:noFill/>
          <a:ln/>
        </p:spPr>
        <p:txBody>
          <a:bodyPr wrap="square" lIns="0" tIns="0" rIns="0" bIns="0" rtlCol="0" anchor="t"/>
          <a:lstStyle/>
          <a:p>
            <a:pPr marL="0" indent="0">
              <a:lnSpc>
                <a:spcPct val="125000"/>
              </a:lnSpc>
              <a:buNone/>
            </a:pPr>
            <a:r>
              <a:rPr lang="ja-JP" sz="1550" dirty="0">
                <a:solidFill>
                  <a:srgbClr val="33384A"/>
                </a:solidFill>
                <a:latin typeface="Noto Sans CJK JP" pitchFamily="34" charset="0"/>
                <a:ea typeface="Noto Sans CJK JP"/>
                <a:cs typeface="Noto Sans CJK JP" pitchFamily="34" charset="-120"/>
              </a:rPr>
              <a:t>根は 1, ω, ω²(ω は1の3乗根)。</a:t>
            </a:r>
            <a:endParaRPr lang="en-US" sz="1550" dirty="0"/>
          </a:p>
          <a:p>
            <a:pPr marL="0" indent="0">
              <a:lnSpc>
                <a:spcPct val="125000"/>
              </a:lnSpc>
              <a:buNone/>
            </a:pPr>
            <a:r>
              <a:rPr lang="ja-JP" sz="1550" dirty="0">
                <a:solidFill>
                  <a:srgbClr val="0F9E8E"/>
                </a:solidFill>
                <a:latin typeface="Noto Sans CJK JP" pitchFamily="34" charset="0"/>
                <a:ea typeface="Noto Sans CJK JP"/>
                <a:cs typeface="Noto Sans CJK JP" pitchFamily="34" charset="-120"/>
              </a:rPr>
              <a:t>・有理数の 1 は動かせない(固定)</a:t>
            </a:r>
            <a:endParaRPr lang="en-US" sz="1550" dirty="0"/>
          </a:p>
          <a:p>
            <a:pPr marL="0" indent="0">
              <a:lnSpc>
                <a:spcPct val="125000"/>
              </a:lnSpc>
              <a:buNone/>
            </a:pPr>
            <a:r>
              <a:rPr lang="ja-JP" sz="1550" dirty="0">
                <a:solidFill>
                  <a:srgbClr val="33384A"/>
                </a:solidFill>
                <a:latin typeface="Noto Sans CJK JP" pitchFamily="34" charset="0"/>
                <a:ea typeface="Noto Sans CJK JP"/>
                <a:cs typeface="Noto Sans CJK JP" pitchFamily="34" charset="-120"/>
              </a:rPr>
              <a:t>・ω ↔ ω² の入れ替えは値を保つ → OK</a:t>
            </a:r>
            <a:endParaRPr lang="en-US" sz="1550" dirty="0"/>
          </a:p>
          <a:p>
            <a:pPr marL="0" indent="0">
              <a:lnSpc>
                <a:spcPct val="125000"/>
              </a:lnSpc>
              <a:buNone/>
            </a:pPr>
            <a:r>
              <a:rPr lang="ja-JP" sz="1550" b="1" dirty="0">
                <a:solidFill>
                  <a:srgbClr val="3457A6"/>
                </a:solidFill>
                <a:latin typeface="Noto Sans CJK JP" pitchFamily="34" charset="0"/>
                <a:ea typeface="Noto Sans CJK JP"/>
                <a:cs typeface="Noto Sans CJK JP" pitchFamily="34" charset="-120"/>
              </a:rPr>
              <a:t>ガロア群 = 位数2の巡回群 C₂</a:t>
            </a:r>
            <a:endParaRPr lang="en-US" sz="1550" dirty="0"/>
          </a:p>
        </p:txBody>
      </p:sp>
      <p:sp>
        <p:nvSpPr>
          <p:cNvPr id="15" name="Shape 13"/>
          <p:cNvSpPr/>
          <p:nvPr/>
        </p:nvSpPr>
        <p:spPr>
          <a:xfrm>
            <a:off x="6217920" y="4407408"/>
            <a:ext cx="5303520" cy="2084832"/>
          </a:xfrm>
          <a:prstGeom prst="roundRect">
            <a:avLst>
              <a:gd name="adj" fmla="val 3509"/>
            </a:avLst>
          </a:prstGeom>
          <a:solidFill>
            <a:srgbClr val="F4F6FA"/>
          </a:solidFill>
          <a:ln/>
        </p:spPr>
        <p:txBody>
          <a:bodyPr/>
          <a:lstStyle/>
          <a:p>
            <a:endParaRPr/>
          </a:p>
        </p:txBody>
      </p:sp>
      <p:sp>
        <p:nvSpPr>
          <p:cNvPr id="16" name="Text 14"/>
          <p:cNvSpPr/>
          <p:nvPr/>
        </p:nvSpPr>
        <p:spPr>
          <a:xfrm>
            <a:off x="6446520" y="4498848"/>
            <a:ext cx="4846320" cy="365760"/>
          </a:xfrm>
          <a:prstGeom prst="rect">
            <a:avLst/>
          </a:prstGeom>
          <a:noFill/>
          <a:ln/>
        </p:spPr>
        <p:txBody>
          <a:bodyPr wrap="square" lIns="0" tIns="0" rIns="0" bIns="0" rtlCol="0" anchor="ctr"/>
          <a:lstStyle/>
          <a:p>
            <a:pPr marL="0" indent="0">
              <a:buNone/>
            </a:pPr>
            <a:r>
              <a:rPr lang="ja-JP" sz="1900" b="1" dirty="0">
                <a:solidFill>
                  <a:srgbClr val="1A2238"/>
                </a:solidFill>
                <a:latin typeface="Noto Sans CJK JP" pitchFamily="34" charset="0"/>
                <a:ea typeface="Noto Sans CJK JP"/>
                <a:cs typeface="Noto Sans CJK JP" pitchFamily="34" charset="-120"/>
              </a:rPr>
              <a:t>x⁴ − 4x² + 1 = 0</a:t>
            </a:r>
            <a:endParaRPr lang="en-US" sz="1900" dirty="0"/>
          </a:p>
        </p:txBody>
      </p:sp>
      <p:sp>
        <p:nvSpPr>
          <p:cNvPr id="17" name="Text 15"/>
          <p:cNvSpPr/>
          <p:nvPr/>
        </p:nvSpPr>
        <p:spPr>
          <a:xfrm>
            <a:off x="6446520" y="4882896"/>
            <a:ext cx="4937760" cy="1572768"/>
          </a:xfrm>
          <a:prstGeom prst="rect">
            <a:avLst/>
          </a:prstGeom>
          <a:noFill/>
          <a:ln/>
        </p:spPr>
        <p:txBody>
          <a:bodyPr wrap="square" lIns="0" tIns="0" rIns="0" bIns="0" rtlCol="0" anchor="t"/>
          <a:lstStyle/>
          <a:p>
            <a:pPr marL="0" indent="0">
              <a:lnSpc>
                <a:spcPct val="118000"/>
              </a:lnSpc>
              <a:buNone/>
            </a:pPr>
            <a:r>
              <a:rPr lang="ja-JP" sz="1250" dirty="0">
                <a:solidFill>
                  <a:srgbClr val="33384A"/>
                </a:solidFill>
                <a:latin typeface="Noto Sans CJK JP" pitchFamily="34" charset="0"/>
                <a:ea typeface="Noto Sans CJK JP"/>
                <a:cs typeface="Noto Sans CJK JP" pitchFamily="34" charset="-120"/>
              </a:rPr>
              <a:t>α₁=(√6+√2)/2, α₂=(√6−√2)/2, α₃=−α₁, α₄=−α₂</a:t>
            </a:r>
            <a:endParaRPr lang="en-US" sz="1250" dirty="0"/>
          </a:p>
          <a:p>
            <a:pPr marL="0" indent="0">
              <a:lnSpc>
                <a:spcPct val="118000"/>
              </a:lnSpc>
              <a:buNone/>
            </a:pPr>
            <a:r>
              <a:rPr lang="ja-JP" sz="1250" dirty="0">
                <a:solidFill>
                  <a:srgbClr val="33384A"/>
                </a:solidFill>
                <a:latin typeface="Noto Sans CJK JP" pitchFamily="34" charset="0"/>
                <a:ea typeface="Noto Sans CJK JP"/>
                <a:cs typeface="Noto Sans CJK JP" pitchFamily="34" charset="-120"/>
              </a:rPr>
              <a:t>成り立つ関係:α₁·α₂ = 1,  α₁+α₃ = 0(ともに有理数)</a:t>
            </a:r>
            <a:endParaRPr lang="en-US" sz="1250" dirty="0"/>
          </a:p>
          <a:p>
            <a:pPr marL="0" indent="0">
              <a:lnSpc>
                <a:spcPct val="118000"/>
              </a:lnSpc>
              <a:buNone/>
            </a:pPr>
            <a:r>
              <a:rPr lang="ja-JP" sz="1250" b="1" dirty="0">
                <a:solidFill>
                  <a:srgbClr val="33384A"/>
                </a:solidFill>
                <a:latin typeface="Noto Sans CJK JP" pitchFamily="34" charset="0"/>
                <a:ea typeface="Noto Sans CJK JP"/>
                <a:cs typeface="Noto Sans CJK JP" pitchFamily="34" charset="-120"/>
              </a:rPr>
              <a:t>α₁↔α₂ だけ入れ替えると…</a:t>
            </a:r>
            <a:endParaRPr lang="en-US" sz="1250" dirty="0"/>
          </a:p>
          <a:p>
            <a:pPr marL="0" indent="0">
              <a:lnSpc>
                <a:spcPct val="118000"/>
              </a:lnSpc>
              <a:buNone/>
            </a:pPr>
            <a:r>
              <a:rPr lang="ja-JP" sz="1250" dirty="0">
                <a:solidFill>
                  <a:srgbClr val="0F9E8E"/>
                </a:solidFill>
                <a:latin typeface="Noto Sans CJK JP" pitchFamily="34" charset="0"/>
                <a:ea typeface="Noto Sans CJK JP"/>
                <a:cs typeface="Noto Sans CJK JP" pitchFamily="34" charset="-120"/>
              </a:rPr>
              <a:t>・α₁·α₂ = 1 は保たれる(順序を変えるだけ)</a:t>
            </a:r>
            <a:endParaRPr lang="en-US" sz="1250" dirty="0"/>
          </a:p>
          <a:p>
            <a:pPr marL="0" indent="0">
              <a:lnSpc>
                <a:spcPct val="118000"/>
              </a:lnSpc>
              <a:buNone/>
            </a:pPr>
            <a:r>
              <a:rPr lang="ja-JP" sz="1250" dirty="0">
                <a:solidFill>
                  <a:srgbClr val="D8593A"/>
                </a:solidFill>
                <a:latin typeface="Noto Sans CJK JP" pitchFamily="34" charset="0"/>
                <a:ea typeface="Noto Sans CJK JP"/>
                <a:cs typeface="Noto Sans CJK JP" pitchFamily="34" charset="-120"/>
              </a:rPr>
              <a:t>・でも α₁+α₃ = 0 が −√2 に変わり壊れる → NG</a:t>
            </a:r>
            <a:endParaRPr lang="en-US" sz="1250" dirty="0"/>
          </a:p>
          <a:p>
            <a:pPr marL="0" indent="0">
              <a:lnSpc>
                <a:spcPct val="118000"/>
              </a:lnSpc>
              <a:buNone/>
            </a:pPr>
            <a:r>
              <a:rPr lang="ja-JP" sz="1250" b="1" dirty="0">
                <a:solidFill>
                  <a:srgbClr val="3457A6"/>
                </a:solidFill>
                <a:latin typeface="Noto Sans CJK JP" pitchFamily="34" charset="0"/>
                <a:ea typeface="Noto Sans CJK JP"/>
                <a:cs typeface="Noto Sans CJK JP" pitchFamily="34" charset="-120"/>
              </a:rPr>
              <a:t>α₁↔α₂ と同時に α₃↔α₄ も入れ替えれば両方保たれOK</a:t>
            </a:r>
            <a:endParaRPr lang="en-US" sz="1250" dirty="0"/>
          </a:p>
        </p:txBody>
      </p:sp>
      <p:sp>
        <p:nvSpPr>
          <p:cNvPr id="18" name="Text 16"/>
          <p:cNvSpPr/>
          <p:nvPr/>
        </p:nvSpPr>
        <p:spPr>
          <a:xfrm>
            <a:off x="11338560" y="6355080"/>
            <a:ext cx="457200" cy="274320"/>
          </a:xfrm>
          <a:prstGeom prst="rect">
            <a:avLst/>
          </a:prstGeom>
          <a:noFill/>
          <a:ln/>
        </p:spPr>
        <p:txBody>
          <a:bodyPr wrap="square" lIns="0" tIns="0" rIns="0" bIns="0" rtlCol="0" anchor="ctr"/>
          <a:lstStyle/>
          <a:p>
            <a:pPr marL="0" indent="0" algn="r">
              <a:buNone/>
            </a:pPr>
            <a:r>
              <a:rPr lang="ja-JP" sz="1100" dirty="0">
                <a:solidFill>
                  <a:srgbClr val="6B7180"/>
                </a:solidFill>
                <a:latin typeface="Noto Sans CJK JP" pitchFamily="34" charset="0"/>
                <a:ea typeface="Noto Sans CJK JP"/>
                <a:cs typeface="Noto Sans CJK JP" pitchFamily="34" charset="-120"/>
              </a:rPr>
              <a:t>3</a:t>
            </a:r>
            <a:endParaRPr lang="en-US" sz="1100" dirty="0"/>
          </a:p>
        </p:txBody>
      </p:sp>
      <p:sp>
        <p:nvSpPr>
          <p:cNvPr id="19" name="Text 17"/>
          <p:cNvSpPr/>
          <p:nvPr/>
        </p:nvSpPr>
        <p:spPr>
          <a:xfrm>
            <a:off x="457200" y="6355080"/>
            <a:ext cx="4572000" cy="274320"/>
          </a:xfrm>
          <a:prstGeom prst="rect">
            <a:avLst/>
          </a:prstGeom>
          <a:noFill/>
          <a:ln/>
        </p:spPr>
        <p:txBody>
          <a:bodyPr wrap="square" lIns="0" tIns="0" rIns="0" bIns="0" rtlCol="0" anchor="ctr"/>
          <a:lstStyle/>
          <a:p>
            <a:pPr marL="0" indent="0" algn="l">
              <a:buNone/>
            </a:pPr>
            <a:r>
              <a:rPr lang="ja-JP" sz="1000" dirty="0">
                <a:solidFill>
                  <a:srgbClr val="6B7180"/>
                </a:solidFill>
                <a:latin typeface="Noto Sans CJK JP" pitchFamily="34" charset="0"/>
                <a:ea typeface="Noto Sans CJK JP"/>
                <a:cs typeface="Noto Sans CJK JP" pitchFamily="34" charset="-120"/>
              </a:rPr>
              <a:t>5garashi.com 設計事務所</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146304" cy="146304"/>
          </a:xfrm>
          <a:prstGeom prst="ellipse">
            <a:avLst/>
          </a:prstGeom>
          <a:solidFill>
            <a:srgbClr val="0F9E8E"/>
          </a:solidFill>
          <a:ln/>
        </p:spPr>
        <p:txBody>
          <a:bodyPr/>
          <a:lstStyle/>
          <a:p>
            <a:endParaRPr/>
          </a:p>
        </p:txBody>
      </p:sp>
      <p:sp>
        <p:nvSpPr>
          <p:cNvPr id="3" name="Text 1"/>
          <p:cNvSpPr/>
          <p:nvPr/>
        </p:nvSpPr>
        <p:spPr>
          <a:xfrm>
            <a:off x="896112" y="438912"/>
            <a:ext cx="5486400" cy="365760"/>
          </a:xfrm>
          <a:prstGeom prst="rect">
            <a:avLst/>
          </a:prstGeom>
          <a:noFill/>
          <a:ln/>
        </p:spPr>
        <p:txBody>
          <a:bodyPr wrap="square" lIns="0" tIns="0" rIns="0" bIns="0" rtlCol="0" anchor="ctr"/>
          <a:lstStyle/>
          <a:p>
            <a:pPr marL="0" indent="0">
              <a:buNone/>
            </a:pPr>
            <a:r>
              <a:rPr lang="ja-JP" sz="1600" b="1" dirty="0">
                <a:solidFill>
                  <a:srgbClr val="0F9E8E"/>
                </a:solidFill>
                <a:latin typeface="Noto Sans CJK JP" pitchFamily="34" charset="0"/>
                <a:ea typeface="Noto Sans CJK JP"/>
                <a:cs typeface="Noto Sans CJK JP" pitchFamily="34" charset="-120"/>
              </a:rPr>
              <a:t>STEP 2</a:t>
            </a:r>
            <a:endParaRPr lang="en-US" sz="1600" dirty="0"/>
          </a:p>
        </p:txBody>
      </p:sp>
      <p:sp>
        <p:nvSpPr>
          <p:cNvPr id="4" name="Text 2"/>
          <p:cNvSpPr/>
          <p:nvPr/>
        </p:nvSpPr>
        <p:spPr>
          <a:xfrm>
            <a:off x="640080" y="868680"/>
            <a:ext cx="10972800" cy="731520"/>
          </a:xfrm>
          <a:prstGeom prst="rect">
            <a:avLst/>
          </a:prstGeom>
          <a:noFill/>
          <a:ln/>
        </p:spPr>
        <p:txBody>
          <a:bodyPr wrap="square" lIns="0" tIns="0" rIns="0" bIns="0" rtlCol="0" anchor="ctr"/>
          <a:lstStyle/>
          <a:p>
            <a:pPr marL="0" indent="0">
              <a:buNone/>
            </a:pPr>
            <a:r>
              <a:rPr lang="ja-JP" sz="3200" b="1" dirty="0">
                <a:solidFill>
                  <a:srgbClr val="1A2238"/>
                </a:solidFill>
                <a:latin typeface="Noto Sans CJK JP" pitchFamily="34" charset="0"/>
                <a:ea typeface="Noto Sans CJK JP"/>
                <a:cs typeface="Noto Sans CJK JP" pitchFamily="34" charset="-120"/>
              </a:rPr>
              <a:t>ガロア群が縮小すると体が拡大する</a:t>
            </a:r>
            <a:endParaRPr lang="en-US" sz="3200" dirty="0"/>
          </a:p>
        </p:txBody>
      </p:sp>
      <p:sp>
        <p:nvSpPr>
          <p:cNvPr id="5" name="Text 3"/>
          <p:cNvSpPr/>
          <p:nvPr/>
        </p:nvSpPr>
        <p:spPr>
          <a:xfrm>
            <a:off x="640080" y="1572768"/>
            <a:ext cx="10881360" cy="1783080"/>
          </a:xfrm>
          <a:prstGeom prst="rect">
            <a:avLst/>
          </a:prstGeom>
          <a:noFill/>
          <a:ln/>
        </p:spPr>
        <p:txBody>
          <a:bodyPr wrap="square" lIns="0" tIns="0" rIns="0" bIns="0" rtlCol="0" anchor="ctr"/>
          <a:lstStyle/>
          <a:p>
            <a:pPr marL="0" indent="0">
              <a:lnSpc>
                <a:spcPct val="112000"/>
              </a:lnSpc>
              <a:buNone/>
            </a:pPr>
            <a:r>
              <a:rPr lang="ja-JP" sz="1450" b="1" dirty="0">
                <a:solidFill>
                  <a:srgbClr val="3457A6"/>
                </a:solidFill>
                <a:latin typeface="Noto Sans CJK JP" pitchFamily="34" charset="0"/>
                <a:ea typeface="Noto Sans CJK JP"/>
                <a:cs typeface="Noto Sans CJK JP" pitchFamily="34" charset="-120"/>
              </a:rPr>
              <a:t>基礎体 Q ⊂ 中間体 L ⊂ 拡大体(分解体)K。</a:t>
            </a:r>
            <a:r>
              <a:rPr lang="ja-JP" sz="1450" dirty="0">
                <a:solidFill>
                  <a:srgbClr val="33384A"/>
                </a:solidFill>
                <a:latin typeface="Noto Sans CJK JP" pitchFamily="34" charset="0"/>
                <a:ea typeface="Noto Sans CJK JP"/>
                <a:cs typeface="Noto Sans CJK JP" pitchFamily="34" charset="-120"/>
              </a:rPr>
              <a:t> 中間体 L に、L を固定する部分群 Gal(K/L) を対応させる:</a:t>
            </a:r>
            <a:endParaRPr lang="en-US" sz="1450" dirty="0"/>
          </a:p>
          <a:p>
            <a:pPr marL="0" indent="0">
              <a:lnSpc>
                <a:spcPct val="112000"/>
              </a:lnSpc>
              <a:buNone/>
            </a:pPr>
            <a:r>
              <a:rPr lang="ja-JP" sz="1450" b="1" dirty="0">
                <a:solidFill>
                  <a:srgbClr val="1A2238"/>
                </a:solidFill>
                <a:latin typeface="Noto Sans CJK JP" pitchFamily="34" charset="0"/>
                <a:ea typeface="Noto Sans CJK JP"/>
                <a:cs typeface="Noto Sans CJK JP" pitchFamily="34" charset="-120"/>
              </a:rPr>
              <a:t>L ⟼ Gal(K/L) = Aut(K/L) = { σ∈G : σ(x)=x (∀x∈L) }</a:t>
            </a:r>
            <a:endParaRPr lang="en-US" sz="1450" dirty="0"/>
          </a:p>
          <a:p>
            <a:pPr marL="0" indent="0">
              <a:lnSpc>
                <a:spcPct val="112000"/>
              </a:lnSpc>
              <a:buNone/>
            </a:pPr>
            <a:r>
              <a:rPr lang="ja-JP" sz="1450" dirty="0">
                <a:solidFill>
                  <a:srgbClr val="33384A"/>
                </a:solidFill>
                <a:latin typeface="Noto Sans CJK JP" pitchFamily="34" charset="0"/>
                <a:ea typeface="Noto Sans CJK JP"/>
                <a:cs typeface="Noto Sans CJK JP" pitchFamily="34" charset="-120"/>
              </a:rPr>
              <a:t>ガロア群が縮小するとき体は拡大し、このとき体に添加される元が拡大体 K のなかで L 上に固定される。</a:t>
            </a:r>
            <a:endParaRPr lang="en-US" sz="1450" dirty="0"/>
          </a:p>
          <a:p>
            <a:pPr marL="0" indent="0">
              <a:lnSpc>
                <a:spcPct val="112000"/>
              </a:lnSpc>
              <a:buNone/>
            </a:pPr>
            <a:r>
              <a:rPr lang="ja-JP" sz="1450" dirty="0">
                <a:solidFill>
                  <a:srgbClr val="33384A"/>
                </a:solidFill>
                <a:latin typeface="Noto Sans CJK JP" pitchFamily="34" charset="0"/>
                <a:ea typeface="Noto Sans CJK JP"/>
                <a:cs typeface="Noto Sans CJK JP" pitchFamily="34" charset="-120"/>
              </a:rPr>
              <a:t>各段では商(剰余群)が位数 p(p は素数)の巡回群になり、拡大前の既知数の p 乗根が添加元になる。</a:t>
            </a:r>
            <a:endParaRPr lang="en-US" sz="1450" dirty="0"/>
          </a:p>
          <a:p>
            <a:pPr marL="0" indent="0">
              <a:lnSpc>
                <a:spcPct val="112000"/>
              </a:lnSpc>
              <a:buNone/>
            </a:pPr>
            <a:r>
              <a:rPr lang="ja-JP" sz="1450" dirty="0">
                <a:solidFill>
                  <a:srgbClr val="6B7180"/>
                </a:solidFill>
                <a:latin typeface="Noto Sans CJK JP" pitchFamily="34" charset="0"/>
                <a:ea typeface="Noto Sans CJK JP"/>
                <a:cs typeface="Noto Sans CJK JP" pitchFamily="34" charset="-120"/>
              </a:rPr>
              <a:t>前提:K は添加元のすべての共役を含む体(ガロア拡大)。各段では 剰余群の位数 = その一段での体の拡大次数 が成り立ち、群の縮小と体の拡大がぴったり対応する。</a:t>
            </a:r>
            <a:endParaRPr lang="en-US" sz="1450" dirty="0"/>
          </a:p>
        </p:txBody>
      </p:sp>
      <p:pic>
        <p:nvPicPr>
          <p:cNvPr id="6" name="Image 0" descr="/home/claude/fig_correspondence.png"/>
          <p:cNvPicPr>
            <a:picLocks noChangeAspect="1"/>
          </p:cNvPicPr>
          <p:nvPr/>
        </p:nvPicPr>
        <p:blipFill>
          <a:blip r:embed="rId3"/>
          <a:stretch>
            <a:fillRect/>
          </a:stretch>
        </p:blipFill>
        <p:spPr>
          <a:xfrm>
            <a:off x="3566160" y="3401568"/>
            <a:ext cx="5029200" cy="2816352"/>
          </a:xfrm>
          <a:prstGeom prst="rect">
            <a:avLst/>
          </a:prstGeom>
        </p:spPr>
      </p:pic>
      <p:sp>
        <p:nvSpPr>
          <p:cNvPr id="7" name="Text 4"/>
          <p:cNvSpPr/>
          <p:nvPr/>
        </p:nvSpPr>
        <p:spPr>
          <a:xfrm>
            <a:off x="11338560" y="6355080"/>
            <a:ext cx="457200" cy="274320"/>
          </a:xfrm>
          <a:prstGeom prst="rect">
            <a:avLst/>
          </a:prstGeom>
          <a:noFill/>
          <a:ln/>
        </p:spPr>
        <p:txBody>
          <a:bodyPr wrap="square" lIns="0" tIns="0" rIns="0" bIns="0" rtlCol="0" anchor="ctr"/>
          <a:lstStyle/>
          <a:p>
            <a:pPr marL="0" indent="0" algn="r">
              <a:buNone/>
            </a:pPr>
            <a:r>
              <a:rPr lang="ja-JP" sz="1100" dirty="0">
                <a:solidFill>
                  <a:srgbClr val="6B7180"/>
                </a:solidFill>
                <a:latin typeface="Noto Sans CJK JP" pitchFamily="34" charset="0"/>
                <a:ea typeface="Noto Sans CJK JP"/>
                <a:cs typeface="Noto Sans CJK JP" pitchFamily="34" charset="-120"/>
              </a:rPr>
              <a:t>4</a:t>
            </a:r>
            <a:endParaRPr lang="en-US" sz="1100" dirty="0"/>
          </a:p>
        </p:txBody>
      </p:sp>
      <p:sp>
        <p:nvSpPr>
          <p:cNvPr id="8" name="Text 5"/>
          <p:cNvSpPr/>
          <p:nvPr/>
        </p:nvSpPr>
        <p:spPr>
          <a:xfrm>
            <a:off x="457200" y="6355080"/>
            <a:ext cx="4572000" cy="274320"/>
          </a:xfrm>
          <a:prstGeom prst="rect">
            <a:avLst/>
          </a:prstGeom>
          <a:noFill/>
          <a:ln/>
        </p:spPr>
        <p:txBody>
          <a:bodyPr wrap="square" lIns="0" tIns="0" rIns="0" bIns="0" rtlCol="0" anchor="ctr"/>
          <a:lstStyle/>
          <a:p>
            <a:pPr marL="0" indent="0" algn="l">
              <a:buNone/>
            </a:pPr>
            <a:r>
              <a:rPr lang="ja-JP" sz="1000" dirty="0">
                <a:solidFill>
                  <a:srgbClr val="6B7180"/>
                </a:solidFill>
                <a:latin typeface="Noto Sans CJK JP" pitchFamily="34" charset="0"/>
                <a:ea typeface="Noto Sans CJK JP"/>
                <a:cs typeface="Noto Sans CJK JP" pitchFamily="34" charset="-120"/>
              </a:rPr>
              <a:t>5garashi.com 設計事務所</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146304" cy="146304"/>
          </a:xfrm>
          <a:prstGeom prst="ellipse">
            <a:avLst/>
          </a:prstGeom>
          <a:solidFill>
            <a:srgbClr val="0F9E8E"/>
          </a:solidFill>
          <a:ln/>
        </p:spPr>
        <p:txBody>
          <a:bodyPr/>
          <a:lstStyle/>
          <a:p>
            <a:endParaRPr/>
          </a:p>
        </p:txBody>
      </p:sp>
      <p:sp>
        <p:nvSpPr>
          <p:cNvPr id="3" name="Text 1"/>
          <p:cNvSpPr/>
          <p:nvPr/>
        </p:nvSpPr>
        <p:spPr>
          <a:xfrm>
            <a:off x="896112" y="438912"/>
            <a:ext cx="5486400" cy="365760"/>
          </a:xfrm>
          <a:prstGeom prst="rect">
            <a:avLst/>
          </a:prstGeom>
          <a:noFill/>
          <a:ln/>
        </p:spPr>
        <p:txBody>
          <a:bodyPr wrap="square" lIns="0" tIns="0" rIns="0" bIns="0" rtlCol="0" anchor="ctr"/>
          <a:lstStyle/>
          <a:p>
            <a:pPr marL="0" indent="0">
              <a:buNone/>
            </a:pPr>
            <a:r>
              <a:rPr lang="ja-JP" sz="1600" b="1" dirty="0">
                <a:solidFill>
                  <a:srgbClr val="0F9E8E"/>
                </a:solidFill>
                <a:latin typeface="Noto Sans CJK JP" pitchFamily="34" charset="0"/>
                <a:ea typeface="Noto Sans CJK JP"/>
                <a:cs typeface="Noto Sans CJK JP" pitchFamily="34" charset="-120"/>
              </a:rPr>
              <a:t>STEP 3</a:t>
            </a:r>
            <a:endParaRPr lang="en-US" sz="1600" dirty="0"/>
          </a:p>
        </p:txBody>
      </p:sp>
      <p:sp>
        <p:nvSpPr>
          <p:cNvPr id="4" name="Text 2"/>
          <p:cNvSpPr/>
          <p:nvPr/>
        </p:nvSpPr>
        <p:spPr>
          <a:xfrm>
            <a:off x="640080" y="868680"/>
            <a:ext cx="10972800" cy="731520"/>
          </a:xfrm>
          <a:prstGeom prst="rect">
            <a:avLst/>
          </a:prstGeom>
          <a:noFill/>
          <a:ln/>
        </p:spPr>
        <p:txBody>
          <a:bodyPr wrap="square" lIns="0" tIns="0" rIns="0" bIns="0" rtlCol="0" anchor="ctr"/>
          <a:lstStyle/>
          <a:p>
            <a:pPr marL="0" indent="0">
              <a:buNone/>
            </a:pPr>
            <a:r>
              <a:rPr lang="ja-JP" sz="3200" b="1" dirty="0">
                <a:solidFill>
                  <a:srgbClr val="1A2238"/>
                </a:solidFill>
                <a:latin typeface="Noto Sans CJK JP" pitchFamily="34" charset="0"/>
                <a:ea typeface="Noto Sans CJK JP"/>
                <a:cs typeface="Noto Sans CJK JP" pitchFamily="34" charset="-120"/>
              </a:rPr>
              <a:t>方程式が解ける条件</a:t>
            </a:r>
            <a:endParaRPr lang="en-US" sz="3200" dirty="0"/>
          </a:p>
        </p:txBody>
      </p:sp>
      <p:sp>
        <p:nvSpPr>
          <p:cNvPr id="5" name="Text 3"/>
          <p:cNvSpPr/>
          <p:nvPr/>
        </p:nvSpPr>
        <p:spPr>
          <a:xfrm>
            <a:off x="640080" y="1691640"/>
            <a:ext cx="10789920" cy="457200"/>
          </a:xfrm>
          <a:prstGeom prst="rect">
            <a:avLst/>
          </a:prstGeom>
          <a:noFill/>
          <a:ln/>
        </p:spPr>
        <p:txBody>
          <a:bodyPr wrap="square" lIns="0" tIns="0" rIns="0" bIns="0" rtlCol="0" anchor="ctr"/>
          <a:lstStyle/>
          <a:p>
            <a:pPr marL="0" indent="0">
              <a:buNone/>
            </a:pPr>
            <a:r>
              <a:rPr lang="ja-JP" sz="1800" dirty="0">
                <a:solidFill>
                  <a:srgbClr val="33384A"/>
                </a:solidFill>
                <a:latin typeface="Noto Sans CJK JP" pitchFamily="34" charset="0"/>
                <a:ea typeface="Noto Sans CJK JP"/>
                <a:cs typeface="Noto Sans CJK JP" pitchFamily="34" charset="-120"/>
              </a:rPr>
              <a:t>方程式がべき根(四則と n乗根)で解けることは、ガロア群が次の形で縮小できることと同じ:</a:t>
            </a:r>
            <a:endParaRPr lang="en-US" sz="1800" dirty="0"/>
          </a:p>
        </p:txBody>
      </p:sp>
      <p:sp>
        <p:nvSpPr>
          <p:cNvPr id="6" name="Shape 4"/>
          <p:cNvSpPr/>
          <p:nvPr/>
        </p:nvSpPr>
        <p:spPr>
          <a:xfrm>
            <a:off x="1188720" y="2286000"/>
            <a:ext cx="9784080" cy="1051560"/>
          </a:xfrm>
          <a:prstGeom prst="roundRect">
            <a:avLst>
              <a:gd name="adj" fmla="val 10435"/>
            </a:avLst>
          </a:prstGeom>
          <a:solidFill>
            <a:srgbClr val="E5F5F2"/>
          </a:solidFill>
          <a:ln w="19050">
            <a:solidFill>
              <a:srgbClr val="0F9E8E"/>
            </a:solidFill>
            <a:prstDash val="solid"/>
          </a:ln>
        </p:spPr>
        <p:txBody>
          <a:bodyPr/>
          <a:lstStyle/>
          <a:p>
            <a:endParaRPr/>
          </a:p>
        </p:txBody>
      </p:sp>
      <p:sp>
        <p:nvSpPr>
          <p:cNvPr id="7" name="Text 5"/>
          <p:cNvSpPr/>
          <p:nvPr/>
        </p:nvSpPr>
        <p:spPr>
          <a:xfrm>
            <a:off x="1188720" y="2286000"/>
            <a:ext cx="9784080" cy="1051560"/>
          </a:xfrm>
          <a:prstGeom prst="rect">
            <a:avLst/>
          </a:prstGeom>
          <a:noFill/>
          <a:ln/>
        </p:spPr>
        <p:txBody>
          <a:bodyPr wrap="square" lIns="0" tIns="0" rIns="0" bIns="0" rtlCol="0" anchor="ctr"/>
          <a:lstStyle/>
          <a:p>
            <a:pPr marL="0" indent="0" algn="ctr">
              <a:buNone/>
            </a:pPr>
            <a:r>
              <a:rPr lang="ja-JP" sz="2300" b="1" dirty="0">
                <a:solidFill>
                  <a:srgbClr val="0F9E8E"/>
                </a:solidFill>
                <a:latin typeface="Noto Sans CJK JP" pitchFamily="34" charset="0"/>
                <a:ea typeface="Noto Sans CJK JP"/>
                <a:cs typeface="Noto Sans CJK JP" pitchFamily="34" charset="-120"/>
              </a:rPr>
              <a:t>各段の商(剰余群)が巡回群</a:t>
            </a:r>
            <a:r>
              <a:rPr lang="ja-JP" sz="2300" dirty="0">
                <a:solidFill>
                  <a:srgbClr val="1A2238"/>
                </a:solidFill>
                <a:latin typeface="Noto Sans CJK JP" pitchFamily="34" charset="0"/>
                <a:ea typeface="Noto Sans CJK JP"/>
                <a:cs typeface="Noto Sans CJK JP" pitchFamily="34" charset="-120"/>
              </a:rPr>
              <a:t> となる縮小鎖で、G から {e} まで届くこと</a:t>
            </a:r>
            <a:endParaRPr lang="en-US" sz="2300" dirty="0"/>
          </a:p>
        </p:txBody>
      </p:sp>
      <p:sp>
        <p:nvSpPr>
          <p:cNvPr id="8" name="Shape 6"/>
          <p:cNvSpPr/>
          <p:nvPr/>
        </p:nvSpPr>
        <p:spPr>
          <a:xfrm>
            <a:off x="1188720" y="3566160"/>
            <a:ext cx="3108960" cy="1234440"/>
          </a:xfrm>
          <a:prstGeom prst="roundRect">
            <a:avLst>
              <a:gd name="adj" fmla="val 7407"/>
            </a:avLst>
          </a:prstGeom>
          <a:solidFill>
            <a:srgbClr val="FFFFFF"/>
          </a:solidFill>
          <a:ln w="12700">
            <a:solidFill>
              <a:srgbClr val="D5DAE6"/>
            </a:solidFill>
            <a:prstDash val="solid"/>
          </a:ln>
          <a:effectLst>
            <a:outerShdw blurRad="76200" dist="25400" dir="8100000" algn="bl" rotWithShape="0">
              <a:srgbClr val="000000">
                <a:alpha val="8000"/>
              </a:srgbClr>
            </a:outerShdw>
          </a:effectLst>
        </p:spPr>
        <p:txBody>
          <a:bodyPr/>
          <a:lstStyle/>
          <a:p>
            <a:endParaRPr/>
          </a:p>
        </p:txBody>
      </p:sp>
      <p:sp>
        <p:nvSpPr>
          <p:cNvPr id="9" name="Text 7"/>
          <p:cNvSpPr/>
          <p:nvPr/>
        </p:nvSpPr>
        <p:spPr>
          <a:xfrm>
            <a:off x="1188720" y="3749040"/>
            <a:ext cx="3108960" cy="457200"/>
          </a:xfrm>
          <a:prstGeom prst="rect">
            <a:avLst/>
          </a:prstGeom>
          <a:noFill/>
          <a:ln/>
        </p:spPr>
        <p:txBody>
          <a:bodyPr wrap="square" lIns="0" tIns="0" rIns="0" bIns="0" rtlCol="0" anchor="ctr"/>
          <a:lstStyle/>
          <a:p>
            <a:pPr marL="0" indent="0" algn="ctr">
              <a:buNone/>
            </a:pPr>
            <a:r>
              <a:rPr lang="ja-JP" sz="2100" b="1" dirty="0">
                <a:solidFill>
                  <a:srgbClr val="3457A6"/>
                </a:solidFill>
                <a:latin typeface="Noto Sans CJK JP" pitchFamily="34" charset="0"/>
                <a:ea typeface="Noto Sans CJK JP"/>
                <a:cs typeface="Noto Sans CJK JP" pitchFamily="34" charset="-120"/>
              </a:rPr>
              <a:t>縮小鎖</a:t>
            </a:r>
            <a:endParaRPr lang="en-US" sz="2100" dirty="0"/>
          </a:p>
        </p:txBody>
      </p:sp>
      <p:sp>
        <p:nvSpPr>
          <p:cNvPr id="10" name="Text 8"/>
          <p:cNvSpPr/>
          <p:nvPr/>
        </p:nvSpPr>
        <p:spPr>
          <a:xfrm>
            <a:off x="1371600" y="4251960"/>
            <a:ext cx="2743200" cy="457200"/>
          </a:xfrm>
          <a:prstGeom prst="rect">
            <a:avLst/>
          </a:prstGeom>
          <a:noFill/>
          <a:ln/>
        </p:spPr>
        <p:txBody>
          <a:bodyPr wrap="square" lIns="0" tIns="0" rIns="0" bIns="0" rtlCol="0" anchor="ctr"/>
          <a:lstStyle/>
          <a:p>
            <a:pPr marL="0" indent="0" algn="ctr">
              <a:buNone/>
            </a:pPr>
            <a:r>
              <a:rPr lang="ja-JP" sz="1500" dirty="0">
                <a:solidFill>
                  <a:srgbClr val="6B7180"/>
                </a:solidFill>
                <a:latin typeface="Noto Sans CJK JP" pitchFamily="34" charset="0"/>
                <a:ea typeface="Noto Sans CJK JP"/>
                <a:cs typeface="Noto Sans CJK JP" pitchFamily="34" charset="-120"/>
              </a:rPr>
              <a:t>群を一段ずつ小さくする</a:t>
            </a:r>
            <a:endParaRPr lang="en-US" sz="1500" dirty="0"/>
          </a:p>
        </p:txBody>
      </p:sp>
      <p:sp>
        <p:nvSpPr>
          <p:cNvPr id="11" name="Shape 9"/>
          <p:cNvSpPr/>
          <p:nvPr/>
        </p:nvSpPr>
        <p:spPr>
          <a:xfrm>
            <a:off x="4526280" y="3566160"/>
            <a:ext cx="3108960" cy="1234440"/>
          </a:xfrm>
          <a:prstGeom prst="roundRect">
            <a:avLst>
              <a:gd name="adj" fmla="val 7407"/>
            </a:avLst>
          </a:prstGeom>
          <a:solidFill>
            <a:srgbClr val="FFFFFF"/>
          </a:solidFill>
          <a:ln w="12700">
            <a:solidFill>
              <a:srgbClr val="D5DAE6"/>
            </a:solidFill>
            <a:prstDash val="solid"/>
          </a:ln>
          <a:effectLst>
            <a:outerShdw blurRad="76200" dist="25400" dir="8100000" algn="bl" rotWithShape="0">
              <a:srgbClr val="000000">
                <a:alpha val="8000"/>
              </a:srgbClr>
            </a:outerShdw>
          </a:effectLst>
        </p:spPr>
        <p:txBody>
          <a:bodyPr/>
          <a:lstStyle/>
          <a:p>
            <a:endParaRPr/>
          </a:p>
        </p:txBody>
      </p:sp>
      <p:sp>
        <p:nvSpPr>
          <p:cNvPr id="12" name="Text 10"/>
          <p:cNvSpPr/>
          <p:nvPr/>
        </p:nvSpPr>
        <p:spPr>
          <a:xfrm>
            <a:off x="4526280" y="3749040"/>
            <a:ext cx="3108960" cy="457200"/>
          </a:xfrm>
          <a:prstGeom prst="rect">
            <a:avLst/>
          </a:prstGeom>
          <a:noFill/>
          <a:ln/>
        </p:spPr>
        <p:txBody>
          <a:bodyPr wrap="square" lIns="0" tIns="0" rIns="0" bIns="0" rtlCol="0" anchor="ctr"/>
          <a:lstStyle/>
          <a:p>
            <a:pPr marL="0" indent="0" algn="ctr">
              <a:buNone/>
            </a:pPr>
            <a:r>
              <a:rPr lang="ja-JP" sz="2100" b="1" dirty="0">
                <a:solidFill>
                  <a:srgbClr val="3457A6"/>
                </a:solidFill>
                <a:latin typeface="Noto Sans CJK JP" pitchFamily="34" charset="0"/>
                <a:ea typeface="Noto Sans CJK JP"/>
                <a:cs typeface="Noto Sans CJK JP" pitchFamily="34" charset="-120"/>
              </a:rPr>
              <a:t>巡回群の商</a:t>
            </a:r>
            <a:endParaRPr lang="en-US" sz="2100" dirty="0"/>
          </a:p>
        </p:txBody>
      </p:sp>
      <p:sp>
        <p:nvSpPr>
          <p:cNvPr id="13" name="Text 11"/>
          <p:cNvSpPr/>
          <p:nvPr/>
        </p:nvSpPr>
        <p:spPr>
          <a:xfrm>
            <a:off x="4709160" y="4251960"/>
            <a:ext cx="2743200" cy="457200"/>
          </a:xfrm>
          <a:prstGeom prst="rect">
            <a:avLst/>
          </a:prstGeom>
          <a:noFill/>
          <a:ln/>
        </p:spPr>
        <p:txBody>
          <a:bodyPr wrap="square" lIns="0" tIns="0" rIns="0" bIns="0" rtlCol="0" anchor="ctr"/>
          <a:lstStyle/>
          <a:p>
            <a:pPr marL="0" indent="0" algn="ctr">
              <a:buNone/>
            </a:pPr>
            <a:r>
              <a:rPr lang="ja-JP" sz="1500" dirty="0">
                <a:solidFill>
                  <a:srgbClr val="6B7180"/>
                </a:solidFill>
                <a:latin typeface="Noto Sans CJK JP" pitchFamily="34" charset="0"/>
                <a:ea typeface="Noto Sans CJK JP"/>
                <a:cs typeface="Noto Sans CJK JP" pitchFamily="34" charset="-120"/>
              </a:rPr>
              <a:t>各段がきれいに割れる</a:t>
            </a:r>
            <a:endParaRPr lang="en-US" sz="1500" dirty="0"/>
          </a:p>
        </p:txBody>
      </p:sp>
      <p:sp>
        <p:nvSpPr>
          <p:cNvPr id="14" name="Shape 12"/>
          <p:cNvSpPr/>
          <p:nvPr/>
        </p:nvSpPr>
        <p:spPr>
          <a:xfrm>
            <a:off x="7863840" y="3566160"/>
            <a:ext cx="3108960" cy="1234440"/>
          </a:xfrm>
          <a:prstGeom prst="roundRect">
            <a:avLst>
              <a:gd name="adj" fmla="val 7407"/>
            </a:avLst>
          </a:prstGeom>
          <a:solidFill>
            <a:srgbClr val="FFFFFF"/>
          </a:solidFill>
          <a:ln w="12700">
            <a:solidFill>
              <a:srgbClr val="D5DAE6"/>
            </a:solidFill>
            <a:prstDash val="solid"/>
          </a:ln>
          <a:effectLst>
            <a:outerShdw blurRad="76200" dist="25400" dir="8100000" algn="bl" rotWithShape="0">
              <a:srgbClr val="000000">
                <a:alpha val="8000"/>
              </a:srgbClr>
            </a:outerShdw>
          </a:effectLst>
        </p:spPr>
        <p:txBody>
          <a:bodyPr/>
          <a:lstStyle/>
          <a:p>
            <a:endParaRPr/>
          </a:p>
        </p:txBody>
      </p:sp>
      <p:sp>
        <p:nvSpPr>
          <p:cNvPr id="15" name="Text 13"/>
          <p:cNvSpPr/>
          <p:nvPr/>
        </p:nvSpPr>
        <p:spPr>
          <a:xfrm>
            <a:off x="7863840" y="3749040"/>
            <a:ext cx="3108960" cy="457200"/>
          </a:xfrm>
          <a:prstGeom prst="rect">
            <a:avLst/>
          </a:prstGeom>
          <a:noFill/>
          <a:ln/>
        </p:spPr>
        <p:txBody>
          <a:bodyPr wrap="square" lIns="0" tIns="0" rIns="0" bIns="0" rtlCol="0" anchor="ctr"/>
          <a:lstStyle/>
          <a:p>
            <a:pPr marL="0" indent="0" algn="ctr">
              <a:buNone/>
            </a:pPr>
            <a:r>
              <a:rPr lang="ja-JP" sz="2100" b="1" dirty="0">
                <a:solidFill>
                  <a:srgbClr val="3457A6"/>
                </a:solidFill>
                <a:latin typeface="Noto Sans CJK JP" pitchFamily="34" charset="0"/>
                <a:ea typeface="Noto Sans CJK JP"/>
                <a:cs typeface="Noto Sans CJK JP" pitchFamily="34" charset="-120"/>
              </a:rPr>
              <a:t>{e} まで到達</a:t>
            </a:r>
            <a:endParaRPr lang="en-US" sz="2100" dirty="0"/>
          </a:p>
        </p:txBody>
      </p:sp>
      <p:sp>
        <p:nvSpPr>
          <p:cNvPr id="16" name="Text 14"/>
          <p:cNvSpPr/>
          <p:nvPr/>
        </p:nvSpPr>
        <p:spPr>
          <a:xfrm>
            <a:off x="8046720" y="4251960"/>
            <a:ext cx="2743200" cy="457200"/>
          </a:xfrm>
          <a:prstGeom prst="rect">
            <a:avLst/>
          </a:prstGeom>
          <a:noFill/>
          <a:ln/>
        </p:spPr>
        <p:txBody>
          <a:bodyPr wrap="square" lIns="0" tIns="0" rIns="0" bIns="0" rtlCol="0" anchor="ctr"/>
          <a:lstStyle/>
          <a:p>
            <a:pPr marL="0" indent="0" algn="ctr">
              <a:buNone/>
            </a:pPr>
            <a:r>
              <a:rPr lang="ja-JP" sz="1500" dirty="0">
                <a:solidFill>
                  <a:srgbClr val="6B7180"/>
                </a:solidFill>
                <a:latin typeface="Noto Sans CJK JP" pitchFamily="34" charset="0"/>
                <a:ea typeface="Noto Sans CJK JP"/>
                <a:cs typeface="Noto Sans CJK JP" pitchFamily="34" charset="-120"/>
              </a:rPr>
              <a:t>最後は恒等だけに</a:t>
            </a:r>
            <a:endParaRPr lang="en-US" sz="1500" dirty="0"/>
          </a:p>
        </p:txBody>
      </p:sp>
      <p:sp>
        <p:nvSpPr>
          <p:cNvPr id="17" name="Shape 15"/>
          <p:cNvSpPr/>
          <p:nvPr/>
        </p:nvSpPr>
        <p:spPr>
          <a:xfrm>
            <a:off x="640080" y="5074920"/>
            <a:ext cx="64008" cy="1325880"/>
          </a:xfrm>
          <a:prstGeom prst="rect">
            <a:avLst/>
          </a:prstGeom>
          <a:solidFill>
            <a:srgbClr val="E0992B"/>
          </a:solidFill>
          <a:ln/>
        </p:spPr>
        <p:txBody>
          <a:bodyPr/>
          <a:lstStyle/>
          <a:p>
            <a:endParaRPr/>
          </a:p>
        </p:txBody>
      </p:sp>
      <p:sp>
        <p:nvSpPr>
          <p:cNvPr id="18" name="Text 16"/>
          <p:cNvSpPr/>
          <p:nvPr/>
        </p:nvSpPr>
        <p:spPr>
          <a:xfrm>
            <a:off x="868680" y="5029200"/>
            <a:ext cx="4572000" cy="320040"/>
          </a:xfrm>
          <a:prstGeom prst="rect">
            <a:avLst/>
          </a:prstGeom>
          <a:noFill/>
          <a:ln/>
        </p:spPr>
        <p:txBody>
          <a:bodyPr wrap="square" lIns="0" tIns="0" rIns="0" bIns="0" rtlCol="0" anchor="ctr"/>
          <a:lstStyle/>
          <a:p>
            <a:pPr marL="0" indent="0">
              <a:buNone/>
            </a:pPr>
            <a:r>
              <a:rPr lang="ja-JP" sz="1400" b="1" dirty="0">
                <a:solidFill>
                  <a:srgbClr val="E0992B"/>
                </a:solidFill>
                <a:latin typeface="Noto Sans CJK JP" pitchFamily="34" charset="0"/>
                <a:ea typeface="Noto Sans CJK JP"/>
                <a:cs typeface="Noto Sans CJK JP" pitchFamily="34" charset="-120"/>
              </a:rPr>
              <a:t>注記</a:t>
            </a:r>
            <a:endParaRPr lang="en-US" sz="1400" dirty="0"/>
          </a:p>
        </p:txBody>
      </p:sp>
      <p:sp>
        <p:nvSpPr>
          <p:cNvPr id="19" name="Text 17"/>
          <p:cNvSpPr/>
          <p:nvPr/>
        </p:nvSpPr>
        <p:spPr>
          <a:xfrm>
            <a:off x="868680" y="5394960"/>
            <a:ext cx="10607040" cy="1005840"/>
          </a:xfrm>
          <a:prstGeom prst="rect">
            <a:avLst/>
          </a:prstGeom>
          <a:noFill/>
          <a:ln/>
        </p:spPr>
        <p:txBody>
          <a:bodyPr wrap="square" lIns="0" tIns="0" rIns="0" bIns="0" rtlCol="0" anchor="ctr"/>
          <a:lstStyle/>
          <a:p>
            <a:pPr marL="0" indent="0">
              <a:lnSpc>
                <a:spcPct val="120000"/>
              </a:lnSpc>
              <a:buNone/>
            </a:pPr>
            <a:r>
              <a:rPr lang="ja-JP" sz="1500" dirty="0">
                <a:solidFill>
                  <a:srgbClr val="33384A"/>
                </a:solidFill>
                <a:latin typeface="Noto Sans CJK JP" pitchFamily="34" charset="0"/>
                <a:ea typeface="Noto Sans CJK JP"/>
                <a:cs typeface="Noto Sans CJK JP" pitchFamily="34" charset="-120"/>
              </a:rPr>
              <a:t>・各段の商が巡回群であることは、「各段が正規部分群で、商がアーベル群(さらに細かく刻めば各段の商を巡回群にできる)」と同じ意味。</a:t>
            </a:r>
            <a:endParaRPr lang="en-US" sz="1500" dirty="0"/>
          </a:p>
          <a:p>
            <a:pPr marL="0" indent="0">
              <a:lnSpc>
                <a:spcPct val="120000"/>
              </a:lnSpc>
              <a:buNone/>
            </a:pPr>
            <a:r>
              <a:rPr lang="ja-JP" sz="1500" dirty="0">
                <a:solidFill>
                  <a:srgbClr val="33384A"/>
                </a:solidFill>
                <a:latin typeface="Noto Sans CJK JP" pitchFamily="34" charset="0"/>
                <a:ea typeface="Noto Sans CJK JP"/>
                <a:cs typeface="Noto Sans CJK JP" pitchFamily="34" charset="-120"/>
              </a:rPr>
              <a:t>・可解群の定義:この形(アーベル群の商をもつ縮小鎖)で {e} まで縮小できる群のこと。</a:t>
            </a:r>
            <a:endParaRPr lang="en-US" sz="1500" dirty="0"/>
          </a:p>
        </p:txBody>
      </p:sp>
      <p:sp>
        <p:nvSpPr>
          <p:cNvPr id="20" name="Text 18"/>
          <p:cNvSpPr/>
          <p:nvPr/>
        </p:nvSpPr>
        <p:spPr>
          <a:xfrm>
            <a:off x="11338560" y="6355080"/>
            <a:ext cx="457200" cy="274320"/>
          </a:xfrm>
          <a:prstGeom prst="rect">
            <a:avLst/>
          </a:prstGeom>
          <a:noFill/>
          <a:ln/>
        </p:spPr>
        <p:txBody>
          <a:bodyPr wrap="square" lIns="0" tIns="0" rIns="0" bIns="0" rtlCol="0" anchor="ctr"/>
          <a:lstStyle/>
          <a:p>
            <a:pPr marL="0" indent="0" algn="r">
              <a:buNone/>
            </a:pPr>
            <a:r>
              <a:rPr lang="ja-JP" sz="1100" dirty="0">
                <a:solidFill>
                  <a:srgbClr val="6B7180"/>
                </a:solidFill>
                <a:latin typeface="Noto Sans CJK JP" pitchFamily="34" charset="0"/>
                <a:ea typeface="Noto Sans CJK JP"/>
                <a:cs typeface="Noto Sans CJK JP" pitchFamily="34" charset="-120"/>
              </a:rPr>
              <a:t>5</a:t>
            </a:r>
            <a:endParaRPr lang="en-US" sz="1100" dirty="0"/>
          </a:p>
        </p:txBody>
      </p:sp>
      <p:sp>
        <p:nvSpPr>
          <p:cNvPr id="21" name="Text 19"/>
          <p:cNvSpPr/>
          <p:nvPr/>
        </p:nvSpPr>
        <p:spPr>
          <a:xfrm>
            <a:off x="457200" y="6355080"/>
            <a:ext cx="4572000" cy="274320"/>
          </a:xfrm>
          <a:prstGeom prst="rect">
            <a:avLst/>
          </a:prstGeom>
          <a:noFill/>
          <a:ln/>
        </p:spPr>
        <p:txBody>
          <a:bodyPr wrap="square" lIns="0" tIns="0" rIns="0" bIns="0" rtlCol="0" anchor="ctr"/>
          <a:lstStyle/>
          <a:p>
            <a:pPr marL="0" indent="0" algn="l">
              <a:buNone/>
            </a:pPr>
            <a:r>
              <a:rPr lang="ja-JP" sz="1000" dirty="0">
                <a:solidFill>
                  <a:srgbClr val="6B7180"/>
                </a:solidFill>
                <a:latin typeface="Noto Sans CJK JP" pitchFamily="34" charset="0"/>
                <a:ea typeface="Noto Sans CJK JP"/>
                <a:cs typeface="Noto Sans CJK JP" pitchFamily="34" charset="-120"/>
              </a:rPr>
              <a:t>5garashi.com 設計事務所</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146304" cy="146304"/>
          </a:xfrm>
          <a:prstGeom prst="ellipse">
            <a:avLst/>
          </a:prstGeom>
          <a:solidFill>
            <a:srgbClr val="3457A6"/>
          </a:solidFill>
          <a:ln/>
        </p:spPr>
        <p:txBody>
          <a:bodyPr/>
          <a:lstStyle/>
          <a:p>
            <a:endParaRPr/>
          </a:p>
        </p:txBody>
      </p:sp>
      <p:sp>
        <p:nvSpPr>
          <p:cNvPr id="3" name="Text 1"/>
          <p:cNvSpPr/>
          <p:nvPr/>
        </p:nvSpPr>
        <p:spPr>
          <a:xfrm>
            <a:off x="896112" y="438912"/>
            <a:ext cx="5486400" cy="365760"/>
          </a:xfrm>
          <a:prstGeom prst="rect">
            <a:avLst/>
          </a:prstGeom>
          <a:noFill/>
          <a:ln/>
        </p:spPr>
        <p:txBody>
          <a:bodyPr wrap="square" lIns="0" tIns="0" rIns="0" bIns="0" rtlCol="0" anchor="ctr"/>
          <a:lstStyle/>
          <a:p>
            <a:pPr marL="0" indent="0">
              <a:buNone/>
            </a:pPr>
            <a:r>
              <a:rPr lang="ja-JP" sz="1600" b="1" dirty="0">
                <a:solidFill>
                  <a:srgbClr val="3457A6"/>
                </a:solidFill>
                <a:latin typeface="Noto Sans CJK JP" pitchFamily="34" charset="0"/>
                <a:ea typeface="Noto Sans CJK JP"/>
                <a:cs typeface="Noto Sans CJK JP" pitchFamily="34" charset="-120"/>
              </a:rPr>
              <a:t>n ≤ 4</a:t>
            </a:r>
            <a:endParaRPr lang="en-US" sz="1600" dirty="0"/>
          </a:p>
        </p:txBody>
      </p:sp>
      <p:sp>
        <p:nvSpPr>
          <p:cNvPr id="4" name="Text 2"/>
          <p:cNvSpPr/>
          <p:nvPr/>
        </p:nvSpPr>
        <p:spPr>
          <a:xfrm>
            <a:off x="640080" y="868680"/>
            <a:ext cx="10972800" cy="731520"/>
          </a:xfrm>
          <a:prstGeom prst="rect">
            <a:avLst/>
          </a:prstGeom>
          <a:noFill/>
          <a:ln/>
        </p:spPr>
        <p:txBody>
          <a:bodyPr wrap="square" lIns="0" tIns="0" rIns="0" bIns="0" rtlCol="0" anchor="ctr"/>
          <a:lstStyle/>
          <a:p>
            <a:pPr marL="0" indent="0">
              <a:buNone/>
            </a:pPr>
            <a:r>
              <a:rPr lang="ja-JP" sz="3200" b="1" dirty="0">
                <a:solidFill>
                  <a:srgbClr val="1A2238"/>
                </a:solidFill>
                <a:latin typeface="Noto Sans CJK JP" pitchFamily="34" charset="0"/>
                <a:ea typeface="Noto Sans CJK JP"/>
                <a:cs typeface="Noto Sans CJK JP" pitchFamily="34" charset="-120"/>
              </a:rPr>
              <a:t>4次までは ── 縮小鎖が最後まで通る</a:t>
            </a:r>
            <a:endParaRPr lang="en-US" sz="3200" dirty="0"/>
          </a:p>
        </p:txBody>
      </p:sp>
      <p:sp>
        <p:nvSpPr>
          <p:cNvPr id="5" name="Text 3"/>
          <p:cNvSpPr/>
          <p:nvPr/>
        </p:nvSpPr>
        <p:spPr>
          <a:xfrm>
            <a:off x="640080" y="1783080"/>
            <a:ext cx="10789920" cy="548640"/>
          </a:xfrm>
          <a:prstGeom prst="rect">
            <a:avLst/>
          </a:prstGeom>
          <a:noFill/>
          <a:ln/>
        </p:spPr>
        <p:txBody>
          <a:bodyPr wrap="square" lIns="0" tIns="0" rIns="0" bIns="0" rtlCol="0" anchor="ctr"/>
          <a:lstStyle/>
          <a:p>
            <a:pPr marL="0" indent="0">
              <a:lnSpc>
                <a:spcPct val="115000"/>
              </a:lnSpc>
              <a:buNone/>
            </a:pPr>
            <a:r>
              <a:rPr lang="ja-JP" sz="1900" dirty="0">
                <a:solidFill>
                  <a:srgbClr val="33384A"/>
                </a:solidFill>
                <a:latin typeface="Noto Sans CJK JP" pitchFamily="34" charset="0"/>
                <a:ea typeface="Noto Sans CJK JP"/>
                <a:cs typeface="Noto Sans CJK JP" pitchFamily="34" charset="-120"/>
              </a:rPr>
              <a:t>S₄ は、各段の商がすべて巡回群になる縮小鎖をもつ。だから2・3・4次方程式には解の公式が存在する。</a:t>
            </a:r>
            <a:endParaRPr lang="en-US" sz="1900" dirty="0"/>
          </a:p>
        </p:txBody>
      </p:sp>
      <p:sp>
        <p:nvSpPr>
          <p:cNvPr id="7" name="Text 4"/>
          <p:cNvSpPr/>
          <p:nvPr/>
        </p:nvSpPr>
        <p:spPr>
          <a:xfrm>
            <a:off x="11338560" y="6355080"/>
            <a:ext cx="457200" cy="274320"/>
          </a:xfrm>
          <a:prstGeom prst="rect">
            <a:avLst/>
          </a:prstGeom>
          <a:noFill/>
          <a:ln/>
        </p:spPr>
        <p:txBody>
          <a:bodyPr wrap="square" lIns="0" tIns="0" rIns="0" bIns="0" rtlCol="0" anchor="ctr"/>
          <a:lstStyle/>
          <a:p>
            <a:pPr marL="0" indent="0" algn="r">
              <a:buNone/>
            </a:pPr>
            <a:r>
              <a:rPr lang="ja-JP" sz="1100" dirty="0">
                <a:solidFill>
                  <a:srgbClr val="6B7180"/>
                </a:solidFill>
                <a:latin typeface="Noto Sans CJK JP" pitchFamily="34" charset="0"/>
                <a:ea typeface="Noto Sans CJK JP"/>
                <a:cs typeface="Noto Sans CJK JP" pitchFamily="34" charset="-120"/>
              </a:rPr>
              <a:t>6</a:t>
            </a:r>
            <a:endParaRPr lang="en-US" sz="1100" dirty="0"/>
          </a:p>
        </p:txBody>
      </p:sp>
      <p:sp>
        <p:nvSpPr>
          <p:cNvPr id="8" name="Text 5"/>
          <p:cNvSpPr/>
          <p:nvPr/>
        </p:nvSpPr>
        <p:spPr>
          <a:xfrm>
            <a:off x="457200" y="6355080"/>
            <a:ext cx="4572000" cy="274320"/>
          </a:xfrm>
          <a:prstGeom prst="rect">
            <a:avLst/>
          </a:prstGeom>
          <a:noFill/>
          <a:ln/>
        </p:spPr>
        <p:txBody>
          <a:bodyPr wrap="square" lIns="0" tIns="0" rIns="0" bIns="0" rtlCol="0" anchor="ctr"/>
          <a:lstStyle/>
          <a:p>
            <a:pPr marL="0" indent="0" algn="l">
              <a:buNone/>
            </a:pPr>
            <a:r>
              <a:rPr lang="ja-JP" sz="1000" dirty="0">
                <a:solidFill>
                  <a:srgbClr val="6B7180"/>
                </a:solidFill>
                <a:latin typeface="Noto Sans CJK JP" pitchFamily="34" charset="0"/>
                <a:ea typeface="Noto Sans CJK JP"/>
                <a:cs typeface="Noto Sans CJK JP" pitchFamily="34" charset="-120"/>
              </a:rPr>
              <a:t>5garashi.com 設計事務所</a:t>
            </a:r>
            <a:endParaRPr lang="en-US" sz="1000" dirty="0"/>
          </a:p>
        </p:txBody>
      </p:sp>
      <p:pic>
        <p:nvPicPr>
          <p:cNvPr id="9" name="Picture 8" descr="fig_chain.png"/>
          <p:cNvPicPr>
            <a:picLocks noChangeAspect="1"/>
          </p:cNvPicPr>
          <p:nvPr/>
        </p:nvPicPr>
        <p:blipFill>
          <a:blip r:embed="rId3"/>
          <a:stretch>
            <a:fillRect/>
          </a:stretch>
        </p:blipFill>
        <p:spPr>
          <a:xfrm>
            <a:off x="1280160" y="2468880"/>
            <a:ext cx="9601200" cy="403250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146304" cy="146304"/>
          </a:xfrm>
          <a:prstGeom prst="ellipse">
            <a:avLst/>
          </a:prstGeom>
          <a:solidFill>
            <a:srgbClr val="D8593A"/>
          </a:solidFill>
          <a:ln/>
        </p:spPr>
        <p:txBody>
          <a:bodyPr/>
          <a:lstStyle/>
          <a:p>
            <a:endParaRPr/>
          </a:p>
        </p:txBody>
      </p:sp>
      <p:sp>
        <p:nvSpPr>
          <p:cNvPr id="3" name="Text 1"/>
          <p:cNvSpPr/>
          <p:nvPr/>
        </p:nvSpPr>
        <p:spPr>
          <a:xfrm>
            <a:off x="896112" y="438912"/>
            <a:ext cx="5486400" cy="365760"/>
          </a:xfrm>
          <a:prstGeom prst="rect">
            <a:avLst/>
          </a:prstGeom>
          <a:noFill/>
          <a:ln/>
        </p:spPr>
        <p:txBody>
          <a:bodyPr wrap="square" lIns="0" tIns="0" rIns="0" bIns="0" rtlCol="0" anchor="ctr"/>
          <a:lstStyle/>
          <a:p>
            <a:pPr marL="0" indent="0">
              <a:buNone/>
            </a:pPr>
            <a:r>
              <a:rPr lang="ja-JP" sz="1600" b="1" dirty="0">
                <a:solidFill>
                  <a:srgbClr val="D8593A"/>
                </a:solidFill>
                <a:latin typeface="Noto Sans CJK JP" pitchFamily="34" charset="0"/>
                <a:ea typeface="Noto Sans CJK JP"/>
                <a:cs typeface="Noto Sans CJK JP" pitchFamily="34" charset="-120"/>
              </a:rPr>
              <a:t>n ≥ 5</a:t>
            </a:r>
            <a:endParaRPr lang="en-US" sz="1600" dirty="0"/>
          </a:p>
        </p:txBody>
      </p:sp>
      <p:sp>
        <p:nvSpPr>
          <p:cNvPr id="4" name="Text 2"/>
          <p:cNvSpPr/>
          <p:nvPr/>
        </p:nvSpPr>
        <p:spPr>
          <a:xfrm>
            <a:off x="640080" y="868680"/>
            <a:ext cx="10972800" cy="731520"/>
          </a:xfrm>
          <a:prstGeom prst="rect">
            <a:avLst/>
          </a:prstGeom>
          <a:noFill/>
          <a:ln/>
        </p:spPr>
        <p:txBody>
          <a:bodyPr wrap="square" lIns="0" tIns="0" rIns="0" bIns="0" rtlCol="0" anchor="ctr"/>
          <a:lstStyle/>
          <a:p>
            <a:pPr marL="0" indent="0">
              <a:buNone/>
            </a:pPr>
            <a:r>
              <a:rPr lang="ja-JP" sz="3200" b="1" dirty="0">
                <a:solidFill>
                  <a:srgbClr val="1A2238"/>
                </a:solidFill>
                <a:latin typeface="Noto Sans CJK JP" pitchFamily="34" charset="0"/>
                <a:ea typeface="Noto Sans CJK JP"/>
                <a:cs typeface="Noto Sans CJK JP" pitchFamily="34" charset="-120"/>
              </a:rPr>
              <a:t>5次以上では ── A₅ で行き止まり</a:t>
            </a:r>
            <a:endParaRPr lang="en-US" sz="3200" dirty="0"/>
          </a:p>
        </p:txBody>
      </p:sp>
      <p:sp>
        <p:nvSpPr>
          <p:cNvPr id="5" name="Text 3"/>
          <p:cNvSpPr/>
          <p:nvPr/>
        </p:nvSpPr>
        <p:spPr>
          <a:xfrm>
            <a:off x="640080" y="1737360"/>
            <a:ext cx="10789920" cy="822960"/>
          </a:xfrm>
          <a:prstGeom prst="rect">
            <a:avLst/>
          </a:prstGeom>
          <a:noFill/>
          <a:ln/>
        </p:spPr>
        <p:txBody>
          <a:bodyPr wrap="square" lIns="0" tIns="0" rIns="0" bIns="0" rtlCol="0" anchor="ctr"/>
          <a:lstStyle/>
          <a:p>
            <a:pPr marL="0" indent="0">
              <a:lnSpc>
                <a:spcPct val="118000"/>
              </a:lnSpc>
              <a:buNone/>
            </a:pPr>
            <a:r>
              <a:rPr lang="ja-JP" sz="1600">
                <a:solidFill>
                  <a:srgbClr val="1A2238"/>
                </a:solidFill>
                <a:latin typeface="Noto Sans CJK JP"/>
                <a:ea typeface="Noto Sans CJK JP"/>
              </a:rPr>
              <a:t>A₅ は「単純群」、すなわち A₅ を一段縮小する(割って商をとる)のに使える部分群が {e} と A₅ 自身しかない。</a:t>
            </a:r>
            <a:endParaRPr lang="en-US" sz="1800" dirty="0"/>
          </a:p>
          <a:p>
            <a:pPr>
              <a:lnSpc>
                <a:spcPct val="118000"/>
              </a:lnSpc>
            </a:pPr>
            <a:r>
              <a:rPr lang="ja-JP" sz="1500">
                <a:solidFill>
                  <a:srgbClr val="5A6072"/>
                </a:solidFill>
                <a:latin typeface="Noto Sans CJK JP"/>
                <a:ea typeface="Noto Sans CJK JP"/>
              </a:rPr>
              <a:t>A₅ には他の部分群もあるが、それらで割っても商が群にならず、縮小には使えない。</a:t>
            </a:r>
          </a:p>
        </p:txBody>
      </p:sp>
      <p:pic>
        <p:nvPicPr>
          <p:cNvPr id="6" name="Image 0" descr="/home/claude/fig_break.png"/>
          <p:cNvPicPr>
            <a:picLocks noChangeAspect="1"/>
          </p:cNvPicPr>
          <p:nvPr/>
        </p:nvPicPr>
        <p:blipFill>
          <a:blip r:embed="rId3"/>
          <a:stretch>
            <a:fillRect/>
          </a:stretch>
        </p:blipFill>
        <p:spPr>
          <a:xfrm>
            <a:off x="1417320" y="2331720"/>
            <a:ext cx="9326880" cy="4103827"/>
          </a:xfrm>
          <a:prstGeom prst="rect">
            <a:avLst/>
          </a:prstGeom>
        </p:spPr>
      </p:pic>
      <p:sp>
        <p:nvSpPr>
          <p:cNvPr id="7" name="Text 4"/>
          <p:cNvSpPr/>
          <p:nvPr/>
        </p:nvSpPr>
        <p:spPr>
          <a:xfrm>
            <a:off x="11338560" y="6355080"/>
            <a:ext cx="457200" cy="274320"/>
          </a:xfrm>
          <a:prstGeom prst="rect">
            <a:avLst/>
          </a:prstGeom>
          <a:noFill/>
          <a:ln/>
        </p:spPr>
        <p:txBody>
          <a:bodyPr wrap="square" lIns="0" tIns="0" rIns="0" bIns="0" rtlCol="0" anchor="ctr"/>
          <a:lstStyle/>
          <a:p>
            <a:pPr marL="0" indent="0" algn="r">
              <a:buNone/>
            </a:pPr>
            <a:r>
              <a:rPr lang="ja-JP" sz="1100" dirty="0">
                <a:solidFill>
                  <a:srgbClr val="6B7180"/>
                </a:solidFill>
                <a:latin typeface="Noto Sans CJK JP" pitchFamily="34" charset="0"/>
                <a:ea typeface="Noto Sans CJK JP"/>
                <a:cs typeface="Noto Sans CJK JP" pitchFamily="34" charset="-120"/>
              </a:rPr>
              <a:t>7</a:t>
            </a:r>
            <a:endParaRPr lang="en-US" sz="1100" dirty="0"/>
          </a:p>
        </p:txBody>
      </p:sp>
      <p:sp>
        <p:nvSpPr>
          <p:cNvPr id="8" name="Text 5"/>
          <p:cNvSpPr/>
          <p:nvPr/>
        </p:nvSpPr>
        <p:spPr>
          <a:xfrm>
            <a:off x="457200" y="6355080"/>
            <a:ext cx="4572000" cy="274320"/>
          </a:xfrm>
          <a:prstGeom prst="rect">
            <a:avLst/>
          </a:prstGeom>
          <a:noFill/>
          <a:ln/>
        </p:spPr>
        <p:txBody>
          <a:bodyPr wrap="square" lIns="0" tIns="0" rIns="0" bIns="0" rtlCol="0" anchor="ctr"/>
          <a:lstStyle/>
          <a:p>
            <a:pPr marL="0" indent="0" algn="l">
              <a:buNone/>
            </a:pPr>
            <a:r>
              <a:rPr lang="ja-JP" sz="1000" dirty="0">
                <a:solidFill>
                  <a:srgbClr val="6B7180"/>
                </a:solidFill>
                <a:latin typeface="Noto Sans CJK JP" pitchFamily="34" charset="0"/>
                <a:ea typeface="Noto Sans CJK JP"/>
                <a:cs typeface="Noto Sans CJK JP" pitchFamily="34" charset="-120"/>
              </a:rPr>
              <a:t>5garashi.com 設計事務所</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72800" cy="731520"/>
          </a:xfrm>
          <a:prstGeom prst="rect">
            <a:avLst/>
          </a:prstGeom>
          <a:noFill/>
          <a:ln/>
        </p:spPr>
        <p:txBody>
          <a:bodyPr wrap="square" lIns="0" tIns="0" rIns="0" bIns="0" rtlCol="0" anchor="ctr"/>
          <a:lstStyle/>
          <a:p>
            <a:pPr marL="0" indent="0">
              <a:buNone/>
            </a:pPr>
            <a:r>
              <a:rPr lang="ja-JP" sz="3400" b="1" dirty="0">
                <a:solidFill>
                  <a:srgbClr val="1A2238"/>
                </a:solidFill>
                <a:latin typeface="Noto Sans CJK JP" pitchFamily="34" charset="0"/>
                <a:ea typeface="Noto Sans CJK JP"/>
                <a:cs typeface="Noto Sans CJK JP" pitchFamily="34" charset="-120"/>
              </a:rPr>
              <a:t>なぜ A₅ で止まるのか</a:t>
            </a:r>
            <a:endParaRPr lang="en-US" sz="3400" dirty="0"/>
          </a:p>
        </p:txBody>
      </p:sp>
      <p:sp>
        <p:nvSpPr>
          <p:cNvPr id="3" name="Shape 1"/>
          <p:cNvSpPr/>
          <p:nvPr/>
        </p:nvSpPr>
        <p:spPr>
          <a:xfrm>
            <a:off x="640080" y="1417320"/>
            <a:ext cx="5212080" cy="4389120"/>
          </a:xfrm>
          <a:prstGeom prst="roundRect">
            <a:avLst>
              <a:gd name="adj" fmla="val 2500"/>
            </a:avLst>
          </a:prstGeom>
          <a:solidFill>
            <a:srgbClr val="F4F6FA"/>
          </a:solidFill>
          <a:ln/>
        </p:spPr>
        <p:txBody>
          <a:bodyPr/>
          <a:lstStyle/>
          <a:p>
            <a:endParaRPr/>
          </a:p>
        </p:txBody>
      </p:sp>
      <p:sp>
        <p:nvSpPr>
          <p:cNvPr id="4" name="Text 2"/>
          <p:cNvSpPr/>
          <p:nvPr/>
        </p:nvSpPr>
        <p:spPr>
          <a:xfrm>
            <a:off x="914400" y="1645920"/>
            <a:ext cx="4663440" cy="457200"/>
          </a:xfrm>
          <a:prstGeom prst="rect">
            <a:avLst/>
          </a:prstGeom>
          <a:noFill/>
          <a:ln/>
        </p:spPr>
        <p:txBody>
          <a:bodyPr wrap="square" lIns="0" tIns="0" rIns="0" bIns="0" rtlCol="0" anchor="ctr"/>
          <a:lstStyle/>
          <a:p>
            <a:pPr marL="0" indent="0">
              <a:buNone/>
            </a:pPr>
            <a:r>
              <a:rPr lang="ja-JP" sz="2000" b="1" dirty="0">
                <a:solidFill>
                  <a:srgbClr val="3457A6"/>
                </a:solidFill>
                <a:latin typeface="Noto Sans CJK JP" pitchFamily="34" charset="0"/>
                <a:ea typeface="Noto Sans CJK JP"/>
                <a:cs typeface="Noto Sans CJK JP" pitchFamily="34" charset="-120"/>
              </a:rPr>
              <a:t>イメージ:割れない数</a:t>
            </a:r>
            <a:endParaRPr lang="en-US" sz="2000" dirty="0"/>
          </a:p>
        </p:txBody>
      </p:sp>
      <p:sp>
        <p:nvSpPr>
          <p:cNvPr id="5" name="Text 3"/>
          <p:cNvSpPr/>
          <p:nvPr/>
        </p:nvSpPr>
        <p:spPr>
          <a:xfrm>
            <a:off x="914400" y="2194560"/>
            <a:ext cx="4663440" cy="3383280"/>
          </a:xfrm>
          <a:prstGeom prst="rect">
            <a:avLst/>
          </a:prstGeom>
          <a:noFill/>
          <a:ln/>
        </p:spPr>
        <p:txBody>
          <a:bodyPr wrap="square" lIns="0" tIns="0" rIns="0" bIns="0" rtlCol="0" anchor="t"/>
          <a:lstStyle/>
          <a:p>
            <a:pPr marL="0" indent="0">
              <a:lnSpc>
                <a:spcPct val="115000"/>
              </a:lnSpc>
              <a:buNone/>
            </a:pPr>
            <a:r>
              <a:rPr lang="ja-JP" sz="1800" b="1" dirty="0">
                <a:solidFill>
                  <a:srgbClr val="1A2238"/>
                </a:solidFill>
                <a:latin typeface="Noto Sans CJK JP" pitchFamily="34" charset="0"/>
                <a:ea typeface="Noto Sans CJK JP"/>
                <a:cs typeface="Noto Sans CJK JP" pitchFamily="34" charset="-120"/>
              </a:rPr>
              <a:t>素数</a:t>
            </a:r>
            <a:r>
              <a:rPr lang="ja-JP" sz="1800" dirty="0">
                <a:solidFill>
                  <a:srgbClr val="33384A"/>
                </a:solidFill>
                <a:latin typeface="Noto Sans CJK JP" pitchFamily="34" charset="0"/>
                <a:ea typeface="Noto Sans CJK JP"/>
                <a:cs typeface="Noto Sans CJK JP" pitchFamily="34" charset="-120"/>
              </a:rPr>
              <a:t>は 1 とそれ自身でしか割れない。</a:t>
            </a:r>
            <a:endParaRPr lang="en-US" sz="1800" dirty="0"/>
          </a:p>
          <a:p>
            <a:pPr marL="0" indent="0">
              <a:lnSpc>
                <a:spcPct val="115000"/>
              </a:lnSpc>
              <a:buNone/>
            </a:pPr>
            <a:endParaRPr lang="en-US" sz="1800" dirty="0"/>
          </a:p>
          <a:p>
            <a:pPr marL="0" indent="0">
              <a:lnSpc>
                <a:spcPct val="115000"/>
              </a:lnSpc>
              <a:buNone/>
            </a:pPr>
            <a:r>
              <a:rPr lang="ja-JP" sz="1800" b="1" dirty="0">
                <a:solidFill>
                  <a:srgbClr val="D8593A"/>
                </a:solidFill>
                <a:latin typeface="Noto Sans CJK JP" pitchFamily="34" charset="0"/>
                <a:ea typeface="Noto Sans CJK JP"/>
                <a:cs typeface="Noto Sans CJK JP" pitchFamily="34" charset="-120"/>
              </a:rPr>
              <a:t>単純群</a:t>
            </a:r>
            <a:endParaRPr lang="en-US" sz="1800" dirty="0"/>
          </a:p>
          <a:p>
            <a:pPr marL="0" indent="0">
              <a:lnSpc>
                <a:spcPct val="115000"/>
              </a:lnSpc>
              <a:buNone/>
            </a:pPr>
            <a:r>
              <a:rPr lang="ja-JP" sz="1800" dirty="0">
                <a:solidFill>
                  <a:srgbClr val="33384A"/>
                </a:solidFill>
                <a:latin typeface="Noto Sans CJK JP" pitchFamily="34" charset="0"/>
                <a:ea typeface="Noto Sans CJK JP"/>
                <a:cs typeface="Noto Sans CJK JP" pitchFamily="34" charset="-120"/>
              </a:rPr>
              <a:t> も同じで、{e} と自分自身でしか「割れない」最小単位。</a:t>
            </a:r>
            <a:endParaRPr lang="en-US" sz="1800" dirty="0"/>
          </a:p>
          <a:p>
            <a:pPr marL="0" indent="0">
              <a:lnSpc>
                <a:spcPct val="115000"/>
              </a:lnSpc>
              <a:buNone/>
            </a:pPr>
            <a:endParaRPr lang="en-US" sz="1800" dirty="0"/>
          </a:p>
          <a:p>
            <a:pPr marL="0" indent="0">
              <a:lnSpc>
                <a:spcPct val="115000"/>
              </a:lnSpc>
              <a:buNone/>
            </a:pPr>
            <a:r>
              <a:rPr lang="ja-JP" sz="1800" dirty="0">
                <a:solidFill>
                  <a:srgbClr val="33384A"/>
                </a:solidFill>
                <a:latin typeface="Noto Sans CJK JP" pitchFamily="34" charset="0"/>
                <a:ea typeface="Noto Sans CJK JP"/>
                <a:cs typeface="Noto Sans CJK JP" pitchFamily="34" charset="-120"/>
              </a:rPr>
              <a:t>A₅(n≥5)は</a:t>
            </a:r>
            <a:endParaRPr lang="en-US" sz="1800" dirty="0"/>
          </a:p>
          <a:p>
            <a:pPr marL="0" indent="0">
              <a:lnSpc>
                <a:spcPct val="115000"/>
              </a:lnSpc>
              <a:buNone/>
            </a:pPr>
            <a:r>
              <a:rPr lang="ja-JP" sz="1800" b="1" dirty="0">
                <a:solidFill>
                  <a:srgbClr val="D8593A"/>
                </a:solidFill>
                <a:latin typeface="Noto Sans CJK JP" pitchFamily="34" charset="0"/>
                <a:ea typeface="Noto Sans CJK JP"/>
                <a:cs typeface="Noto Sans CJK JP" pitchFamily="34" charset="-120"/>
              </a:rPr>
              <a:t>「割れない塊」なのに巡回群ですらない</a:t>
            </a:r>
            <a:r>
              <a:rPr lang="ja-JP" sz="1800" dirty="0">
                <a:solidFill>
                  <a:srgbClr val="33384A"/>
                </a:solidFill>
                <a:latin typeface="Noto Sans CJK JP" pitchFamily="34" charset="0"/>
                <a:ea typeface="Noto Sans CJK JP"/>
                <a:cs typeface="Noto Sans CJK JP" pitchFamily="34" charset="-120"/>
              </a:rPr>
              <a:t>。だから巡回の段に分けることが原理的にできない。</a:t>
            </a:r>
            <a:endParaRPr lang="en-US" sz="1800" dirty="0"/>
          </a:p>
        </p:txBody>
      </p:sp>
      <p:sp>
        <p:nvSpPr>
          <p:cNvPr id="6" name="Shape 4"/>
          <p:cNvSpPr/>
          <p:nvPr/>
        </p:nvSpPr>
        <p:spPr>
          <a:xfrm>
            <a:off x="6309360" y="1417320"/>
            <a:ext cx="5212080" cy="4389120"/>
          </a:xfrm>
          <a:prstGeom prst="roundRect">
            <a:avLst>
              <a:gd name="adj" fmla="val 2500"/>
            </a:avLst>
          </a:prstGeom>
          <a:solidFill>
            <a:srgbClr val="FFFFFF"/>
          </a:solidFill>
          <a:ln w="12700">
            <a:solidFill>
              <a:srgbClr val="D5DAE6"/>
            </a:solidFill>
            <a:prstDash val="solid"/>
          </a:ln>
        </p:spPr>
        <p:txBody>
          <a:bodyPr/>
          <a:lstStyle/>
          <a:p>
            <a:endParaRPr/>
          </a:p>
        </p:txBody>
      </p:sp>
      <p:sp>
        <p:nvSpPr>
          <p:cNvPr id="7" name="Text 5"/>
          <p:cNvSpPr/>
          <p:nvPr/>
        </p:nvSpPr>
        <p:spPr>
          <a:xfrm>
            <a:off x="6583680" y="1645920"/>
            <a:ext cx="4663440" cy="457200"/>
          </a:xfrm>
          <a:prstGeom prst="rect">
            <a:avLst/>
          </a:prstGeom>
          <a:noFill/>
          <a:ln/>
        </p:spPr>
        <p:txBody>
          <a:bodyPr wrap="square" lIns="0" tIns="0" rIns="0" bIns="0" rtlCol="0" anchor="ctr"/>
          <a:lstStyle/>
          <a:p>
            <a:pPr marL="0" indent="0">
              <a:buNone/>
            </a:pPr>
            <a:r>
              <a:rPr lang="ja-JP" sz="2000" b="1" dirty="0">
                <a:solidFill>
                  <a:srgbClr val="3457A6"/>
                </a:solidFill>
                <a:latin typeface="Noto Sans CJK JP" pitchFamily="34" charset="0"/>
                <a:ea typeface="Noto Sans CJK JP"/>
                <a:cs typeface="Noto Sans CJK JP" pitchFamily="34" charset="-120"/>
              </a:rPr>
              <a:t>A₅ を縮小する2つの選択肢</a:t>
            </a:r>
            <a:endParaRPr lang="en-US" sz="2000" dirty="0"/>
          </a:p>
        </p:txBody>
      </p:sp>
      <p:sp>
        <p:nvSpPr>
          <p:cNvPr id="8" name="Shape 6"/>
          <p:cNvSpPr/>
          <p:nvPr/>
        </p:nvSpPr>
        <p:spPr>
          <a:xfrm>
            <a:off x="6583680" y="2880360"/>
            <a:ext cx="4663440" cy="960120"/>
          </a:xfrm>
          <a:prstGeom prst="roundRect">
            <a:avLst>
              <a:gd name="adj" fmla="val 5000"/>
            </a:avLst>
          </a:prstGeom>
          <a:solidFill>
            <a:srgbClr val="FBEEEA"/>
          </a:solidFill>
          <a:ln/>
        </p:spPr>
        <p:txBody>
          <a:bodyPr/>
          <a:lstStyle/>
          <a:p>
            <a:endParaRPr/>
          </a:p>
        </p:txBody>
      </p:sp>
      <p:sp>
        <p:nvSpPr>
          <p:cNvPr id="9" name="Text 7"/>
          <p:cNvSpPr/>
          <p:nvPr/>
        </p:nvSpPr>
        <p:spPr>
          <a:xfrm>
            <a:off x="6812280" y="2971800"/>
            <a:ext cx="4297680" cy="457200"/>
          </a:xfrm>
          <a:prstGeom prst="rect">
            <a:avLst/>
          </a:prstGeom>
          <a:noFill/>
          <a:ln/>
        </p:spPr>
        <p:txBody>
          <a:bodyPr wrap="square" lIns="45720" tIns="18288" rIns="45720" bIns="18288" rtlCol="0" anchor="t"/>
          <a:lstStyle/>
          <a:p>
            <a:pPr marL="0" indent="0">
              <a:buNone/>
            </a:pPr>
            <a:r>
              <a:rPr lang="ja-JP" sz="1500" b="0">
                <a:solidFill>
                  <a:srgbClr val="1A2238"/>
                </a:solidFill>
                <a:latin typeface="Noto Sans CJK JP"/>
                <a:ea typeface="Noto Sans CJK JP"/>
              </a:rPr>
              <a:t>縮小後を {e} とすると、商は </a:t>
            </a:r>
            <a:r>
              <a:rPr lang="ja-JP" sz="1500" b="1">
                <a:solidFill>
                  <a:srgbClr val="D8593A"/>
                </a:solidFill>
                <a:latin typeface="Noto Sans CJK JP"/>
                <a:ea typeface="Noto Sans CJK JP"/>
              </a:rPr>
              <a:t>A₅/{e} = A₅</a:t>
            </a:r>
            <a:endParaRPr lang="en-US" sz="1800" dirty="0"/>
          </a:p>
        </p:txBody>
      </p:sp>
      <p:sp>
        <p:nvSpPr>
          <p:cNvPr id="10" name="Text 8"/>
          <p:cNvSpPr/>
          <p:nvPr/>
        </p:nvSpPr>
        <p:spPr>
          <a:xfrm>
            <a:off x="6812280" y="3401568"/>
            <a:ext cx="4206240" cy="384048"/>
          </a:xfrm>
          <a:prstGeom prst="rect">
            <a:avLst/>
          </a:prstGeom>
          <a:noFill/>
          <a:ln/>
        </p:spPr>
        <p:txBody>
          <a:bodyPr wrap="square" lIns="45720" tIns="18288" rIns="45720" bIns="18288" rtlCol="0" anchor="t"/>
          <a:lstStyle/>
          <a:p>
            <a:pPr marL="0" indent="0">
              <a:buNone/>
            </a:pPr>
            <a:r>
              <a:rPr lang="ja-JP" sz="1400" b="0">
                <a:solidFill>
                  <a:srgbClr val="6B7180"/>
                </a:solidFill>
                <a:latin typeface="Noto Sans CJK JP"/>
                <a:ea typeface="Noto Sans CJK JP"/>
              </a:rPr>
              <a:t>しかし A₅ は非可換なので、巡回群ではない。</a:t>
            </a:r>
            <a:endParaRPr lang="en-US" sz="1500" dirty="0"/>
          </a:p>
        </p:txBody>
      </p:sp>
      <p:sp>
        <p:nvSpPr>
          <p:cNvPr id="11" name="Shape 9"/>
          <p:cNvSpPr/>
          <p:nvPr/>
        </p:nvSpPr>
        <p:spPr>
          <a:xfrm>
            <a:off x="6583680" y="4023360"/>
            <a:ext cx="4663440" cy="1325880"/>
          </a:xfrm>
          <a:prstGeom prst="roundRect">
            <a:avLst>
              <a:gd name="adj" fmla="val 5000"/>
            </a:avLst>
          </a:prstGeom>
          <a:solidFill>
            <a:srgbClr val="FBEEEA"/>
          </a:solidFill>
          <a:ln/>
        </p:spPr>
        <p:txBody>
          <a:bodyPr/>
          <a:lstStyle/>
          <a:p>
            <a:endParaRPr/>
          </a:p>
        </p:txBody>
      </p:sp>
      <p:sp>
        <p:nvSpPr>
          <p:cNvPr id="12" name="Text 10"/>
          <p:cNvSpPr/>
          <p:nvPr/>
        </p:nvSpPr>
        <p:spPr>
          <a:xfrm>
            <a:off x="6812280" y="4114800"/>
            <a:ext cx="4297680" cy="457200"/>
          </a:xfrm>
          <a:prstGeom prst="rect">
            <a:avLst/>
          </a:prstGeom>
          <a:noFill/>
          <a:ln/>
        </p:spPr>
        <p:txBody>
          <a:bodyPr wrap="square" lIns="45720" tIns="18288" rIns="45720" bIns="18288" rtlCol="0" anchor="t"/>
          <a:lstStyle/>
          <a:p>
            <a:pPr marL="0" indent="0">
              <a:buNone/>
            </a:pPr>
            <a:r>
              <a:rPr lang="ja-JP" sz="1500" b="0">
                <a:solidFill>
                  <a:srgbClr val="1A2238"/>
                </a:solidFill>
                <a:latin typeface="Noto Sans CJK JP"/>
                <a:ea typeface="Noto Sans CJK JP"/>
              </a:rPr>
              <a:t>縮小後を A₅ 自身とすると、商は </a:t>
            </a:r>
            <a:r>
              <a:rPr lang="ja-JP" sz="1500" b="1">
                <a:solidFill>
                  <a:srgbClr val="D8593A"/>
                </a:solidFill>
                <a:latin typeface="Noto Sans CJK JP"/>
                <a:ea typeface="Noto Sans CJK JP"/>
              </a:rPr>
              <a:t>A₅/A₅ = {e}</a:t>
            </a:r>
            <a:endParaRPr lang="en-US" sz="1800" dirty="0"/>
          </a:p>
        </p:txBody>
      </p:sp>
      <p:sp>
        <p:nvSpPr>
          <p:cNvPr id="13" name="Text 11"/>
          <p:cNvSpPr/>
          <p:nvPr/>
        </p:nvSpPr>
        <p:spPr>
          <a:xfrm>
            <a:off x="6812280" y="4553712"/>
            <a:ext cx="4206240" cy="731520"/>
          </a:xfrm>
          <a:prstGeom prst="rect">
            <a:avLst/>
          </a:prstGeom>
          <a:noFill/>
          <a:ln/>
        </p:spPr>
        <p:txBody>
          <a:bodyPr wrap="square" lIns="45720" tIns="18288" rIns="45720" bIns="18288" rtlCol="0" anchor="t"/>
          <a:lstStyle/>
          <a:p>
            <a:pPr marL="0" indent="0">
              <a:buNone/>
            </a:pPr>
            <a:r>
              <a:rPr lang="ja-JP" sz="1400" b="0">
                <a:solidFill>
                  <a:srgbClr val="6B7180"/>
                </a:solidFill>
                <a:latin typeface="Noto Sans CJK JP"/>
                <a:ea typeface="Noto Sans CJK JP"/>
              </a:rPr>
              <a:t>この商は自明な巡回群だが、A₅ から A₅ へ進むだけで何も縮小していない。</a:t>
            </a:r>
            <a:endParaRPr lang="en-US" sz="1500" dirty="0"/>
          </a:p>
        </p:txBody>
      </p:sp>
      <p:sp>
        <p:nvSpPr>
          <p:cNvPr id="14" name="Text 12"/>
          <p:cNvSpPr/>
          <p:nvPr/>
        </p:nvSpPr>
        <p:spPr>
          <a:xfrm>
            <a:off x="11338560" y="6355080"/>
            <a:ext cx="457200" cy="274320"/>
          </a:xfrm>
          <a:prstGeom prst="rect">
            <a:avLst/>
          </a:prstGeom>
          <a:noFill/>
          <a:ln/>
        </p:spPr>
        <p:txBody>
          <a:bodyPr wrap="square" lIns="0" tIns="0" rIns="0" bIns="0" rtlCol="0" anchor="ctr"/>
          <a:lstStyle/>
          <a:p>
            <a:pPr marL="0" indent="0" algn="r">
              <a:buNone/>
            </a:pPr>
            <a:r>
              <a:rPr lang="ja-JP" sz="1100" dirty="0">
                <a:solidFill>
                  <a:srgbClr val="6B7180"/>
                </a:solidFill>
                <a:latin typeface="Noto Sans CJK JP" pitchFamily="34" charset="0"/>
                <a:ea typeface="Noto Sans CJK JP"/>
                <a:cs typeface="Noto Sans CJK JP" pitchFamily="34" charset="-120"/>
              </a:rPr>
              <a:t>8</a:t>
            </a:r>
            <a:endParaRPr lang="en-US" sz="1100" dirty="0"/>
          </a:p>
        </p:txBody>
      </p:sp>
      <p:sp>
        <p:nvSpPr>
          <p:cNvPr id="15" name="Text 13"/>
          <p:cNvSpPr/>
          <p:nvPr/>
        </p:nvSpPr>
        <p:spPr>
          <a:xfrm>
            <a:off x="457200" y="6355080"/>
            <a:ext cx="4572000" cy="274320"/>
          </a:xfrm>
          <a:prstGeom prst="rect">
            <a:avLst/>
          </a:prstGeom>
          <a:noFill/>
          <a:ln/>
        </p:spPr>
        <p:txBody>
          <a:bodyPr wrap="square" lIns="0" tIns="0" rIns="0" bIns="0" rtlCol="0" anchor="ctr"/>
          <a:lstStyle/>
          <a:p>
            <a:pPr marL="0" indent="0" algn="l">
              <a:buNone/>
            </a:pPr>
            <a:r>
              <a:rPr lang="ja-JP" sz="1000" dirty="0">
                <a:solidFill>
                  <a:srgbClr val="6B7180"/>
                </a:solidFill>
                <a:latin typeface="Noto Sans CJK JP" pitchFamily="34" charset="0"/>
                <a:ea typeface="Noto Sans CJK JP"/>
                <a:cs typeface="Noto Sans CJK JP" pitchFamily="34" charset="-120"/>
              </a:rPr>
              <a:t>5garashi.com 設計事務所</a:t>
            </a:r>
            <a:endParaRPr lang="en-US" sz="1000" dirty="0"/>
          </a:p>
        </p:txBody>
      </p:sp>
      <p:sp>
        <p:nvSpPr>
          <p:cNvPr id="16" name="TextBox 15"/>
          <p:cNvSpPr txBox="1"/>
          <p:nvPr/>
        </p:nvSpPr>
        <p:spPr>
          <a:xfrm>
            <a:off x="6693408" y="2103120"/>
            <a:ext cx="4526280" cy="384048"/>
          </a:xfrm>
          <a:prstGeom prst="rect">
            <a:avLst/>
          </a:prstGeom>
          <a:noFill/>
        </p:spPr>
        <p:txBody>
          <a:bodyPr wrap="square" lIns="45720" tIns="18288" rIns="45720" bIns="18288" anchor="t">
            <a:spAutoFit/>
          </a:bodyPr>
          <a:lstStyle/>
          <a:p>
            <a:r>
              <a:rPr lang="ja-JP" sz="1500" b="1">
                <a:solidFill>
                  <a:srgbClr val="1A2238"/>
                </a:solidFill>
                <a:latin typeface="Noto Sans CJK JP"/>
                <a:ea typeface="Noto Sans CJK JP"/>
              </a:rPr>
              <a:t>縮小前の群 / 縮小後の群 = </a:t>
            </a:r>
            <a:r>
              <a:rPr lang="ja-JP" sz="1500" b="1">
                <a:solidFill>
                  <a:srgbClr val="0F9E8E"/>
                </a:solidFill>
                <a:latin typeface="Noto Sans CJK JP"/>
                <a:ea typeface="Noto Sans CJK JP"/>
              </a:rPr>
              <a:t>商（剰余群）</a:t>
            </a:r>
          </a:p>
        </p:txBody>
      </p:sp>
      <p:sp>
        <p:nvSpPr>
          <p:cNvPr id="17" name="TextBox 16"/>
          <p:cNvSpPr txBox="1"/>
          <p:nvPr/>
        </p:nvSpPr>
        <p:spPr>
          <a:xfrm>
            <a:off x="6693408" y="2487168"/>
            <a:ext cx="4526280" cy="384048"/>
          </a:xfrm>
          <a:prstGeom prst="rect">
            <a:avLst/>
          </a:prstGeom>
          <a:noFill/>
        </p:spPr>
        <p:txBody>
          <a:bodyPr wrap="square" lIns="45720" tIns="18288" rIns="45720" bIns="18288" anchor="t">
            <a:spAutoFit/>
          </a:bodyPr>
          <a:lstStyle/>
          <a:p>
            <a:r>
              <a:rPr lang="ja-JP" sz="1400" b="0">
                <a:solidFill>
                  <a:srgbClr val="1A2238"/>
                </a:solidFill>
                <a:latin typeface="Noto Sans CJK JP"/>
                <a:ea typeface="Noto Sans CJK JP"/>
              </a:rPr>
              <a:t>A₅ で使える縮小後の群は、</a:t>
            </a:r>
            <a:r>
              <a:rPr lang="ja-JP" sz="1400" b="1">
                <a:solidFill>
                  <a:srgbClr val="1A2238"/>
                </a:solidFill>
                <a:latin typeface="Noto Sans CJK JP"/>
                <a:ea typeface="Noto Sans CJK JP"/>
              </a:rPr>
              <a:t>{e} と A₅ 自身</a:t>
            </a:r>
            <a:r>
              <a:rPr lang="ja-JP" sz="1400" b="0">
                <a:solidFill>
                  <a:srgbClr val="1A2238"/>
                </a:solidFill>
                <a:latin typeface="Noto Sans CJK JP"/>
                <a:ea typeface="Noto Sans CJK JP"/>
              </a:rPr>
              <a:t>しかない。</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2238"/>
        </a:solidFill>
        <a:effectLst/>
      </p:bgPr>
    </p:bg>
    <p:spTree>
      <p:nvGrpSpPr>
        <p:cNvPr id="1" name=""/>
        <p:cNvGrpSpPr/>
        <p:nvPr/>
      </p:nvGrpSpPr>
      <p:grpSpPr>
        <a:xfrm>
          <a:off x="0" y="0"/>
          <a:ext cx="0" cy="0"/>
          <a:chOff x="0" y="0"/>
          <a:chExt cx="0" cy="0"/>
        </a:xfrm>
      </p:grpSpPr>
      <p:sp>
        <p:nvSpPr>
          <p:cNvPr id="2" name="Text 0"/>
          <p:cNvSpPr/>
          <p:nvPr/>
        </p:nvSpPr>
        <p:spPr>
          <a:xfrm>
            <a:off x="822960" y="640080"/>
            <a:ext cx="10058400" cy="731520"/>
          </a:xfrm>
          <a:prstGeom prst="rect">
            <a:avLst/>
          </a:prstGeom>
          <a:noFill/>
          <a:ln/>
        </p:spPr>
        <p:txBody>
          <a:bodyPr wrap="square" lIns="0" tIns="0" rIns="0" bIns="0" rtlCol="0" anchor="ctr"/>
          <a:lstStyle/>
          <a:p>
            <a:pPr marL="0" indent="0">
              <a:buNone/>
            </a:pPr>
            <a:r>
              <a:rPr lang="ja-JP" sz="2800" b="1" dirty="0">
                <a:solidFill>
                  <a:srgbClr val="0F9E8E"/>
                </a:solidFill>
                <a:latin typeface="Noto Sans CJK JP" pitchFamily="34" charset="0"/>
                <a:ea typeface="Noto Sans CJK JP"/>
                <a:cs typeface="Noto Sans CJK JP" pitchFamily="34" charset="-120"/>
              </a:rPr>
              <a:t>結論</a:t>
            </a:r>
            <a:endParaRPr lang="en-US" sz="2800" dirty="0"/>
          </a:p>
        </p:txBody>
      </p:sp>
      <p:sp>
        <p:nvSpPr>
          <p:cNvPr id="3" name="Text 1"/>
          <p:cNvSpPr/>
          <p:nvPr/>
        </p:nvSpPr>
        <p:spPr>
          <a:xfrm>
            <a:off x="822960" y="1600200"/>
            <a:ext cx="2743200" cy="548640"/>
          </a:xfrm>
          <a:prstGeom prst="rect">
            <a:avLst/>
          </a:prstGeom>
          <a:noFill/>
          <a:ln/>
        </p:spPr>
        <p:txBody>
          <a:bodyPr wrap="square" lIns="0" tIns="0" rIns="0" bIns="0" rtlCol="0" anchor="ctr"/>
          <a:lstStyle/>
          <a:p>
            <a:pPr marL="0" indent="0">
              <a:buNone/>
            </a:pPr>
            <a:r>
              <a:rPr lang="ja-JP" sz="3000" b="1" dirty="0">
                <a:solidFill>
                  <a:srgbClr val="FFFFFF"/>
                </a:solidFill>
                <a:latin typeface="Noto Sans CJK JP" pitchFamily="34" charset="0"/>
                <a:ea typeface="Noto Sans CJK JP"/>
                <a:cs typeface="Noto Sans CJK JP" pitchFamily="34" charset="-120"/>
              </a:rPr>
              <a:t>n ≤ 4</a:t>
            </a:r>
            <a:endParaRPr lang="en-US" sz="3000" dirty="0"/>
          </a:p>
        </p:txBody>
      </p:sp>
      <p:sp>
        <p:nvSpPr>
          <p:cNvPr id="4" name="Text 2"/>
          <p:cNvSpPr/>
          <p:nvPr/>
        </p:nvSpPr>
        <p:spPr>
          <a:xfrm>
            <a:off x="822960" y="2194560"/>
            <a:ext cx="10515600" cy="548640"/>
          </a:xfrm>
          <a:prstGeom prst="rect">
            <a:avLst/>
          </a:prstGeom>
          <a:noFill/>
          <a:ln/>
        </p:spPr>
        <p:txBody>
          <a:bodyPr wrap="square" lIns="0" tIns="0" rIns="0" bIns="0" rtlCol="0" anchor="ctr"/>
          <a:lstStyle/>
          <a:p>
            <a:pPr marL="0" indent="0">
              <a:buNone/>
            </a:pPr>
            <a:r>
              <a:rPr lang="ja-JP" sz="2200" dirty="0">
                <a:solidFill>
                  <a:srgbClr val="CAD6F0"/>
                </a:solidFill>
                <a:latin typeface="Noto Sans CJK JP" pitchFamily="34" charset="0"/>
                <a:ea typeface="Noto Sans CJK JP"/>
                <a:cs typeface="Noto Sans CJK JP" pitchFamily="34" charset="-120"/>
              </a:rPr>
              <a:t>縮小鎖が {e} まで届く  →  解の公式は存在する</a:t>
            </a:r>
            <a:endParaRPr lang="en-US" sz="2200" dirty="0"/>
          </a:p>
        </p:txBody>
      </p:sp>
      <p:sp>
        <p:nvSpPr>
          <p:cNvPr id="5" name="Shape 3"/>
          <p:cNvSpPr/>
          <p:nvPr/>
        </p:nvSpPr>
        <p:spPr>
          <a:xfrm>
            <a:off x="822960" y="3063240"/>
            <a:ext cx="10515600" cy="0"/>
          </a:xfrm>
          <a:prstGeom prst="line">
            <a:avLst/>
          </a:prstGeom>
          <a:noFill/>
          <a:ln w="12700">
            <a:solidFill>
              <a:srgbClr val="3A4660"/>
            </a:solidFill>
            <a:prstDash val="solid"/>
          </a:ln>
        </p:spPr>
        <p:txBody>
          <a:bodyPr/>
          <a:lstStyle/>
          <a:p>
            <a:endParaRPr/>
          </a:p>
        </p:txBody>
      </p:sp>
      <p:sp>
        <p:nvSpPr>
          <p:cNvPr id="6" name="Text 4"/>
          <p:cNvSpPr/>
          <p:nvPr/>
        </p:nvSpPr>
        <p:spPr>
          <a:xfrm>
            <a:off x="822960" y="3383280"/>
            <a:ext cx="2743200" cy="548640"/>
          </a:xfrm>
          <a:prstGeom prst="rect">
            <a:avLst/>
          </a:prstGeom>
          <a:noFill/>
          <a:ln/>
        </p:spPr>
        <p:txBody>
          <a:bodyPr wrap="square" lIns="0" tIns="0" rIns="0" bIns="0" rtlCol="0" anchor="ctr"/>
          <a:lstStyle/>
          <a:p>
            <a:pPr marL="0" indent="0">
              <a:buNone/>
            </a:pPr>
            <a:r>
              <a:rPr lang="ja-JP" sz="3000" b="1" dirty="0">
                <a:solidFill>
                  <a:srgbClr val="D8593A"/>
                </a:solidFill>
                <a:latin typeface="Noto Sans CJK JP" pitchFamily="34" charset="0"/>
                <a:ea typeface="Noto Sans CJK JP"/>
                <a:cs typeface="Noto Sans CJK JP" pitchFamily="34" charset="-120"/>
              </a:rPr>
              <a:t>n ≥ 5</a:t>
            </a:r>
            <a:endParaRPr lang="en-US" sz="3000" dirty="0"/>
          </a:p>
        </p:txBody>
      </p:sp>
      <p:sp>
        <p:nvSpPr>
          <p:cNvPr id="7" name="Text 5"/>
          <p:cNvSpPr/>
          <p:nvPr/>
        </p:nvSpPr>
        <p:spPr>
          <a:xfrm>
            <a:off x="822960" y="3977640"/>
            <a:ext cx="10607040" cy="1280160"/>
          </a:xfrm>
          <a:prstGeom prst="rect">
            <a:avLst/>
          </a:prstGeom>
          <a:noFill/>
          <a:ln/>
        </p:spPr>
        <p:txBody>
          <a:bodyPr wrap="square" lIns="0" tIns="0" rIns="0" bIns="0" rtlCol="0" anchor="ctr"/>
          <a:lstStyle/>
          <a:p>
            <a:pPr marL="0" indent="0">
              <a:lnSpc>
                <a:spcPct val="130000"/>
              </a:lnSpc>
              <a:buNone/>
            </a:pPr>
            <a:r>
              <a:rPr lang="ja-JP" sz="2200" dirty="0">
                <a:solidFill>
                  <a:srgbClr val="CAD6F0"/>
                </a:solidFill>
                <a:latin typeface="Noto Sans CJK JP" pitchFamily="34" charset="0"/>
                <a:ea typeface="Noto Sans CJK JP"/>
                <a:cs typeface="Noto Sans CJK JP" pitchFamily="34" charset="-120"/>
              </a:rPr>
              <a:t>Aₙ が単純かつ非可換になり、Sₙ をそれ以上縮小する段が作れない。</a:t>
            </a:r>
            <a:endParaRPr lang="en-US" sz="2200" dirty="0"/>
          </a:p>
          <a:p>
            <a:pPr marL="0" indent="0">
              <a:lnSpc>
                <a:spcPct val="130000"/>
              </a:lnSpc>
              <a:buNone/>
            </a:pPr>
            <a:r>
              <a:rPr lang="ja-JP" sz="2200" dirty="0">
                <a:solidFill>
                  <a:srgbClr val="CAD6F0"/>
                </a:solidFill>
                <a:latin typeface="Noto Sans CJK JP" pitchFamily="34" charset="0"/>
                <a:ea typeface="Noto Sans CJK JP"/>
                <a:cs typeface="Noto Sans CJK JP" pitchFamily="34" charset="-120"/>
              </a:rPr>
              <a:t>縮小鎖は途中で止まり {e} に届かない  →  </a:t>
            </a:r>
            <a:r>
              <a:rPr lang="ja-JP" sz="2200" b="1" dirty="0">
                <a:solidFill>
                  <a:srgbClr val="D8593A"/>
                </a:solidFill>
                <a:latin typeface="Noto Sans CJK JP" pitchFamily="34" charset="0"/>
                <a:ea typeface="Noto Sans CJK JP"/>
                <a:cs typeface="Noto Sans CJK JP" pitchFamily="34" charset="-120"/>
              </a:rPr>
              <a:t>解の公式は存在しない</a:t>
            </a:r>
            <a:endParaRPr lang="en-US" sz="2200" dirty="0"/>
          </a:p>
        </p:txBody>
      </p:sp>
      <p:sp>
        <p:nvSpPr>
          <p:cNvPr id="8" name="Shape 6"/>
          <p:cNvSpPr/>
          <p:nvPr/>
        </p:nvSpPr>
        <p:spPr>
          <a:xfrm>
            <a:off x="822960" y="5486400"/>
            <a:ext cx="10515600" cy="868680"/>
          </a:xfrm>
          <a:prstGeom prst="roundRect">
            <a:avLst>
              <a:gd name="adj" fmla="val 10526"/>
            </a:avLst>
          </a:prstGeom>
          <a:solidFill>
            <a:srgbClr val="232C49"/>
          </a:solidFill>
          <a:ln/>
        </p:spPr>
        <p:txBody>
          <a:bodyPr/>
          <a:lstStyle/>
          <a:p>
            <a:endParaRPr/>
          </a:p>
        </p:txBody>
      </p:sp>
      <p:sp>
        <p:nvSpPr>
          <p:cNvPr id="9" name="Text 7"/>
          <p:cNvSpPr/>
          <p:nvPr/>
        </p:nvSpPr>
        <p:spPr>
          <a:xfrm>
            <a:off x="1005840" y="5486400"/>
            <a:ext cx="10149840" cy="868680"/>
          </a:xfrm>
          <a:prstGeom prst="rect">
            <a:avLst/>
          </a:prstGeom>
          <a:noFill/>
          <a:ln/>
        </p:spPr>
        <p:txBody>
          <a:bodyPr wrap="square" lIns="0" tIns="0" rIns="0" bIns="0" rtlCol="0" anchor="ctr"/>
          <a:lstStyle/>
          <a:p>
            <a:pPr marL="0" indent="0">
              <a:buNone/>
            </a:pPr>
            <a:r>
              <a:rPr lang="ja-JP" sz="1700" i="1" dirty="0">
                <a:solidFill>
                  <a:srgbClr val="9FB0D6"/>
                </a:solidFill>
                <a:latin typeface="Noto Sans CJK JP" pitchFamily="34" charset="0"/>
                <a:ea typeface="Noto Sans CJK JP"/>
                <a:cs typeface="Noto Sans CJK JP" pitchFamily="34" charset="-120"/>
              </a:rPr>
              <a:t>アーベル–ルフィニの定理:5次以上の一般方程式に、四則とべき根による解の公式は存在しない。</a:t>
            </a:r>
            <a:endParaRPr lang="en-US" sz="1700" dirty="0"/>
          </a:p>
        </p:txBody>
      </p:sp>
      <p:sp>
        <p:nvSpPr>
          <p:cNvPr id="10" name="Text 8"/>
          <p:cNvSpPr/>
          <p:nvPr/>
        </p:nvSpPr>
        <p:spPr>
          <a:xfrm>
            <a:off x="11338560" y="6355080"/>
            <a:ext cx="457200" cy="274320"/>
          </a:xfrm>
          <a:prstGeom prst="rect">
            <a:avLst/>
          </a:prstGeom>
          <a:noFill/>
          <a:ln/>
        </p:spPr>
        <p:txBody>
          <a:bodyPr wrap="square" lIns="0" tIns="0" rIns="0" bIns="0" rtlCol="0" anchor="ctr"/>
          <a:lstStyle/>
          <a:p>
            <a:pPr marL="0" indent="0" algn="r">
              <a:buNone/>
            </a:pPr>
            <a:r>
              <a:rPr lang="ja-JP" sz="1100" dirty="0">
                <a:solidFill>
                  <a:srgbClr val="8A93A8"/>
                </a:solidFill>
                <a:latin typeface="Noto Sans CJK JP" pitchFamily="34" charset="0"/>
                <a:ea typeface="Noto Sans CJK JP"/>
                <a:cs typeface="Noto Sans CJK JP" pitchFamily="34" charset="-120"/>
              </a:rPr>
              <a:t>9</a:t>
            </a:r>
            <a:endParaRPr lang="en-US" sz="1100" dirty="0"/>
          </a:p>
        </p:txBody>
      </p:sp>
      <p:sp>
        <p:nvSpPr>
          <p:cNvPr id="11" name="Text 9"/>
          <p:cNvSpPr/>
          <p:nvPr/>
        </p:nvSpPr>
        <p:spPr>
          <a:xfrm>
            <a:off x="457200" y="6355080"/>
            <a:ext cx="4572000" cy="274320"/>
          </a:xfrm>
          <a:prstGeom prst="rect">
            <a:avLst/>
          </a:prstGeom>
          <a:noFill/>
          <a:ln/>
        </p:spPr>
        <p:txBody>
          <a:bodyPr wrap="square" lIns="0" tIns="0" rIns="0" bIns="0" rtlCol="0" anchor="ctr"/>
          <a:lstStyle/>
          <a:p>
            <a:pPr marL="0" indent="0" algn="l">
              <a:buNone/>
            </a:pPr>
            <a:r>
              <a:rPr lang="ja-JP" sz="1000" dirty="0">
                <a:solidFill>
                  <a:srgbClr val="8A93A8"/>
                </a:solidFill>
                <a:latin typeface="Noto Sans CJK JP" pitchFamily="34" charset="0"/>
                <a:ea typeface="Noto Sans CJK JP"/>
                <a:cs typeface="Noto Sans CJK JP" pitchFamily="34" charset="-120"/>
              </a:rPr>
              <a:t>5garashi.com 設計事務所</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72800" cy="731520"/>
          </a:xfrm>
          <a:prstGeom prst="rect">
            <a:avLst/>
          </a:prstGeom>
          <a:noFill/>
          <a:ln/>
        </p:spPr>
        <p:txBody>
          <a:bodyPr wrap="square" lIns="0" tIns="0" rIns="0" bIns="0" rtlCol="0" anchor="ctr"/>
          <a:lstStyle/>
          <a:p>
            <a:pPr marL="0" indent="0">
              <a:buNone/>
            </a:pPr>
            <a:r>
              <a:rPr lang="ja-JP" sz="3200" b="1" dirty="0">
                <a:solidFill>
                  <a:srgbClr val="1A2238"/>
                </a:solidFill>
                <a:latin typeface="Noto Sans CJK JP" pitchFamily="34" charset="0"/>
                <a:ea typeface="Noto Sans CJK JP"/>
                <a:cs typeface="Noto Sans CJK JP" pitchFamily="34" charset="-120"/>
              </a:rPr>
              <a:t>議論の骨格とガロア理論の柱</a:t>
            </a:r>
            <a:endParaRPr lang="en-US" sz="3200" dirty="0"/>
          </a:p>
        </p:txBody>
      </p:sp>
      <p:sp>
        <p:nvSpPr>
          <p:cNvPr id="46" name="Text 44"/>
          <p:cNvSpPr/>
          <p:nvPr/>
        </p:nvSpPr>
        <p:spPr>
          <a:xfrm>
            <a:off x="11338560" y="6355080"/>
            <a:ext cx="457200" cy="274320"/>
          </a:xfrm>
          <a:prstGeom prst="rect">
            <a:avLst/>
          </a:prstGeom>
          <a:noFill/>
          <a:ln/>
        </p:spPr>
        <p:txBody>
          <a:bodyPr wrap="square" lIns="0" tIns="0" rIns="0" bIns="0" rtlCol="0" anchor="ctr"/>
          <a:lstStyle/>
          <a:p>
            <a:pPr marL="0" indent="0" algn="r">
              <a:buNone/>
            </a:pPr>
            <a:r>
              <a:rPr lang="ja-JP" sz="1100" dirty="0">
                <a:solidFill>
                  <a:srgbClr val="6B7180"/>
                </a:solidFill>
                <a:latin typeface="Noto Sans CJK JP" pitchFamily="34" charset="0"/>
                <a:ea typeface="Noto Sans CJK JP"/>
                <a:cs typeface="Noto Sans CJK JP" pitchFamily="34" charset="-120"/>
              </a:rPr>
              <a:t>10</a:t>
            </a:r>
            <a:endParaRPr lang="en-US" sz="1100" dirty="0"/>
          </a:p>
        </p:txBody>
      </p:sp>
      <p:sp>
        <p:nvSpPr>
          <p:cNvPr id="47" name="Text 45"/>
          <p:cNvSpPr/>
          <p:nvPr/>
        </p:nvSpPr>
        <p:spPr>
          <a:xfrm>
            <a:off x="457200" y="6355080"/>
            <a:ext cx="4572000" cy="274320"/>
          </a:xfrm>
          <a:prstGeom prst="rect">
            <a:avLst/>
          </a:prstGeom>
          <a:noFill/>
          <a:ln/>
        </p:spPr>
        <p:txBody>
          <a:bodyPr wrap="square" lIns="0" tIns="0" rIns="0" bIns="0" rtlCol="0" anchor="ctr"/>
          <a:lstStyle/>
          <a:p>
            <a:pPr marL="0" indent="0" algn="l">
              <a:buNone/>
            </a:pPr>
            <a:r>
              <a:rPr lang="ja-JP" sz="1000" dirty="0">
                <a:solidFill>
                  <a:srgbClr val="6B7180"/>
                </a:solidFill>
                <a:latin typeface="Noto Sans CJK JP" pitchFamily="34" charset="0"/>
                <a:ea typeface="Noto Sans CJK JP"/>
                <a:cs typeface="Noto Sans CJK JP" pitchFamily="34" charset="-120"/>
              </a:rPr>
              <a:t>5garashi.com 設計事務所</a:t>
            </a:r>
            <a:endParaRPr lang="en-US" sz="1000" dirty="0"/>
          </a:p>
        </p:txBody>
      </p:sp>
      <p:graphicFrame>
        <p:nvGraphicFramePr>
          <p:cNvPr id="48" name="Table 47"/>
          <p:cNvGraphicFramePr>
            <a:graphicFrameLocks noGrp="1"/>
          </p:cNvGraphicFramePr>
          <p:nvPr/>
        </p:nvGraphicFramePr>
        <p:xfrm>
          <a:off x="640080" y="1691640"/>
          <a:ext cx="10881360" cy="3621024"/>
        </p:xfrm>
        <a:graphic>
          <a:graphicData uri="http://schemas.openxmlformats.org/drawingml/2006/table">
            <a:tbl>
              <a:tblPr firstRow="1">
                <a:tableStyleId>{5C22544A-7EE6-4342-B048-85BDC9FD1C3A}</a:tableStyleId>
              </a:tblPr>
              <a:tblGrid>
                <a:gridCol w="3474720">
                  <a:extLst>
                    <a:ext uri="{9D8B030D-6E8A-4147-A177-3AD203B41FA5}">
                      <a16:colId xmlns:a16="http://schemas.microsoft.com/office/drawing/2014/main" val="20000"/>
                    </a:ext>
                  </a:extLst>
                </a:gridCol>
                <a:gridCol w="544068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tblGrid>
              <a:tr h="502920">
                <a:tc>
                  <a:txBody>
                    <a:bodyPr/>
                    <a:lstStyle/>
                    <a:p>
                      <a:pPr algn="l">
                        <a:lnSpc>
                          <a:spcPct val="105000"/>
                        </a:lnSpc>
                      </a:pPr>
                      <a:r>
                        <a:rPr lang="ja-JP" sz="1500" b="1">
                          <a:solidFill>
                            <a:srgbClr val="FFFFFF"/>
                          </a:solidFill>
                          <a:latin typeface="Noto Sans CJK JP"/>
                          <a:ea typeface="Noto Sans CJK JP"/>
                        </a:rPr>
                        <a:t>議論のブロック</a:t>
                      </a:r>
                    </a:p>
                  </a:txBody>
                  <a:tcPr marL="109728" marR="73152" marT="36576" marB="36576" anchor="ctr">
                    <a:solidFill>
                      <a:srgbClr val="3457A6"/>
                    </a:solidFill>
                  </a:tcPr>
                </a:tc>
                <a:tc>
                  <a:txBody>
                    <a:bodyPr/>
                    <a:lstStyle/>
                    <a:p>
                      <a:pPr algn="l">
                        <a:lnSpc>
                          <a:spcPct val="105000"/>
                        </a:lnSpc>
                      </a:pPr>
                      <a:r>
                        <a:rPr lang="ja-JP" sz="1500" b="1">
                          <a:solidFill>
                            <a:srgbClr val="FFFFFF"/>
                          </a:solidFill>
                          <a:latin typeface="Noto Sans CJK JP"/>
                          <a:ea typeface="Noto Sans CJK JP"/>
                        </a:rPr>
                        <a:t>対応する柱</a:t>
                      </a:r>
                    </a:p>
                  </a:txBody>
                  <a:tcPr marL="109728" marR="73152" marT="36576" marB="36576" anchor="ctr">
                    <a:solidFill>
                      <a:srgbClr val="3457A6"/>
                    </a:solidFill>
                  </a:tcPr>
                </a:tc>
                <a:tc>
                  <a:txBody>
                    <a:bodyPr/>
                    <a:lstStyle/>
                    <a:p>
                      <a:pPr algn="l">
                        <a:lnSpc>
                          <a:spcPct val="105000"/>
                        </a:lnSpc>
                      </a:pPr>
                      <a:r>
                        <a:rPr lang="ja-JP" sz="1500" b="1">
                          <a:solidFill>
                            <a:srgbClr val="FFFFFF"/>
                          </a:solidFill>
                          <a:latin typeface="Noto Sans CJK JP"/>
                          <a:ea typeface="Noto Sans CJK JP"/>
                        </a:rPr>
                        <a:t>掲載ページ</a:t>
                      </a:r>
                    </a:p>
                  </a:txBody>
                  <a:tcPr marL="109728" marR="73152" marT="36576" marB="36576" anchor="ctr">
                    <a:solidFill>
                      <a:srgbClr val="3457A6"/>
                    </a:solidFill>
                  </a:tcPr>
                </a:tc>
                <a:extLst>
                  <a:ext uri="{0D108BD9-81ED-4DB2-BD59-A6C34878D82A}">
                    <a16:rowId xmlns:a16="http://schemas.microsoft.com/office/drawing/2014/main" val="10000"/>
                  </a:ext>
                </a:extLst>
              </a:tr>
              <a:tr h="566928">
                <a:tc>
                  <a:txBody>
                    <a:bodyPr/>
                    <a:lstStyle/>
                    <a:p>
                      <a:pPr algn="l">
                        <a:lnSpc>
                          <a:spcPct val="105000"/>
                        </a:lnSpc>
                      </a:pPr>
                      <a:r>
                        <a:rPr lang="ja-JP" sz="1450" b="1">
                          <a:solidFill>
                            <a:srgbClr val="1A2238"/>
                          </a:solidFill>
                          <a:latin typeface="Noto Sans CJK JP"/>
                          <a:ea typeface="Noto Sans CJK JP"/>
                        </a:rPr>
                        <a:t>ガロア群の特徴づけ</a:t>
                      </a:r>
                    </a:p>
                  </a:txBody>
                  <a:tcPr marL="109728" marR="73152" marT="36576" marB="36576" anchor="ctr">
                    <a:solidFill>
                      <a:srgbClr val="ECEFF7"/>
                    </a:solidFill>
                  </a:tcPr>
                </a:tc>
                <a:tc>
                  <a:txBody>
                    <a:bodyPr/>
                    <a:lstStyle/>
                    <a:p>
                      <a:pPr algn="l">
                        <a:lnSpc>
                          <a:spcPct val="105000"/>
                        </a:lnSpc>
                      </a:pPr>
                      <a:r>
                        <a:rPr lang="ja-JP" sz="1400" b="0">
                          <a:solidFill>
                            <a:srgbClr val="1A2238"/>
                          </a:solidFill>
                          <a:latin typeface="Noto Sans CJK JP"/>
                          <a:ea typeface="Noto Sans CJK JP"/>
                        </a:rPr>
                        <a:t>根の置換 = 自己同型、その全体 = ガロア群</a:t>
                      </a:r>
                    </a:p>
                  </a:txBody>
                  <a:tcPr marL="109728" marR="73152" marT="36576" marB="36576" anchor="ctr">
                    <a:solidFill>
                      <a:srgbClr val="ECEFF7"/>
                    </a:solidFill>
                  </a:tcPr>
                </a:tc>
                <a:tc>
                  <a:txBody>
                    <a:bodyPr/>
                    <a:lstStyle/>
                    <a:p>
                      <a:pPr algn="l">
                        <a:lnSpc>
                          <a:spcPct val="105000"/>
                        </a:lnSpc>
                      </a:pPr>
                      <a:r>
                        <a:rPr lang="ja-JP" sz="1400" b="0">
                          <a:solidFill>
                            <a:srgbClr val="5A6072"/>
                          </a:solidFill>
                          <a:latin typeface="Noto Sans CJK JP"/>
                          <a:ea typeface="Noto Sans CJK JP"/>
                        </a:rPr>
                        <a:t>P3</a:t>
                      </a:r>
                    </a:p>
                  </a:txBody>
                  <a:tcPr marL="109728" marR="73152" marT="36576" marB="36576" anchor="ctr">
                    <a:solidFill>
                      <a:srgbClr val="ECEFF7"/>
                    </a:solidFill>
                  </a:tcPr>
                </a:tc>
                <a:extLst>
                  <a:ext uri="{0D108BD9-81ED-4DB2-BD59-A6C34878D82A}">
                    <a16:rowId xmlns:a16="http://schemas.microsoft.com/office/drawing/2014/main" val="10001"/>
                  </a:ext>
                </a:extLst>
              </a:tr>
              <a:tr h="1417320">
                <a:tc>
                  <a:txBody>
                    <a:bodyPr/>
                    <a:lstStyle/>
                    <a:p>
                      <a:pPr algn="l">
                        <a:lnSpc>
                          <a:spcPct val="105000"/>
                        </a:lnSpc>
                      </a:pPr>
                      <a:r>
                        <a:rPr lang="ja-JP" sz="1450" b="1">
                          <a:solidFill>
                            <a:srgbClr val="1A2238"/>
                          </a:solidFill>
                          <a:latin typeface="Noto Sans CJK JP"/>
                          <a:ea typeface="Noto Sans CJK JP"/>
                        </a:rPr>
                        <a:t>群が縮小すると体が拡大</a:t>
                      </a:r>
                    </a:p>
                  </a:txBody>
                  <a:tcPr marL="109728" marR="73152" marT="36576" marB="36576" anchor="ctr">
                    <a:solidFill>
                      <a:srgbClr val="FFFFFF"/>
                    </a:solidFill>
                  </a:tcPr>
                </a:tc>
                <a:tc>
                  <a:txBody>
                    <a:bodyPr/>
                    <a:lstStyle/>
                    <a:p>
                      <a:pPr algn="l">
                        <a:lnSpc>
                          <a:spcPct val="105000"/>
                        </a:lnSpc>
                      </a:pPr>
                      <a:r>
                        <a:rPr lang="ja-JP" sz="1300" b="0">
                          <a:solidFill>
                            <a:srgbClr val="5A6072"/>
                          </a:solidFill>
                          <a:latin typeface="Noto Sans CJK JP"/>
                          <a:ea typeface="Noto Sans CJK JP"/>
                        </a:rPr>
                        <a:t>体 → 群の対応</a:t>
                      </a:r>
                    </a:p>
                    <a:p>
                      <a:pPr algn="l">
                        <a:lnSpc>
                          <a:spcPct val="105000"/>
                        </a:lnSpc>
                      </a:pPr>
                      <a:r>
                        <a:rPr lang="ja-JP" sz="1300" b="0">
                          <a:solidFill>
                            <a:srgbClr val="5A6072"/>
                          </a:solidFill>
                          <a:latin typeface="Noto Sans CJK JP"/>
                          <a:ea typeface="Noto Sans CJK JP"/>
                        </a:rPr>
                        <a:t>ガロア拡大(添加元のすべての共役を含む体)</a:t>
                      </a:r>
                    </a:p>
                    <a:p>
                      <a:pPr algn="l">
                        <a:lnSpc>
                          <a:spcPct val="105000"/>
                        </a:lnSpc>
                      </a:pPr>
                      <a:r>
                        <a:rPr lang="ja-JP" sz="1300" b="0">
                          <a:solidFill>
                            <a:srgbClr val="5A6072"/>
                          </a:solidFill>
                          <a:latin typeface="Noto Sans CJK JP"/>
                          <a:ea typeface="Noto Sans CJK JP"/>
                        </a:rPr>
                        <a:t>位数 = 次数 で群と体を接続</a:t>
                      </a:r>
                    </a:p>
                    <a:p>
                      <a:pPr algn="l">
                        <a:lnSpc>
                          <a:spcPct val="105000"/>
                        </a:lnSpc>
                      </a:pPr>
                      <a:r>
                        <a:rPr lang="ja-JP" sz="1300" b="0">
                          <a:solidFill>
                            <a:srgbClr val="5A6072"/>
                          </a:solidFill>
                          <a:latin typeface="Noto Sans CJK JP"/>
                          <a:ea typeface="Noto Sans CJK JP"/>
                        </a:rPr>
                        <a:t>巡回拡大 = べき根の添加</a:t>
                      </a:r>
                    </a:p>
                  </a:txBody>
                  <a:tcPr marL="109728" marR="73152" marT="36576" marB="36576" anchor="ctr">
                    <a:solidFill>
                      <a:srgbClr val="FFFFFF"/>
                    </a:solidFill>
                  </a:tcPr>
                </a:tc>
                <a:tc>
                  <a:txBody>
                    <a:bodyPr/>
                    <a:lstStyle/>
                    <a:p>
                      <a:pPr algn="l">
                        <a:lnSpc>
                          <a:spcPct val="105000"/>
                        </a:lnSpc>
                      </a:pPr>
                      <a:r>
                        <a:rPr lang="ja-JP" sz="1400" b="0">
                          <a:solidFill>
                            <a:srgbClr val="5A6072"/>
                          </a:solidFill>
                          <a:latin typeface="Noto Sans CJK JP"/>
                          <a:ea typeface="Noto Sans CJK JP"/>
                        </a:rPr>
                        <a:t>P4</a:t>
                      </a:r>
                    </a:p>
                  </a:txBody>
                  <a:tcPr marL="109728" marR="73152" marT="36576" marB="36576" anchor="ctr">
                    <a:solidFill>
                      <a:srgbClr val="FFFFFF"/>
                    </a:solidFill>
                  </a:tcPr>
                </a:tc>
                <a:extLst>
                  <a:ext uri="{0D108BD9-81ED-4DB2-BD59-A6C34878D82A}">
                    <a16:rowId xmlns:a16="http://schemas.microsoft.com/office/drawing/2014/main" val="10002"/>
                  </a:ext>
                </a:extLst>
              </a:tr>
              <a:tr h="566928">
                <a:tc>
                  <a:txBody>
                    <a:bodyPr/>
                    <a:lstStyle/>
                    <a:p>
                      <a:pPr algn="l">
                        <a:lnSpc>
                          <a:spcPct val="105000"/>
                        </a:lnSpc>
                      </a:pPr>
                      <a:r>
                        <a:rPr lang="ja-JP" sz="1450" b="1">
                          <a:solidFill>
                            <a:srgbClr val="1A2238"/>
                          </a:solidFill>
                          <a:latin typeface="Noto Sans CJK JP"/>
                          <a:ea typeface="Noto Sans CJK JP"/>
                        </a:rPr>
                        <a:t>解ける条件(縮小鎖)</a:t>
                      </a:r>
                    </a:p>
                  </a:txBody>
                  <a:tcPr marL="109728" marR="73152" marT="36576" marB="36576" anchor="ctr">
                    <a:solidFill>
                      <a:srgbClr val="ECEFF7"/>
                    </a:solidFill>
                  </a:tcPr>
                </a:tc>
                <a:tc>
                  <a:txBody>
                    <a:bodyPr/>
                    <a:lstStyle/>
                    <a:p>
                      <a:pPr algn="l">
                        <a:lnSpc>
                          <a:spcPct val="105000"/>
                        </a:lnSpc>
                      </a:pPr>
                      <a:r>
                        <a:rPr lang="ja-JP" sz="1400" b="0">
                          <a:solidFill>
                            <a:srgbClr val="1A2238"/>
                          </a:solidFill>
                          <a:latin typeface="Noto Sans CJK JP"/>
                          <a:ea typeface="Noto Sans CJK JP"/>
                        </a:rPr>
                        <a:t>可解群 ⟺ べき根可解</a:t>
                      </a:r>
                    </a:p>
                  </a:txBody>
                  <a:tcPr marL="109728" marR="73152" marT="36576" marB="36576" anchor="ctr">
                    <a:solidFill>
                      <a:srgbClr val="ECEFF7"/>
                    </a:solidFill>
                  </a:tcPr>
                </a:tc>
                <a:tc>
                  <a:txBody>
                    <a:bodyPr/>
                    <a:lstStyle/>
                    <a:p>
                      <a:pPr algn="l">
                        <a:lnSpc>
                          <a:spcPct val="105000"/>
                        </a:lnSpc>
                      </a:pPr>
                      <a:r>
                        <a:rPr lang="ja-JP" sz="1400" b="0">
                          <a:solidFill>
                            <a:srgbClr val="5A6072"/>
                          </a:solidFill>
                          <a:latin typeface="Noto Sans CJK JP"/>
                          <a:ea typeface="Noto Sans CJK JP"/>
                        </a:rPr>
                        <a:t>P5</a:t>
                      </a:r>
                    </a:p>
                  </a:txBody>
                  <a:tcPr marL="109728" marR="73152" marT="36576" marB="36576" anchor="ctr">
                    <a:solidFill>
                      <a:srgbClr val="ECEFF7"/>
                    </a:solidFill>
                  </a:tcPr>
                </a:tc>
                <a:extLst>
                  <a:ext uri="{0D108BD9-81ED-4DB2-BD59-A6C34878D82A}">
                    <a16:rowId xmlns:a16="http://schemas.microsoft.com/office/drawing/2014/main" val="10003"/>
                  </a:ext>
                </a:extLst>
              </a:tr>
              <a:tr h="566928">
                <a:tc>
                  <a:txBody>
                    <a:bodyPr/>
                    <a:lstStyle/>
                    <a:p>
                      <a:pPr algn="l">
                        <a:lnSpc>
                          <a:spcPct val="105000"/>
                        </a:lnSpc>
                      </a:pPr>
                      <a:r>
                        <a:rPr lang="ja-JP" sz="1450" b="1">
                          <a:solidFill>
                            <a:srgbClr val="1A2238"/>
                          </a:solidFill>
                          <a:latin typeface="Noto Sans CJK JP"/>
                          <a:ea typeface="Noto Sans CJK JP"/>
                        </a:rPr>
                        <a:t>結論(A₅ で破綻)</a:t>
                      </a:r>
                    </a:p>
                  </a:txBody>
                  <a:tcPr marL="109728" marR="73152" marT="36576" marB="36576" anchor="ctr">
                    <a:solidFill>
                      <a:srgbClr val="FFFFFF"/>
                    </a:solidFill>
                  </a:tcPr>
                </a:tc>
                <a:tc>
                  <a:txBody>
                    <a:bodyPr/>
                    <a:lstStyle/>
                    <a:p>
                      <a:pPr algn="l">
                        <a:lnSpc>
                          <a:spcPct val="105000"/>
                        </a:lnSpc>
                      </a:pPr>
                      <a:r>
                        <a:rPr lang="ja-JP" sz="1400" b="0">
                          <a:solidFill>
                            <a:srgbClr val="1A2238"/>
                          </a:solidFill>
                          <a:latin typeface="Noto Sans CJK JP"/>
                          <a:ea typeface="Noto Sans CJK JP"/>
                        </a:rPr>
                        <a:t>A₅ の単純性 → 不可解</a:t>
                      </a:r>
                    </a:p>
                  </a:txBody>
                  <a:tcPr marL="109728" marR="73152" marT="36576" marB="36576" anchor="ctr">
                    <a:solidFill>
                      <a:srgbClr val="FFFFFF"/>
                    </a:solidFill>
                  </a:tcPr>
                </a:tc>
                <a:tc>
                  <a:txBody>
                    <a:bodyPr/>
                    <a:lstStyle/>
                    <a:p>
                      <a:pPr algn="l">
                        <a:lnSpc>
                          <a:spcPct val="105000"/>
                        </a:lnSpc>
                      </a:pPr>
                      <a:r>
                        <a:rPr lang="ja-JP" sz="1400" b="0">
                          <a:solidFill>
                            <a:srgbClr val="5A6072"/>
                          </a:solidFill>
                          <a:latin typeface="Noto Sans CJK JP"/>
                          <a:ea typeface="Noto Sans CJK JP"/>
                        </a:rPr>
                        <a:t>P7–9</a:t>
                      </a:r>
                    </a:p>
                  </a:txBody>
                  <a:tcPr marL="109728" marR="73152" marT="36576" marB="36576" anchor="ct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lIns="0" tIns="0" rIns="0" bIns="0" rtlCol="0" anchor="ctr"/>
          <a:lstStyle/>
          <a:p>
            <a:pPr marL="0" indent="0">
              <a:buNone/>
            </a:pPr>
            <a:r>
              <a:rPr lang="ja-JP" sz="3400" b="1" dirty="0">
                <a:solidFill>
                  <a:srgbClr val="1A2238"/>
                </a:solidFill>
                <a:latin typeface="Noto Sans CJK JP" pitchFamily="34" charset="0"/>
                <a:ea typeface="Noto Sans CJK JP"/>
                <a:cs typeface="Noto Sans CJK JP" pitchFamily="34" charset="-120"/>
              </a:rPr>
              <a:t>一枚でふりかえる</a:t>
            </a:r>
            <a:endParaRPr lang="en-US" sz="3400" dirty="0"/>
          </a:p>
        </p:txBody>
      </p:sp>
      <p:sp>
        <p:nvSpPr>
          <p:cNvPr id="3" name="Shape 1"/>
          <p:cNvSpPr/>
          <p:nvPr/>
        </p:nvSpPr>
        <p:spPr>
          <a:xfrm>
            <a:off x="822960" y="1508760"/>
            <a:ext cx="82296" cy="960120"/>
          </a:xfrm>
          <a:prstGeom prst="rect">
            <a:avLst/>
          </a:prstGeom>
          <a:solidFill>
            <a:srgbClr val="0F9E8E"/>
          </a:solidFill>
          <a:ln/>
        </p:spPr>
        <p:txBody>
          <a:bodyPr/>
          <a:lstStyle/>
          <a:p>
            <a:endParaRPr/>
          </a:p>
        </p:txBody>
      </p:sp>
      <p:sp>
        <p:nvSpPr>
          <p:cNvPr id="4" name="Text 2"/>
          <p:cNvSpPr/>
          <p:nvPr/>
        </p:nvSpPr>
        <p:spPr>
          <a:xfrm>
            <a:off x="1097280" y="1508760"/>
            <a:ext cx="10058400" cy="457200"/>
          </a:xfrm>
          <a:prstGeom prst="rect">
            <a:avLst/>
          </a:prstGeom>
          <a:noFill/>
          <a:ln/>
        </p:spPr>
        <p:txBody>
          <a:bodyPr wrap="square" lIns="0" tIns="0" rIns="0" bIns="0" rtlCol="0" anchor="ctr"/>
          <a:lstStyle/>
          <a:p>
            <a:pPr marL="0" indent="0">
              <a:buNone/>
            </a:pPr>
            <a:r>
              <a:rPr lang="ja-JP" sz="2200" b="1" dirty="0">
                <a:solidFill>
                  <a:srgbClr val="1A2238"/>
                </a:solidFill>
                <a:latin typeface="Noto Sans CJK JP" pitchFamily="34" charset="0"/>
                <a:ea typeface="Noto Sans CJK JP"/>
                <a:cs typeface="Noto Sans CJK JP" pitchFamily="34" charset="-120"/>
              </a:rPr>
              <a:t>対称性を群でとらえる</a:t>
            </a:r>
            <a:endParaRPr lang="en-US" sz="2200" dirty="0"/>
          </a:p>
        </p:txBody>
      </p:sp>
      <p:sp>
        <p:nvSpPr>
          <p:cNvPr id="5" name="Text 3"/>
          <p:cNvSpPr/>
          <p:nvPr/>
        </p:nvSpPr>
        <p:spPr>
          <a:xfrm>
            <a:off x="1097280" y="1965960"/>
            <a:ext cx="10058400" cy="457200"/>
          </a:xfrm>
          <a:prstGeom prst="rect">
            <a:avLst/>
          </a:prstGeom>
          <a:noFill/>
          <a:ln/>
        </p:spPr>
        <p:txBody>
          <a:bodyPr wrap="square" lIns="0" tIns="0" rIns="0" bIns="0" rtlCol="0" anchor="ctr"/>
          <a:lstStyle/>
          <a:p>
            <a:pPr marL="0" indent="0">
              <a:buNone/>
            </a:pPr>
            <a:r>
              <a:rPr lang="ja-JP" sz="1700" dirty="0">
                <a:solidFill>
                  <a:srgbClr val="6B7180"/>
                </a:solidFill>
                <a:latin typeface="Noto Sans CJK JP" pitchFamily="34" charset="0"/>
                <a:ea typeface="Noto Sans CJK JP"/>
                <a:cs typeface="Noto Sans CJK JP" pitchFamily="34" charset="-120"/>
              </a:rPr>
              <a:t>根で作った有理式の値を保つ置換の集まりがガロア群</a:t>
            </a:r>
            <a:endParaRPr lang="en-US" sz="1700" dirty="0"/>
          </a:p>
        </p:txBody>
      </p:sp>
      <p:sp>
        <p:nvSpPr>
          <p:cNvPr id="6" name="Shape 4"/>
          <p:cNvSpPr/>
          <p:nvPr/>
        </p:nvSpPr>
        <p:spPr>
          <a:xfrm>
            <a:off x="822960" y="2651760"/>
            <a:ext cx="82296" cy="960120"/>
          </a:xfrm>
          <a:prstGeom prst="rect">
            <a:avLst/>
          </a:prstGeom>
          <a:solidFill>
            <a:srgbClr val="0F9E8E"/>
          </a:solidFill>
          <a:ln/>
        </p:spPr>
        <p:txBody>
          <a:bodyPr/>
          <a:lstStyle/>
          <a:p>
            <a:endParaRPr/>
          </a:p>
        </p:txBody>
      </p:sp>
      <p:sp>
        <p:nvSpPr>
          <p:cNvPr id="7" name="Text 5"/>
          <p:cNvSpPr/>
          <p:nvPr/>
        </p:nvSpPr>
        <p:spPr>
          <a:xfrm>
            <a:off x="1097280" y="2651760"/>
            <a:ext cx="10058400" cy="457200"/>
          </a:xfrm>
          <a:prstGeom prst="rect">
            <a:avLst/>
          </a:prstGeom>
          <a:noFill/>
          <a:ln/>
        </p:spPr>
        <p:txBody>
          <a:bodyPr wrap="square" lIns="0" tIns="0" rIns="0" bIns="0" rtlCol="0" anchor="ctr"/>
          <a:lstStyle/>
          <a:p>
            <a:pPr marL="0" indent="0">
              <a:buNone/>
            </a:pPr>
            <a:r>
              <a:rPr lang="ja-JP" sz="2200" b="1" dirty="0">
                <a:solidFill>
                  <a:srgbClr val="1A2238"/>
                </a:solidFill>
                <a:latin typeface="Noto Sans CJK JP" pitchFamily="34" charset="0"/>
                <a:ea typeface="Noto Sans CJK JP"/>
                <a:cs typeface="Noto Sans CJK JP" pitchFamily="34" charset="-120"/>
              </a:rPr>
              <a:t>体と群は逆対応</a:t>
            </a:r>
            <a:endParaRPr lang="en-US" sz="2200" dirty="0"/>
          </a:p>
        </p:txBody>
      </p:sp>
      <p:sp>
        <p:nvSpPr>
          <p:cNvPr id="8" name="Text 6"/>
          <p:cNvSpPr/>
          <p:nvPr/>
        </p:nvSpPr>
        <p:spPr>
          <a:xfrm>
            <a:off x="1097280" y="3108960"/>
            <a:ext cx="10058400" cy="457200"/>
          </a:xfrm>
          <a:prstGeom prst="rect">
            <a:avLst/>
          </a:prstGeom>
          <a:noFill/>
          <a:ln/>
        </p:spPr>
        <p:txBody>
          <a:bodyPr wrap="square" lIns="0" tIns="0" rIns="0" bIns="0" rtlCol="0" anchor="ctr"/>
          <a:lstStyle/>
          <a:p>
            <a:pPr marL="0" indent="0">
              <a:buNone/>
            </a:pPr>
            <a:r>
              <a:rPr lang="ja-JP" sz="1700" dirty="0">
                <a:solidFill>
                  <a:srgbClr val="6B7180"/>
                </a:solidFill>
                <a:latin typeface="Noto Sans CJK JP" pitchFamily="34" charset="0"/>
                <a:ea typeface="Noto Sans CJK JP"/>
                <a:cs typeface="Noto Sans CJK JP" pitchFamily="34" charset="-120"/>
              </a:rPr>
              <a:t>体が大きくなるほど対応する群は縮小する</a:t>
            </a:r>
            <a:endParaRPr lang="en-US" sz="1700" dirty="0"/>
          </a:p>
        </p:txBody>
      </p:sp>
      <p:sp>
        <p:nvSpPr>
          <p:cNvPr id="9" name="Shape 7"/>
          <p:cNvSpPr/>
          <p:nvPr/>
        </p:nvSpPr>
        <p:spPr>
          <a:xfrm>
            <a:off x="822960" y="3794760"/>
            <a:ext cx="82296" cy="960120"/>
          </a:xfrm>
          <a:prstGeom prst="rect">
            <a:avLst/>
          </a:prstGeom>
          <a:solidFill>
            <a:srgbClr val="0F9E8E"/>
          </a:solidFill>
          <a:ln/>
        </p:spPr>
        <p:txBody>
          <a:bodyPr/>
          <a:lstStyle/>
          <a:p>
            <a:endParaRPr/>
          </a:p>
        </p:txBody>
      </p:sp>
      <p:sp>
        <p:nvSpPr>
          <p:cNvPr id="10" name="Text 8"/>
          <p:cNvSpPr/>
          <p:nvPr/>
        </p:nvSpPr>
        <p:spPr>
          <a:xfrm>
            <a:off x="1097280" y="3794760"/>
            <a:ext cx="10058400" cy="457200"/>
          </a:xfrm>
          <a:prstGeom prst="rect">
            <a:avLst/>
          </a:prstGeom>
          <a:noFill/>
          <a:ln/>
        </p:spPr>
        <p:txBody>
          <a:bodyPr wrap="square" lIns="0" tIns="0" rIns="0" bIns="0" rtlCol="0" anchor="ctr"/>
          <a:lstStyle/>
          <a:p>
            <a:pPr marL="0" indent="0">
              <a:buNone/>
            </a:pPr>
            <a:r>
              <a:rPr lang="ja-JP" sz="2200" b="1" dirty="0">
                <a:solidFill>
                  <a:srgbClr val="1A2238"/>
                </a:solidFill>
                <a:latin typeface="Noto Sans CJK JP" pitchFamily="34" charset="0"/>
                <a:ea typeface="Noto Sans CJK JP"/>
                <a:cs typeface="Noto Sans CJK JP" pitchFamily="34" charset="-120"/>
              </a:rPr>
              <a:t>解ける = 縮小鎖が届く</a:t>
            </a:r>
            <a:endParaRPr lang="en-US" sz="2200" dirty="0"/>
          </a:p>
        </p:txBody>
      </p:sp>
      <p:sp>
        <p:nvSpPr>
          <p:cNvPr id="11" name="Text 9"/>
          <p:cNvSpPr/>
          <p:nvPr/>
        </p:nvSpPr>
        <p:spPr>
          <a:xfrm>
            <a:off x="1097280" y="4251960"/>
            <a:ext cx="10058400" cy="457200"/>
          </a:xfrm>
          <a:prstGeom prst="rect">
            <a:avLst/>
          </a:prstGeom>
          <a:noFill/>
          <a:ln/>
        </p:spPr>
        <p:txBody>
          <a:bodyPr wrap="square" lIns="0" tIns="0" rIns="0" bIns="0" rtlCol="0" anchor="ctr"/>
          <a:lstStyle/>
          <a:p>
            <a:pPr marL="0" indent="0">
              <a:buNone/>
            </a:pPr>
            <a:r>
              <a:rPr lang="ja-JP" sz="1700" dirty="0">
                <a:solidFill>
                  <a:srgbClr val="6B7180"/>
                </a:solidFill>
                <a:latin typeface="Noto Sans CJK JP" pitchFamily="34" charset="0"/>
                <a:ea typeface="Noto Sans CJK JP"/>
                <a:cs typeface="Noto Sans CJK JP" pitchFamily="34" charset="-120"/>
              </a:rPr>
              <a:t>各段が巡回群の商で {e} まで縮小できるか</a:t>
            </a:r>
            <a:endParaRPr lang="en-US" sz="1700" dirty="0"/>
          </a:p>
        </p:txBody>
      </p:sp>
      <p:sp>
        <p:nvSpPr>
          <p:cNvPr id="12" name="Shape 10"/>
          <p:cNvSpPr/>
          <p:nvPr/>
        </p:nvSpPr>
        <p:spPr>
          <a:xfrm>
            <a:off x="822960" y="4937760"/>
            <a:ext cx="82296" cy="960120"/>
          </a:xfrm>
          <a:prstGeom prst="rect">
            <a:avLst/>
          </a:prstGeom>
          <a:solidFill>
            <a:srgbClr val="D8593A"/>
          </a:solidFill>
          <a:ln/>
        </p:spPr>
        <p:txBody>
          <a:bodyPr/>
          <a:lstStyle/>
          <a:p>
            <a:endParaRPr/>
          </a:p>
        </p:txBody>
      </p:sp>
      <p:sp>
        <p:nvSpPr>
          <p:cNvPr id="13" name="Text 11"/>
          <p:cNvSpPr/>
          <p:nvPr/>
        </p:nvSpPr>
        <p:spPr>
          <a:xfrm>
            <a:off x="1097280" y="4937760"/>
            <a:ext cx="10058400" cy="457200"/>
          </a:xfrm>
          <a:prstGeom prst="rect">
            <a:avLst/>
          </a:prstGeom>
          <a:noFill/>
          <a:ln/>
        </p:spPr>
        <p:txBody>
          <a:bodyPr wrap="square" lIns="0" tIns="0" rIns="0" bIns="0" rtlCol="0" anchor="ctr"/>
          <a:lstStyle/>
          <a:p>
            <a:pPr marL="0" indent="0">
              <a:buNone/>
            </a:pPr>
            <a:r>
              <a:rPr lang="ja-JP" sz="2200" b="1" dirty="0">
                <a:solidFill>
                  <a:srgbClr val="1A2238"/>
                </a:solidFill>
                <a:latin typeface="Noto Sans CJK JP" pitchFamily="34" charset="0"/>
                <a:ea typeface="Noto Sans CJK JP"/>
                <a:cs typeface="Noto Sans CJK JP" pitchFamily="34" charset="-120"/>
              </a:rPr>
              <a:t>5次の壁は A₅</a:t>
            </a:r>
            <a:endParaRPr lang="en-US" sz="2200" dirty="0"/>
          </a:p>
        </p:txBody>
      </p:sp>
      <p:sp>
        <p:nvSpPr>
          <p:cNvPr id="14" name="Text 12"/>
          <p:cNvSpPr/>
          <p:nvPr/>
        </p:nvSpPr>
        <p:spPr>
          <a:xfrm>
            <a:off x="1097280" y="5394960"/>
            <a:ext cx="10058400" cy="457200"/>
          </a:xfrm>
          <a:prstGeom prst="rect">
            <a:avLst/>
          </a:prstGeom>
          <a:noFill/>
          <a:ln/>
        </p:spPr>
        <p:txBody>
          <a:bodyPr wrap="square" lIns="0" tIns="0" rIns="0" bIns="0" rtlCol="0" anchor="ctr"/>
          <a:lstStyle/>
          <a:p>
            <a:pPr marL="0" indent="0">
              <a:buNone/>
            </a:pPr>
            <a:r>
              <a:rPr lang="ja-JP" sz="1700" dirty="0">
                <a:solidFill>
                  <a:srgbClr val="6B7180"/>
                </a:solidFill>
                <a:latin typeface="Noto Sans CJK JP" pitchFamily="34" charset="0"/>
                <a:ea typeface="Noto Sans CJK JP"/>
                <a:cs typeface="Noto Sans CJK JP" pitchFamily="34" charset="-120"/>
              </a:rPr>
              <a:t>単純かつ非可換だから縮小鎖が途切れる</a:t>
            </a:r>
            <a:endParaRPr lang="en-US" sz="1700" dirty="0"/>
          </a:p>
        </p:txBody>
      </p:sp>
      <p:sp>
        <p:nvSpPr>
          <p:cNvPr id="15" name="Text 13"/>
          <p:cNvSpPr/>
          <p:nvPr/>
        </p:nvSpPr>
        <p:spPr>
          <a:xfrm>
            <a:off x="11338560" y="6355080"/>
            <a:ext cx="457200" cy="274320"/>
          </a:xfrm>
          <a:prstGeom prst="rect">
            <a:avLst/>
          </a:prstGeom>
          <a:noFill/>
          <a:ln/>
        </p:spPr>
        <p:txBody>
          <a:bodyPr wrap="square" lIns="0" tIns="0" rIns="0" bIns="0" rtlCol="0" anchor="ctr"/>
          <a:lstStyle/>
          <a:p>
            <a:pPr marL="0" indent="0" algn="r">
              <a:buNone/>
            </a:pPr>
            <a:r>
              <a:rPr lang="ja-JP" sz="1100" dirty="0">
                <a:solidFill>
                  <a:srgbClr val="6B7180"/>
                </a:solidFill>
                <a:latin typeface="Noto Sans CJK JP" pitchFamily="34" charset="0"/>
                <a:ea typeface="Noto Sans CJK JP"/>
                <a:cs typeface="Noto Sans CJK JP" pitchFamily="34" charset="-120"/>
              </a:rPr>
              <a:t>11</a:t>
            </a:r>
            <a:endParaRPr lang="en-US" sz="1100" dirty="0"/>
          </a:p>
        </p:txBody>
      </p:sp>
      <p:sp>
        <p:nvSpPr>
          <p:cNvPr id="16" name="Text 14"/>
          <p:cNvSpPr/>
          <p:nvPr/>
        </p:nvSpPr>
        <p:spPr>
          <a:xfrm>
            <a:off x="457200" y="6355080"/>
            <a:ext cx="4572000" cy="274320"/>
          </a:xfrm>
          <a:prstGeom prst="rect">
            <a:avLst/>
          </a:prstGeom>
          <a:noFill/>
          <a:ln/>
        </p:spPr>
        <p:txBody>
          <a:bodyPr wrap="square" lIns="0" tIns="0" rIns="0" bIns="0" rtlCol="0" anchor="ctr"/>
          <a:lstStyle/>
          <a:p>
            <a:pPr marL="0" indent="0" algn="l">
              <a:buNone/>
            </a:pPr>
            <a:r>
              <a:rPr lang="ja-JP" sz="1000" dirty="0">
                <a:solidFill>
                  <a:srgbClr val="6B7180"/>
                </a:solidFill>
                <a:latin typeface="Noto Sans CJK JP" pitchFamily="34" charset="0"/>
                <a:ea typeface="Noto Sans CJK JP"/>
                <a:cs typeface="Noto Sans CJK JP" pitchFamily="34" charset="-120"/>
              </a:rPr>
              <a:t>5garashi.com 設計事務所</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2238"/>
        </a:solidFill>
        <a:effectLst/>
      </p:bgPr>
    </p:bg>
    <p:spTree>
      <p:nvGrpSpPr>
        <p:cNvPr id="1" name=""/>
        <p:cNvGrpSpPr/>
        <p:nvPr/>
      </p:nvGrpSpPr>
      <p:grpSpPr>
        <a:xfrm>
          <a:off x="0" y="0"/>
          <a:ext cx="0" cy="0"/>
          <a:chOff x="0" y="0"/>
          <a:chExt cx="0" cy="0"/>
        </a:xfrm>
      </p:grpSpPr>
      <p:sp>
        <p:nvSpPr>
          <p:cNvPr id="2" name="Text 0"/>
          <p:cNvSpPr/>
          <p:nvPr/>
        </p:nvSpPr>
        <p:spPr>
          <a:xfrm>
            <a:off x="1005840" y="2331720"/>
            <a:ext cx="10515600" cy="548640"/>
          </a:xfrm>
          <a:prstGeom prst="rect">
            <a:avLst/>
          </a:prstGeom>
          <a:noFill/>
          <a:ln/>
        </p:spPr>
        <p:txBody>
          <a:bodyPr wrap="square" lIns="0" tIns="0" rIns="0" bIns="0" rtlCol="0" anchor="ctr"/>
          <a:lstStyle/>
          <a:p>
            <a:pPr marL="0" indent="0">
              <a:buNone/>
            </a:pPr>
            <a:r>
              <a:rPr lang="ja-JP" sz="2200" b="1" dirty="0">
                <a:solidFill>
                  <a:srgbClr val="0F9E8E"/>
                </a:solidFill>
                <a:latin typeface="Noto Sans CJK JP" pitchFamily="34" charset="0"/>
                <a:ea typeface="Noto Sans CJK JP"/>
                <a:cs typeface="Noto Sans CJK JP" pitchFamily="34" charset="-120"/>
              </a:rPr>
              <a:t>補論</a:t>
            </a:r>
            <a:endParaRPr lang="en-US" sz="2200" dirty="0"/>
          </a:p>
        </p:txBody>
      </p:sp>
      <p:sp>
        <p:nvSpPr>
          <p:cNvPr id="3" name="Text 1"/>
          <p:cNvSpPr/>
          <p:nvPr/>
        </p:nvSpPr>
        <p:spPr>
          <a:xfrm>
            <a:off x="1005840" y="2880360"/>
            <a:ext cx="10515600" cy="914400"/>
          </a:xfrm>
          <a:prstGeom prst="rect">
            <a:avLst/>
          </a:prstGeom>
          <a:noFill/>
          <a:ln/>
        </p:spPr>
        <p:txBody>
          <a:bodyPr wrap="square" lIns="0" tIns="0" rIns="0" bIns="0" rtlCol="0" anchor="ctr"/>
          <a:lstStyle/>
          <a:p>
            <a:pPr marL="0" indent="0">
              <a:buNone/>
            </a:pPr>
            <a:r>
              <a:rPr lang="ja-JP" sz="3800" b="1" dirty="0">
                <a:solidFill>
                  <a:srgbClr val="FFFFFF"/>
                </a:solidFill>
                <a:latin typeface="Noto Sans CJK JP" pitchFamily="34" charset="0"/>
                <a:ea typeface="Noto Sans CJK JP"/>
                <a:cs typeface="Noto Sans CJK JP" pitchFamily="34" charset="-120"/>
              </a:rPr>
              <a:t>べき根と四則演算で方程式を解くということ</a:t>
            </a:r>
            <a:endParaRPr lang="en-US" sz="3800" dirty="0"/>
          </a:p>
        </p:txBody>
      </p:sp>
      <p:sp>
        <p:nvSpPr>
          <p:cNvPr id="4" name="Text 2"/>
          <p:cNvSpPr/>
          <p:nvPr/>
        </p:nvSpPr>
        <p:spPr>
          <a:xfrm>
            <a:off x="1024128" y="3931920"/>
            <a:ext cx="10515600" cy="457200"/>
          </a:xfrm>
          <a:prstGeom prst="rect">
            <a:avLst/>
          </a:prstGeom>
          <a:noFill/>
          <a:ln/>
        </p:spPr>
        <p:txBody>
          <a:bodyPr wrap="square" lIns="0" tIns="0" rIns="0" bIns="0" rtlCol="0" anchor="ctr"/>
          <a:lstStyle/>
          <a:p>
            <a:pPr marL="0" indent="0">
              <a:buNone/>
            </a:pPr>
            <a:r>
              <a:rPr lang="ja-JP" sz="1800" i="1" dirty="0">
                <a:solidFill>
                  <a:srgbClr val="8A93A8"/>
                </a:solidFill>
                <a:latin typeface="Noto Sans CJK JP" pitchFamily="34" charset="0"/>
                <a:ea typeface="Noto Sans CJK JP"/>
                <a:cs typeface="Noto Sans CJK JP" pitchFamily="34" charset="-120"/>
              </a:rPr>
              <a:t>具体例でたどる、ガロア群の縮小と体の拡大</a:t>
            </a:r>
            <a:endParaRPr lang="en-US" sz="1800" dirty="0"/>
          </a:p>
        </p:txBody>
      </p:sp>
      <p:sp>
        <p:nvSpPr>
          <p:cNvPr id="5" name="Shape 3"/>
          <p:cNvSpPr/>
          <p:nvPr/>
        </p:nvSpPr>
        <p:spPr>
          <a:xfrm>
            <a:off x="822960" y="2377440"/>
            <a:ext cx="64008" cy="457200"/>
          </a:xfrm>
          <a:prstGeom prst="rect">
            <a:avLst/>
          </a:prstGeom>
          <a:solidFill>
            <a:srgbClr val="0F9E8E"/>
          </a:solidFill>
          <a:ln/>
        </p:spPr>
        <p:txBody>
          <a:bodyPr/>
          <a:lstStyle/>
          <a:p>
            <a:endParaRPr/>
          </a:p>
        </p:txBody>
      </p:sp>
      <p:sp>
        <p:nvSpPr>
          <p:cNvPr id="6" name="Text 4"/>
          <p:cNvSpPr/>
          <p:nvPr/>
        </p:nvSpPr>
        <p:spPr>
          <a:xfrm>
            <a:off x="11338560" y="6355080"/>
            <a:ext cx="457200" cy="274320"/>
          </a:xfrm>
          <a:prstGeom prst="rect">
            <a:avLst/>
          </a:prstGeom>
          <a:noFill/>
          <a:ln/>
        </p:spPr>
        <p:txBody>
          <a:bodyPr wrap="square" lIns="0" tIns="0" rIns="0" bIns="0" rtlCol="0" anchor="ctr"/>
          <a:lstStyle/>
          <a:p>
            <a:pPr marL="0" indent="0" algn="r">
              <a:buNone/>
            </a:pPr>
            <a:r>
              <a:rPr lang="ja-JP" sz="1100" dirty="0">
                <a:solidFill>
                  <a:srgbClr val="8A93A8"/>
                </a:solidFill>
                <a:latin typeface="Noto Sans CJK JP" pitchFamily="34" charset="0"/>
                <a:ea typeface="Noto Sans CJK JP"/>
                <a:cs typeface="Noto Sans CJK JP" pitchFamily="34" charset="-120"/>
              </a:rPr>
              <a:t>12</a:t>
            </a:r>
            <a:endParaRPr lang="en-US" sz="1100" dirty="0"/>
          </a:p>
        </p:txBody>
      </p:sp>
      <p:sp>
        <p:nvSpPr>
          <p:cNvPr id="7" name="Text 5"/>
          <p:cNvSpPr/>
          <p:nvPr/>
        </p:nvSpPr>
        <p:spPr>
          <a:xfrm>
            <a:off x="457200" y="6355080"/>
            <a:ext cx="4572000" cy="274320"/>
          </a:xfrm>
          <a:prstGeom prst="rect">
            <a:avLst/>
          </a:prstGeom>
          <a:noFill/>
          <a:ln/>
        </p:spPr>
        <p:txBody>
          <a:bodyPr wrap="square" lIns="0" tIns="0" rIns="0" bIns="0" rtlCol="0" anchor="ctr"/>
          <a:lstStyle/>
          <a:p>
            <a:pPr marL="0" indent="0" algn="l">
              <a:buNone/>
            </a:pPr>
            <a:r>
              <a:rPr lang="ja-JP" sz="1000" dirty="0">
                <a:solidFill>
                  <a:srgbClr val="8A93A8"/>
                </a:solidFill>
                <a:latin typeface="Noto Sans CJK JP" pitchFamily="34" charset="0"/>
                <a:ea typeface="Noto Sans CJK JP"/>
                <a:cs typeface="Noto Sans CJK JP" pitchFamily="34" charset="-120"/>
              </a:rPr>
              <a:t>5garashi.com 設計事務所</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146304" cy="146304"/>
          </a:xfrm>
          <a:prstGeom prst="ellipse">
            <a:avLst/>
          </a:prstGeom>
          <a:solidFill>
            <a:srgbClr val="0F9E8E"/>
          </a:solidFill>
          <a:ln/>
        </p:spPr>
        <p:txBody>
          <a:bodyPr/>
          <a:lstStyle/>
          <a:p>
            <a:endParaRPr/>
          </a:p>
        </p:txBody>
      </p:sp>
      <p:sp>
        <p:nvSpPr>
          <p:cNvPr id="3" name="Text 1"/>
          <p:cNvSpPr/>
          <p:nvPr/>
        </p:nvSpPr>
        <p:spPr>
          <a:xfrm>
            <a:off x="896112" y="393192"/>
            <a:ext cx="5486400" cy="365760"/>
          </a:xfrm>
          <a:prstGeom prst="rect">
            <a:avLst/>
          </a:prstGeom>
          <a:noFill/>
          <a:ln/>
        </p:spPr>
        <p:txBody>
          <a:bodyPr wrap="square" lIns="0" tIns="0" rIns="0" bIns="0" rtlCol="0" anchor="ctr"/>
          <a:lstStyle/>
          <a:p>
            <a:pPr marL="0" indent="0">
              <a:buNone/>
            </a:pPr>
            <a:r>
              <a:rPr lang="ja-JP" sz="1600" b="1" dirty="0">
                <a:solidFill>
                  <a:srgbClr val="0F9E8E"/>
                </a:solidFill>
                <a:latin typeface="Noto Sans CJK JP" pitchFamily="34" charset="0"/>
                <a:ea typeface="Noto Sans CJK JP"/>
                <a:cs typeface="Noto Sans CJK JP" pitchFamily="34" charset="-120"/>
              </a:rPr>
              <a:t>補論 1</a:t>
            </a:r>
            <a:endParaRPr lang="en-US" sz="1600" dirty="0"/>
          </a:p>
        </p:txBody>
      </p:sp>
      <p:sp>
        <p:nvSpPr>
          <p:cNvPr id="4" name="Text 2"/>
          <p:cNvSpPr/>
          <p:nvPr/>
        </p:nvSpPr>
        <p:spPr>
          <a:xfrm>
            <a:off x="640080" y="822960"/>
            <a:ext cx="10972800" cy="640080"/>
          </a:xfrm>
          <a:prstGeom prst="rect">
            <a:avLst/>
          </a:prstGeom>
          <a:noFill/>
          <a:ln/>
        </p:spPr>
        <p:txBody>
          <a:bodyPr wrap="square" lIns="0" tIns="0" rIns="0" bIns="0" rtlCol="0" anchor="ctr"/>
          <a:lstStyle/>
          <a:p>
            <a:pPr marL="0" indent="0">
              <a:buNone/>
            </a:pPr>
            <a:r>
              <a:rPr lang="ja-JP" sz="3000" b="1" dirty="0">
                <a:solidFill>
                  <a:srgbClr val="1A2238"/>
                </a:solidFill>
                <a:latin typeface="Noto Sans CJK JP" pitchFamily="34" charset="0"/>
                <a:ea typeface="Noto Sans CJK JP"/>
                <a:cs typeface="Noto Sans CJK JP" pitchFamily="34" charset="-120"/>
              </a:rPr>
              <a:t>根を「定義」して方程式を解く</a:t>
            </a:r>
            <a:endParaRPr lang="en-US" sz="3000" dirty="0"/>
          </a:p>
        </p:txBody>
      </p:sp>
      <p:sp>
        <p:nvSpPr>
          <p:cNvPr id="5" name="Text 3"/>
          <p:cNvSpPr/>
          <p:nvPr/>
        </p:nvSpPr>
        <p:spPr>
          <a:xfrm>
            <a:off x="640080" y="1508760"/>
            <a:ext cx="10881360" cy="1371600"/>
          </a:xfrm>
          <a:prstGeom prst="rect">
            <a:avLst/>
          </a:prstGeom>
          <a:noFill/>
          <a:ln/>
        </p:spPr>
        <p:txBody>
          <a:bodyPr wrap="square" lIns="0" tIns="0" rIns="0" bIns="0" rtlCol="0" anchor="ctr"/>
          <a:lstStyle/>
          <a:p>
            <a:pPr marL="0" indent="0">
              <a:lnSpc>
                <a:spcPct val="125000"/>
              </a:lnSpc>
              <a:buNone/>
            </a:pPr>
            <a:r>
              <a:rPr lang="ja-JP" sz="1500" dirty="0">
                <a:solidFill>
                  <a:srgbClr val="33384A"/>
                </a:solidFill>
                <a:latin typeface="Noto Sans CJK JP" pitchFamily="34" charset="0"/>
                <a:ea typeface="Noto Sans CJK JP"/>
                <a:cs typeface="Noto Sans CJK JP" pitchFamily="34" charset="-120"/>
              </a:rPr>
              <a:t>有理数の世界(有理数体 Q)には x²−2=0 の根 √2, −√2 が存在しない。解くには √2 を新たに定義(添加)する必要がある。</a:t>
            </a:r>
            <a:endParaRPr lang="en-US" sz="1500" dirty="0"/>
          </a:p>
          <a:p>
            <a:pPr marL="0" indent="0">
              <a:lnSpc>
                <a:spcPct val="125000"/>
              </a:lnSpc>
              <a:buNone/>
            </a:pPr>
            <a:r>
              <a:rPr lang="ja-JP" sz="1500" dirty="0">
                <a:solidFill>
                  <a:srgbClr val="33384A"/>
                </a:solidFill>
                <a:latin typeface="Noto Sans CJK JP" pitchFamily="34" charset="0"/>
                <a:ea typeface="Noto Sans CJK JP"/>
                <a:cs typeface="Noto Sans CJK JP" pitchFamily="34" charset="-120"/>
              </a:rPr>
              <a:t>√2 を添加すると (x−√2)(x+√2)=0 と書けて根が確定する。Q 上では根が2つあるとわかるが値は特定できず、√2 と −√2 は Q からは区別がつかない。だから Q に知られないまま2つの根を入れ替えられる。この入れ替えの全パターンがガロア群である。</a:t>
            </a:r>
            <a:endParaRPr lang="en-US" sz="1500" dirty="0"/>
          </a:p>
        </p:txBody>
      </p:sp>
      <p:sp>
        <p:nvSpPr>
          <p:cNvPr id="6" name="Shape 4"/>
          <p:cNvSpPr/>
          <p:nvPr/>
        </p:nvSpPr>
        <p:spPr>
          <a:xfrm>
            <a:off x="640080" y="3063240"/>
            <a:ext cx="10881360" cy="960120"/>
          </a:xfrm>
          <a:prstGeom prst="roundRect">
            <a:avLst>
              <a:gd name="adj" fmla="val 7619"/>
            </a:avLst>
          </a:prstGeom>
          <a:solidFill>
            <a:srgbClr val="F4F6FA"/>
          </a:solidFill>
          <a:ln/>
        </p:spPr>
        <p:txBody>
          <a:bodyPr/>
          <a:lstStyle/>
          <a:p>
            <a:endParaRPr/>
          </a:p>
        </p:txBody>
      </p:sp>
      <p:sp>
        <p:nvSpPr>
          <p:cNvPr id="7" name="Text 5"/>
          <p:cNvSpPr/>
          <p:nvPr/>
        </p:nvSpPr>
        <p:spPr>
          <a:xfrm>
            <a:off x="868680" y="3136392"/>
            <a:ext cx="2468880" cy="822960"/>
          </a:xfrm>
          <a:prstGeom prst="rect">
            <a:avLst/>
          </a:prstGeom>
          <a:noFill/>
          <a:ln/>
        </p:spPr>
        <p:txBody>
          <a:bodyPr wrap="square" lIns="0" tIns="0" rIns="0" bIns="0" rtlCol="0" anchor="ctr"/>
          <a:lstStyle/>
          <a:p>
            <a:pPr marL="0" indent="0">
              <a:buNone/>
            </a:pPr>
            <a:r>
              <a:rPr lang="ja-JP" sz="1800" b="1" dirty="0">
                <a:solidFill>
                  <a:srgbClr val="1A2238"/>
                </a:solidFill>
                <a:latin typeface="Noto Sans CJK JP" pitchFamily="34" charset="0"/>
                <a:ea typeface="Noto Sans CJK JP"/>
                <a:cs typeface="Noto Sans CJK JP" pitchFamily="34" charset="-120"/>
              </a:rPr>
              <a:t>x² − 2 = 0</a:t>
            </a:r>
            <a:endParaRPr lang="en-US" sz="1800" dirty="0"/>
          </a:p>
        </p:txBody>
      </p:sp>
      <p:sp>
        <p:nvSpPr>
          <p:cNvPr id="8" name="Text 6"/>
          <p:cNvSpPr/>
          <p:nvPr/>
        </p:nvSpPr>
        <p:spPr>
          <a:xfrm>
            <a:off x="3200400" y="3136392"/>
            <a:ext cx="2743200" cy="822960"/>
          </a:xfrm>
          <a:prstGeom prst="rect">
            <a:avLst/>
          </a:prstGeom>
          <a:noFill/>
          <a:ln/>
        </p:spPr>
        <p:txBody>
          <a:bodyPr wrap="square" lIns="0" tIns="0" rIns="0" bIns="0" rtlCol="0" anchor="ctr"/>
          <a:lstStyle/>
          <a:p>
            <a:pPr marL="0" indent="0">
              <a:buNone/>
            </a:pPr>
            <a:r>
              <a:rPr lang="ja-JP" sz="1400" dirty="0">
                <a:solidFill>
                  <a:srgbClr val="33384A"/>
                </a:solidFill>
                <a:latin typeface="Noto Sans CJK JP" pitchFamily="34" charset="0"/>
                <a:ea typeface="Noto Sans CJK JP"/>
                <a:cs typeface="Noto Sans CJK JP" pitchFamily="34" charset="-120"/>
              </a:rPr>
              <a:t>根:√2, −√2</a:t>
            </a:r>
            <a:endParaRPr lang="en-US" sz="1400" dirty="0"/>
          </a:p>
        </p:txBody>
      </p:sp>
      <p:sp>
        <p:nvSpPr>
          <p:cNvPr id="9" name="Text 7"/>
          <p:cNvSpPr/>
          <p:nvPr/>
        </p:nvSpPr>
        <p:spPr>
          <a:xfrm>
            <a:off x="5943600" y="3136392"/>
            <a:ext cx="2926080" cy="822960"/>
          </a:xfrm>
          <a:prstGeom prst="rect">
            <a:avLst/>
          </a:prstGeom>
          <a:noFill/>
          <a:ln/>
        </p:spPr>
        <p:txBody>
          <a:bodyPr wrap="square" lIns="0" tIns="0" rIns="0" bIns="0" rtlCol="0" anchor="ctr"/>
          <a:lstStyle/>
          <a:p>
            <a:pPr marL="0" indent="0">
              <a:buNone/>
            </a:pPr>
            <a:r>
              <a:rPr lang="ja-JP" sz="1400" b="1" dirty="0">
                <a:solidFill>
                  <a:srgbClr val="3457A6"/>
                </a:solidFill>
                <a:latin typeface="Noto Sans CJK JP" pitchFamily="34" charset="0"/>
                <a:ea typeface="Noto Sans CJK JP"/>
                <a:cs typeface="Noto Sans CJK JP" pitchFamily="34" charset="-120"/>
              </a:rPr>
              <a:t>Gal(K/Q) = { e, (1 2) }</a:t>
            </a:r>
            <a:endParaRPr lang="en-US" sz="1400" dirty="0"/>
          </a:p>
        </p:txBody>
      </p:sp>
      <p:sp>
        <p:nvSpPr>
          <p:cNvPr id="10" name="Text 8"/>
          <p:cNvSpPr/>
          <p:nvPr/>
        </p:nvSpPr>
        <p:spPr>
          <a:xfrm>
            <a:off x="8869680" y="3136392"/>
            <a:ext cx="2468880" cy="822960"/>
          </a:xfrm>
          <a:prstGeom prst="rect">
            <a:avLst/>
          </a:prstGeom>
          <a:noFill/>
          <a:ln/>
        </p:spPr>
        <p:txBody>
          <a:bodyPr wrap="square" lIns="0" tIns="0" rIns="0" bIns="0" rtlCol="0" anchor="ctr"/>
          <a:lstStyle/>
          <a:p>
            <a:pPr marL="0" indent="0">
              <a:buNone/>
            </a:pPr>
            <a:r>
              <a:rPr lang="ja-JP" sz="1150" dirty="0">
                <a:solidFill>
                  <a:srgbClr val="6B7180"/>
                </a:solidFill>
                <a:latin typeface="Noto Sans CJK JP" pitchFamily="34" charset="0"/>
                <a:ea typeface="Noto Sans CJK JP"/>
                <a:cs typeface="Noto Sans CJK JP" pitchFamily="34" charset="-120"/>
              </a:rPr>
              <a:t>√2 と −√2 を入れ替える位数2の群。K=Q(√2)。</a:t>
            </a:r>
            <a:endParaRPr lang="en-US" sz="1150" dirty="0"/>
          </a:p>
        </p:txBody>
      </p:sp>
      <p:sp>
        <p:nvSpPr>
          <p:cNvPr id="11" name="Shape 9"/>
          <p:cNvSpPr/>
          <p:nvPr/>
        </p:nvSpPr>
        <p:spPr>
          <a:xfrm>
            <a:off x="640080" y="4114800"/>
            <a:ext cx="10881360" cy="960120"/>
          </a:xfrm>
          <a:prstGeom prst="roundRect">
            <a:avLst>
              <a:gd name="adj" fmla="val 7619"/>
            </a:avLst>
          </a:prstGeom>
          <a:solidFill>
            <a:srgbClr val="F4F6FA"/>
          </a:solidFill>
          <a:ln/>
        </p:spPr>
        <p:txBody>
          <a:bodyPr/>
          <a:lstStyle/>
          <a:p>
            <a:endParaRPr/>
          </a:p>
        </p:txBody>
      </p:sp>
      <p:sp>
        <p:nvSpPr>
          <p:cNvPr id="12" name="Text 10"/>
          <p:cNvSpPr/>
          <p:nvPr/>
        </p:nvSpPr>
        <p:spPr>
          <a:xfrm>
            <a:off x="868680" y="4187952"/>
            <a:ext cx="2468880" cy="822960"/>
          </a:xfrm>
          <a:prstGeom prst="rect">
            <a:avLst/>
          </a:prstGeom>
          <a:noFill/>
          <a:ln/>
        </p:spPr>
        <p:txBody>
          <a:bodyPr wrap="square" lIns="0" tIns="0" rIns="0" bIns="0" rtlCol="0" anchor="ctr"/>
          <a:lstStyle/>
          <a:p>
            <a:pPr marL="0" indent="0">
              <a:buNone/>
            </a:pPr>
            <a:r>
              <a:rPr lang="ja-JP" sz="1800" b="1" dirty="0">
                <a:solidFill>
                  <a:srgbClr val="1A2238"/>
                </a:solidFill>
                <a:latin typeface="Noto Sans CJK JP" pitchFamily="34" charset="0"/>
                <a:ea typeface="Noto Sans CJK JP"/>
                <a:cs typeface="Noto Sans CJK JP" pitchFamily="34" charset="-120"/>
              </a:rPr>
              <a:t>x³ − 1 = 0</a:t>
            </a:r>
            <a:endParaRPr lang="en-US" sz="1800" dirty="0"/>
          </a:p>
        </p:txBody>
      </p:sp>
      <p:sp>
        <p:nvSpPr>
          <p:cNvPr id="13" name="Text 11"/>
          <p:cNvSpPr/>
          <p:nvPr/>
        </p:nvSpPr>
        <p:spPr>
          <a:xfrm>
            <a:off x="3200400" y="4187952"/>
            <a:ext cx="2743200" cy="822960"/>
          </a:xfrm>
          <a:prstGeom prst="rect">
            <a:avLst/>
          </a:prstGeom>
          <a:noFill/>
          <a:ln/>
        </p:spPr>
        <p:txBody>
          <a:bodyPr wrap="square" lIns="0" tIns="0" rIns="0" bIns="0" rtlCol="0" anchor="ctr"/>
          <a:lstStyle/>
          <a:p>
            <a:pPr marL="0" indent="0">
              <a:buNone/>
            </a:pPr>
            <a:r>
              <a:rPr lang="ja-JP" sz="1400" dirty="0">
                <a:solidFill>
                  <a:srgbClr val="33384A"/>
                </a:solidFill>
                <a:latin typeface="Noto Sans CJK JP" pitchFamily="34" charset="0"/>
                <a:ea typeface="Noto Sans CJK JP"/>
                <a:cs typeface="Noto Sans CJK JP" pitchFamily="34" charset="-120"/>
              </a:rPr>
              <a:t>根:1, ω, ω²</a:t>
            </a:r>
            <a:endParaRPr lang="en-US" sz="1400" dirty="0"/>
          </a:p>
        </p:txBody>
      </p:sp>
      <p:sp>
        <p:nvSpPr>
          <p:cNvPr id="14" name="Text 12"/>
          <p:cNvSpPr/>
          <p:nvPr/>
        </p:nvSpPr>
        <p:spPr>
          <a:xfrm>
            <a:off x="5943600" y="4187952"/>
            <a:ext cx="2926080" cy="822960"/>
          </a:xfrm>
          <a:prstGeom prst="rect">
            <a:avLst/>
          </a:prstGeom>
          <a:noFill/>
          <a:ln/>
        </p:spPr>
        <p:txBody>
          <a:bodyPr wrap="square" lIns="0" tIns="0" rIns="0" bIns="0" rtlCol="0" anchor="ctr"/>
          <a:lstStyle/>
          <a:p>
            <a:pPr marL="0" indent="0">
              <a:buNone/>
            </a:pPr>
            <a:r>
              <a:rPr lang="ja-JP" sz="1400" b="1" dirty="0">
                <a:solidFill>
                  <a:srgbClr val="3457A6"/>
                </a:solidFill>
                <a:latin typeface="Noto Sans CJK JP" pitchFamily="34" charset="0"/>
                <a:ea typeface="Noto Sans CJK JP"/>
                <a:cs typeface="Noto Sans CJK JP" pitchFamily="34" charset="-120"/>
              </a:rPr>
              <a:t>Gal(K/Q) = { e, (ω ω²) }</a:t>
            </a:r>
            <a:endParaRPr lang="en-US" sz="1400" dirty="0"/>
          </a:p>
        </p:txBody>
      </p:sp>
      <p:sp>
        <p:nvSpPr>
          <p:cNvPr id="15" name="Text 13"/>
          <p:cNvSpPr/>
          <p:nvPr/>
        </p:nvSpPr>
        <p:spPr>
          <a:xfrm>
            <a:off x="8869680" y="4187952"/>
            <a:ext cx="2468880" cy="822960"/>
          </a:xfrm>
          <a:prstGeom prst="rect">
            <a:avLst/>
          </a:prstGeom>
          <a:noFill/>
          <a:ln/>
        </p:spPr>
        <p:txBody>
          <a:bodyPr wrap="square" lIns="0" tIns="0" rIns="0" bIns="0" rtlCol="0" anchor="ctr"/>
          <a:lstStyle/>
          <a:p>
            <a:pPr marL="0" indent="0">
              <a:buNone/>
            </a:pPr>
            <a:r>
              <a:rPr lang="ja-JP" sz="1150" dirty="0">
                <a:solidFill>
                  <a:srgbClr val="6B7180"/>
                </a:solidFill>
                <a:latin typeface="Noto Sans CJK JP" pitchFamily="34" charset="0"/>
                <a:ea typeface="Noto Sans CJK JP"/>
                <a:cs typeface="Noto Sans CJK JP" pitchFamily="34" charset="-120"/>
              </a:rPr>
              <a:t>1 は既知。未知は ω, ω² の2つで位数2。</a:t>
            </a:r>
            <a:endParaRPr lang="en-US" sz="1150" dirty="0"/>
          </a:p>
        </p:txBody>
      </p:sp>
      <p:sp>
        <p:nvSpPr>
          <p:cNvPr id="16" name="Shape 14"/>
          <p:cNvSpPr/>
          <p:nvPr/>
        </p:nvSpPr>
        <p:spPr>
          <a:xfrm>
            <a:off x="640080" y="5166360"/>
            <a:ext cx="10881360" cy="960120"/>
          </a:xfrm>
          <a:prstGeom prst="roundRect">
            <a:avLst>
              <a:gd name="adj" fmla="val 7619"/>
            </a:avLst>
          </a:prstGeom>
          <a:solidFill>
            <a:srgbClr val="F4F6FA"/>
          </a:solidFill>
          <a:ln/>
        </p:spPr>
        <p:txBody>
          <a:bodyPr/>
          <a:lstStyle/>
          <a:p>
            <a:endParaRPr/>
          </a:p>
        </p:txBody>
      </p:sp>
      <p:sp>
        <p:nvSpPr>
          <p:cNvPr id="17" name="Text 15"/>
          <p:cNvSpPr/>
          <p:nvPr/>
        </p:nvSpPr>
        <p:spPr>
          <a:xfrm>
            <a:off x="868680" y="5239512"/>
            <a:ext cx="2468880" cy="822960"/>
          </a:xfrm>
          <a:prstGeom prst="rect">
            <a:avLst/>
          </a:prstGeom>
          <a:noFill/>
          <a:ln/>
        </p:spPr>
        <p:txBody>
          <a:bodyPr wrap="square" lIns="0" tIns="0" rIns="0" bIns="0" rtlCol="0" anchor="ctr"/>
          <a:lstStyle/>
          <a:p>
            <a:pPr marL="0" indent="0">
              <a:buNone/>
            </a:pPr>
            <a:r>
              <a:rPr lang="ja-JP" sz="1800" b="1" dirty="0">
                <a:solidFill>
                  <a:srgbClr val="1A2238"/>
                </a:solidFill>
                <a:latin typeface="Noto Sans CJK JP" pitchFamily="34" charset="0"/>
                <a:ea typeface="Noto Sans CJK JP"/>
                <a:cs typeface="Noto Sans CJK JP" pitchFamily="34" charset="-120"/>
              </a:rPr>
              <a:t>x³ − 2 = 0</a:t>
            </a:r>
            <a:endParaRPr lang="en-US" sz="1800" dirty="0"/>
          </a:p>
        </p:txBody>
      </p:sp>
      <p:sp>
        <p:nvSpPr>
          <p:cNvPr id="18" name="Text 16"/>
          <p:cNvSpPr/>
          <p:nvPr/>
        </p:nvSpPr>
        <p:spPr>
          <a:xfrm>
            <a:off x="3200400" y="5239512"/>
            <a:ext cx="2743200" cy="822960"/>
          </a:xfrm>
          <a:prstGeom prst="rect">
            <a:avLst/>
          </a:prstGeom>
          <a:noFill/>
          <a:ln/>
        </p:spPr>
        <p:txBody>
          <a:bodyPr wrap="square" lIns="0" tIns="0" rIns="0" bIns="0" rtlCol="0" anchor="ctr"/>
          <a:lstStyle/>
          <a:p>
            <a:pPr marL="0" indent="0">
              <a:buNone/>
            </a:pPr>
            <a:r>
              <a:rPr lang="ja-JP" sz="1400" dirty="0">
                <a:solidFill>
                  <a:srgbClr val="33384A"/>
                </a:solidFill>
                <a:latin typeface="Noto Sans CJK JP" pitchFamily="34" charset="0"/>
                <a:ea typeface="Noto Sans CJK JP"/>
                <a:cs typeface="Noto Sans CJK JP" pitchFamily="34" charset="-120"/>
              </a:rPr>
              <a:t>根:α, αω, αω²(α=³√2)</a:t>
            </a:r>
            <a:endParaRPr lang="en-US" sz="1400" dirty="0"/>
          </a:p>
        </p:txBody>
      </p:sp>
      <p:sp>
        <p:nvSpPr>
          <p:cNvPr id="19" name="Text 17"/>
          <p:cNvSpPr/>
          <p:nvPr/>
        </p:nvSpPr>
        <p:spPr>
          <a:xfrm>
            <a:off x="5943600" y="5239512"/>
            <a:ext cx="2926080" cy="822960"/>
          </a:xfrm>
          <a:prstGeom prst="rect">
            <a:avLst/>
          </a:prstGeom>
          <a:noFill/>
          <a:ln/>
        </p:spPr>
        <p:txBody>
          <a:bodyPr wrap="square" lIns="0" tIns="0" rIns="0" bIns="0" rtlCol="0" anchor="ctr"/>
          <a:lstStyle/>
          <a:p>
            <a:pPr marL="0" indent="0">
              <a:buNone/>
            </a:pPr>
            <a:r>
              <a:rPr lang="ja-JP" sz="1400" b="1" dirty="0">
                <a:solidFill>
                  <a:srgbClr val="3457A6"/>
                </a:solidFill>
                <a:latin typeface="Noto Sans CJK JP" pitchFamily="34" charset="0"/>
                <a:ea typeface="Noto Sans CJK JP"/>
                <a:cs typeface="Noto Sans CJK JP" pitchFamily="34" charset="-120"/>
              </a:rPr>
              <a:t>Gal(K/Q) = S₃</a:t>
            </a:r>
            <a:endParaRPr lang="en-US" sz="1400" dirty="0"/>
          </a:p>
        </p:txBody>
      </p:sp>
      <p:sp>
        <p:nvSpPr>
          <p:cNvPr id="20" name="Text 18"/>
          <p:cNvSpPr/>
          <p:nvPr/>
        </p:nvSpPr>
        <p:spPr>
          <a:xfrm>
            <a:off x="8869680" y="5239512"/>
            <a:ext cx="2468880" cy="822960"/>
          </a:xfrm>
          <a:prstGeom prst="rect">
            <a:avLst/>
          </a:prstGeom>
          <a:noFill/>
          <a:ln/>
        </p:spPr>
        <p:txBody>
          <a:bodyPr wrap="square" lIns="0" tIns="0" rIns="0" bIns="0" rtlCol="0" anchor="ctr"/>
          <a:lstStyle/>
          <a:p>
            <a:pPr marL="0" indent="0">
              <a:buNone/>
            </a:pPr>
            <a:r>
              <a:rPr lang="ja-JP" sz="1150" dirty="0">
                <a:solidFill>
                  <a:srgbClr val="6B7180"/>
                </a:solidFill>
                <a:latin typeface="Noto Sans CJK JP" pitchFamily="34" charset="0"/>
                <a:ea typeface="Noto Sans CJK JP"/>
                <a:cs typeface="Noto Sans CJK JP" pitchFamily="34" charset="-120"/>
              </a:rPr>
              <a:t>ω(虚数 √−3 を含む)と立方根の2種を添加。</a:t>
            </a:r>
            <a:endParaRPr lang="en-US" sz="1150" dirty="0"/>
          </a:p>
        </p:txBody>
      </p:sp>
      <p:sp>
        <p:nvSpPr>
          <p:cNvPr id="21" name="Text 19"/>
          <p:cNvSpPr/>
          <p:nvPr/>
        </p:nvSpPr>
        <p:spPr>
          <a:xfrm>
            <a:off x="11338560" y="6355080"/>
            <a:ext cx="457200" cy="274320"/>
          </a:xfrm>
          <a:prstGeom prst="rect">
            <a:avLst/>
          </a:prstGeom>
          <a:noFill/>
          <a:ln/>
        </p:spPr>
        <p:txBody>
          <a:bodyPr wrap="square" lIns="0" tIns="0" rIns="0" bIns="0" rtlCol="0" anchor="ctr"/>
          <a:lstStyle/>
          <a:p>
            <a:pPr marL="0" indent="0" algn="r">
              <a:buNone/>
            </a:pPr>
            <a:r>
              <a:rPr lang="ja-JP" sz="1100" dirty="0">
                <a:solidFill>
                  <a:srgbClr val="6B7180"/>
                </a:solidFill>
                <a:latin typeface="Noto Sans CJK JP" pitchFamily="34" charset="0"/>
                <a:ea typeface="Noto Sans CJK JP"/>
                <a:cs typeface="Noto Sans CJK JP" pitchFamily="34" charset="-120"/>
              </a:rPr>
              <a:t>13</a:t>
            </a:r>
            <a:endParaRPr lang="en-US" sz="1100" dirty="0"/>
          </a:p>
        </p:txBody>
      </p:sp>
      <p:sp>
        <p:nvSpPr>
          <p:cNvPr id="22" name="Text 20"/>
          <p:cNvSpPr/>
          <p:nvPr/>
        </p:nvSpPr>
        <p:spPr>
          <a:xfrm>
            <a:off x="457200" y="6355080"/>
            <a:ext cx="4572000" cy="274320"/>
          </a:xfrm>
          <a:prstGeom prst="rect">
            <a:avLst/>
          </a:prstGeom>
          <a:noFill/>
          <a:ln/>
        </p:spPr>
        <p:txBody>
          <a:bodyPr wrap="square" lIns="0" tIns="0" rIns="0" bIns="0" rtlCol="0" anchor="ctr"/>
          <a:lstStyle/>
          <a:p>
            <a:pPr marL="0" indent="0" algn="l">
              <a:buNone/>
            </a:pPr>
            <a:r>
              <a:rPr lang="ja-JP" sz="1000" dirty="0">
                <a:solidFill>
                  <a:srgbClr val="6B7180"/>
                </a:solidFill>
                <a:latin typeface="Noto Sans CJK JP" pitchFamily="34" charset="0"/>
                <a:ea typeface="Noto Sans CJK JP"/>
                <a:cs typeface="Noto Sans CJK JP" pitchFamily="34" charset="-120"/>
              </a:rPr>
              <a:t>5garashi.com 設計事務所</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146304" cy="146304"/>
          </a:xfrm>
          <a:prstGeom prst="ellipse">
            <a:avLst/>
          </a:prstGeom>
          <a:solidFill>
            <a:srgbClr val="0F9E8E"/>
          </a:solidFill>
          <a:ln/>
        </p:spPr>
        <p:txBody>
          <a:bodyPr/>
          <a:lstStyle/>
          <a:p>
            <a:endParaRPr/>
          </a:p>
        </p:txBody>
      </p:sp>
      <p:sp>
        <p:nvSpPr>
          <p:cNvPr id="3" name="Text 1"/>
          <p:cNvSpPr/>
          <p:nvPr/>
        </p:nvSpPr>
        <p:spPr>
          <a:xfrm>
            <a:off x="896112" y="393192"/>
            <a:ext cx="5486400" cy="365760"/>
          </a:xfrm>
          <a:prstGeom prst="rect">
            <a:avLst/>
          </a:prstGeom>
          <a:noFill/>
          <a:ln/>
        </p:spPr>
        <p:txBody>
          <a:bodyPr wrap="square" lIns="0" tIns="0" rIns="0" bIns="0" rtlCol="0" anchor="ctr"/>
          <a:lstStyle/>
          <a:p>
            <a:pPr marL="0" indent="0">
              <a:buNone/>
            </a:pPr>
            <a:r>
              <a:rPr lang="ja-JP" sz="1600" b="1" dirty="0">
                <a:solidFill>
                  <a:srgbClr val="0F9E8E"/>
                </a:solidFill>
                <a:latin typeface="Noto Sans CJK JP" pitchFamily="34" charset="0"/>
                <a:ea typeface="Noto Sans CJK JP"/>
                <a:cs typeface="Noto Sans CJK JP" pitchFamily="34" charset="-120"/>
              </a:rPr>
              <a:t>補論 2</a:t>
            </a:r>
            <a:endParaRPr lang="en-US" sz="1600" dirty="0"/>
          </a:p>
        </p:txBody>
      </p:sp>
      <p:sp>
        <p:nvSpPr>
          <p:cNvPr id="4" name="Text 2"/>
          <p:cNvSpPr/>
          <p:nvPr/>
        </p:nvSpPr>
        <p:spPr>
          <a:xfrm>
            <a:off x="640080" y="822960"/>
            <a:ext cx="10972800" cy="640080"/>
          </a:xfrm>
          <a:prstGeom prst="rect">
            <a:avLst/>
          </a:prstGeom>
          <a:noFill/>
          <a:ln/>
        </p:spPr>
        <p:txBody>
          <a:bodyPr wrap="square" lIns="0" tIns="0" rIns="0" bIns="0" rtlCol="0" anchor="ctr"/>
          <a:lstStyle/>
          <a:p>
            <a:pPr marL="0" indent="0">
              <a:buNone/>
            </a:pPr>
            <a:r>
              <a:rPr lang="ja-JP" sz="2700" b="1" dirty="0">
                <a:solidFill>
                  <a:srgbClr val="1A2238"/>
                </a:solidFill>
                <a:latin typeface="Noto Sans CJK JP" pitchFamily="34" charset="0"/>
                <a:ea typeface="Noto Sans CJK JP"/>
                <a:cs typeface="Noto Sans CJK JP" pitchFamily="34" charset="-120"/>
              </a:rPr>
              <a:t>イメージ:1回転しながら、群は縮小し 体は広がる</a:t>
            </a:r>
            <a:endParaRPr lang="en-US" sz="2700" dirty="0"/>
          </a:p>
        </p:txBody>
      </p:sp>
      <p:sp>
        <p:nvSpPr>
          <p:cNvPr id="5" name="Text 3"/>
          <p:cNvSpPr/>
          <p:nvPr/>
        </p:nvSpPr>
        <p:spPr>
          <a:xfrm>
            <a:off x="640080" y="1481328"/>
            <a:ext cx="10881360" cy="457200"/>
          </a:xfrm>
          <a:prstGeom prst="rect">
            <a:avLst/>
          </a:prstGeom>
          <a:noFill/>
          <a:ln/>
        </p:spPr>
        <p:txBody>
          <a:bodyPr wrap="square" lIns="0" tIns="0" rIns="0" bIns="0" rtlCol="0" anchor="ctr"/>
          <a:lstStyle/>
          <a:p>
            <a:pPr marL="0" indent="0">
              <a:buNone/>
            </a:pPr>
            <a:r>
              <a:rPr lang="ja-JP" sz="1500" dirty="0">
                <a:solidFill>
                  <a:srgbClr val="6B7180"/>
                </a:solidFill>
                <a:latin typeface="Noto Sans CJK JP" pitchFamily="34" charset="0"/>
                <a:ea typeface="Noto Sans CJK JP"/>
                <a:cs typeface="Noto Sans CJK JP" pitchFamily="34" charset="-120"/>
              </a:rPr>
              <a:t>剰余群の位数は、べき根の共役候補を巡回置換で一回りして元に戻るまでの置換回数、すなわち図の「分割数」に等しい。</a:t>
            </a:r>
            <a:endParaRPr lang="en-US" sz="1500" dirty="0"/>
          </a:p>
        </p:txBody>
      </p:sp>
      <p:pic>
        <p:nvPicPr>
          <p:cNvPr id="6" name="Image 0" descr="/home/claude/fig_rotation.png"/>
          <p:cNvPicPr>
            <a:picLocks noChangeAspect="1"/>
          </p:cNvPicPr>
          <p:nvPr/>
        </p:nvPicPr>
        <p:blipFill>
          <a:blip r:embed="rId3"/>
          <a:stretch>
            <a:fillRect/>
          </a:stretch>
        </p:blipFill>
        <p:spPr>
          <a:xfrm>
            <a:off x="2331720" y="1965960"/>
            <a:ext cx="7498080" cy="4199744"/>
          </a:xfrm>
          <a:prstGeom prst="rect">
            <a:avLst/>
          </a:prstGeom>
        </p:spPr>
      </p:pic>
      <p:sp>
        <p:nvSpPr>
          <p:cNvPr id="7" name="Text 4"/>
          <p:cNvSpPr/>
          <p:nvPr/>
        </p:nvSpPr>
        <p:spPr>
          <a:xfrm>
            <a:off x="11338560" y="6355080"/>
            <a:ext cx="457200" cy="274320"/>
          </a:xfrm>
          <a:prstGeom prst="rect">
            <a:avLst/>
          </a:prstGeom>
          <a:noFill/>
          <a:ln/>
        </p:spPr>
        <p:txBody>
          <a:bodyPr wrap="square" lIns="0" tIns="0" rIns="0" bIns="0" rtlCol="0" anchor="ctr"/>
          <a:lstStyle/>
          <a:p>
            <a:pPr marL="0" indent="0" algn="r">
              <a:buNone/>
            </a:pPr>
            <a:r>
              <a:rPr lang="ja-JP" sz="1100" dirty="0">
                <a:solidFill>
                  <a:srgbClr val="6B7180"/>
                </a:solidFill>
                <a:latin typeface="Noto Sans CJK JP" pitchFamily="34" charset="0"/>
                <a:ea typeface="Noto Sans CJK JP"/>
                <a:cs typeface="Noto Sans CJK JP" pitchFamily="34" charset="-120"/>
              </a:rPr>
              <a:t>14</a:t>
            </a:r>
            <a:endParaRPr lang="en-US" sz="1100" dirty="0"/>
          </a:p>
        </p:txBody>
      </p:sp>
      <p:sp>
        <p:nvSpPr>
          <p:cNvPr id="8" name="Text 5"/>
          <p:cNvSpPr/>
          <p:nvPr/>
        </p:nvSpPr>
        <p:spPr>
          <a:xfrm>
            <a:off x="457200" y="6355080"/>
            <a:ext cx="4572000" cy="274320"/>
          </a:xfrm>
          <a:prstGeom prst="rect">
            <a:avLst/>
          </a:prstGeom>
          <a:noFill/>
          <a:ln/>
        </p:spPr>
        <p:txBody>
          <a:bodyPr wrap="square" lIns="0" tIns="0" rIns="0" bIns="0" rtlCol="0" anchor="ctr"/>
          <a:lstStyle/>
          <a:p>
            <a:pPr marL="0" indent="0" algn="l">
              <a:buNone/>
            </a:pPr>
            <a:r>
              <a:rPr lang="ja-JP" sz="1000" dirty="0">
                <a:solidFill>
                  <a:srgbClr val="6B7180"/>
                </a:solidFill>
                <a:latin typeface="Noto Sans CJK JP" pitchFamily="34" charset="0"/>
                <a:ea typeface="Noto Sans CJK JP"/>
                <a:cs typeface="Noto Sans CJK JP" pitchFamily="34" charset="-120"/>
              </a:rPr>
              <a:t>5garashi.com 設計事務所</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640080" y="502920"/>
            <a:ext cx="146304" cy="146304"/>
          </a:xfrm>
          <a:prstGeom prst="ellipse">
            <a:avLst/>
          </a:prstGeom>
          <a:solidFill>
            <a:srgbClr val="0F9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96112" y="393192"/>
            <a:ext cx="5486400" cy="365760"/>
          </a:xfrm>
          <a:prstGeom prst="rect">
            <a:avLst/>
          </a:prstGeom>
          <a:noFill/>
        </p:spPr>
        <p:txBody>
          <a:bodyPr wrap="square" lIns="0" tIns="0" rIns="0" bIns="0" anchor="ctr">
            <a:spAutoFit/>
          </a:bodyPr>
          <a:lstStyle/>
          <a:p>
            <a:pPr algn="l"/>
            <a:r>
              <a:rPr sz="1600" b="1" i="0">
                <a:solidFill>
                  <a:srgbClr val="0F9E8E"/>
                </a:solidFill>
                <a:latin typeface="Noto Sans CJK JP"/>
              </a:rPr>
              <a:t>補論 2</a:t>
            </a:r>
          </a:p>
        </p:txBody>
      </p:sp>
      <p:sp>
        <p:nvSpPr>
          <p:cNvPr id="4" name="TextBox 3"/>
          <p:cNvSpPr txBox="1"/>
          <p:nvPr/>
        </p:nvSpPr>
        <p:spPr>
          <a:xfrm>
            <a:off x="640080" y="837516"/>
            <a:ext cx="10972800" cy="430887"/>
          </a:xfrm>
          <a:prstGeom prst="rect">
            <a:avLst/>
          </a:prstGeom>
          <a:noFill/>
        </p:spPr>
        <p:txBody>
          <a:bodyPr wrap="square" lIns="0" tIns="0" rIns="0" bIns="0" anchor="ctr">
            <a:spAutoFit/>
          </a:bodyPr>
          <a:lstStyle/>
          <a:p>
            <a:pPr algn="l"/>
            <a:r>
              <a:rPr sz="2700" b="1" i="0" dirty="0">
                <a:solidFill>
                  <a:srgbClr val="1A2238"/>
                </a:solidFill>
                <a:latin typeface="Noto Sans CJK JP"/>
              </a:rPr>
              <a:t>「</a:t>
            </a:r>
            <a:r>
              <a:rPr sz="2700" b="1" i="0" dirty="0" err="1">
                <a:solidFill>
                  <a:srgbClr val="1A2238"/>
                </a:solidFill>
                <a:latin typeface="Noto Sans CJK JP"/>
              </a:rPr>
              <a:t>添加元の共役元」と「巡回商群の生成元」の対応</a:t>
            </a:r>
            <a:endParaRPr sz="2700" b="1" i="0" dirty="0">
              <a:solidFill>
                <a:srgbClr val="1A2238"/>
              </a:solidFill>
              <a:latin typeface="Noto Sans CJK JP"/>
            </a:endParaRPr>
          </a:p>
        </p:txBody>
      </p:sp>
      <p:sp>
        <p:nvSpPr>
          <p:cNvPr id="5" name="TextBox 4"/>
          <p:cNvSpPr txBox="1"/>
          <p:nvPr/>
        </p:nvSpPr>
        <p:spPr>
          <a:xfrm>
            <a:off x="626633" y="1317667"/>
            <a:ext cx="10972800" cy="184666"/>
          </a:xfrm>
          <a:prstGeom prst="rect">
            <a:avLst/>
          </a:prstGeom>
          <a:noFill/>
        </p:spPr>
        <p:txBody>
          <a:bodyPr wrap="square" lIns="0" tIns="0" rIns="0" bIns="0" anchor="ctr">
            <a:spAutoFit/>
          </a:bodyPr>
          <a:lstStyle/>
          <a:p>
            <a:pPr algn="r"/>
            <a:r>
              <a:rPr lang="en-US" altLang="ja-JP" sz="1150" b="0" i="0" dirty="0">
                <a:solidFill>
                  <a:srgbClr val="6B7180"/>
                </a:solidFill>
                <a:latin typeface="Noto Sans CJK JP"/>
              </a:rPr>
              <a:t>※</a:t>
            </a:r>
            <a:r>
              <a:rPr sz="1150" b="0" i="0" dirty="0">
                <a:solidFill>
                  <a:srgbClr val="6B7180"/>
                </a:solidFill>
                <a:latin typeface="Noto Sans CJK JP"/>
              </a:rPr>
              <a:t>1段のラジカル拡大を仮定</a:t>
            </a:r>
            <a:r>
              <a:rPr lang="ja-JP" altLang="en-US" sz="1150" dirty="0">
                <a:solidFill>
                  <a:srgbClr val="6B7180"/>
                </a:solidFill>
                <a:latin typeface="Noto Sans CJK JP"/>
              </a:rPr>
              <a:t>（</a:t>
            </a:r>
            <a:r>
              <a:rPr lang="en-US" altLang="ja-JP" sz="1200" dirty="0"/>
              <a:t>1</a:t>
            </a:r>
            <a:r>
              <a:rPr lang="ja-JP" altLang="en-US" sz="1200" dirty="0"/>
              <a:t>個のべき根を追加して体を</a:t>
            </a:r>
            <a:r>
              <a:rPr lang="en-US" altLang="ja-JP" sz="1200" dirty="0"/>
              <a:t>1</a:t>
            </a:r>
            <a:r>
              <a:rPr lang="ja-JP" altLang="en-US" sz="1200" dirty="0"/>
              <a:t>段だけ拡大を仮定）</a:t>
            </a:r>
            <a:endParaRPr sz="1150" b="0" i="0" dirty="0">
              <a:solidFill>
                <a:srgbClr val="6B7180"/>
              </a:solidFill>
              <a:latin typeface="Noto Sans CJK JP"/>
            </a:endParaRPr>
          </a:p>
        </p:txBody>
      </p:sp>
      <p:sp>
        <p:nvSpPr>
          <p:cNvPr id="6" name="Rounded Rectangle 5"/>
          <p:cNvSpPr/>
          <p:nvPr/>
        </p:nvSpPr>
        <p:spPr>
          <a:xfrm>
            <a:off x="640080" y="1560000"/>
            <a:ext cx="10972800" cy="520000"/>
          </a:xfrm>
          <a:prstGeom prst="roundRect">
            <a:avLst>
              <a:gd name="adj" fmla="val 14000"/>
            </a:avLst>
          </a:prstGeom>
          <a:solidFill>
            <a:srgbClr val="E5F5F2"/>
          </a:solidFill>
          <a:ln w="12700">
            <a:solidFill>
              <a:srgbClr val="0F9E8E"/>
            </a:solidFill>
          </a:ln>
        </p:spPr>
        <p:style>
          <a:lnRef idx="1">
            <a:schemeClr val="accent1"/>
          </a:lnRef>
          <a:fillRef idx="3">
            <a:schemeClr val="accent1"/>
          </a:fillRef>
          <a:effectRef idx="2">
            <a:schemeClr val="accent1"/>
          </a:effectRef>
          <a:fontRef idx="minor">
            <a:schemeClr val="lt1"/>
          </a:fontRef>
        </p:style>
        <p:txBody>
          <a:bodyPr wrap="square" lIns="180000" tIns="30000" rIns="180000" bIns="30000" rtlCol="0" anchor="ctr"/>
          <a:lstStyle/>
          <a:p>
            <a:pPr algn="l"/>
            <a:r>
              <a:rPr sz="1250" b="1" i="0">
                <a:solidFill>
                  <a:srgbClr val="33384A"/>
                </a:solidFill>
                <a:latin typeface="Noto Sans CJK JP"/>
              </a:rPr>
              <a:t>仮定: L = M(α),  αⁿ ∈ M,  ζₙ ∈ M</a:t>
            </a:r>
          </a:p>
          <a:p>
            <a:pPr algn="l"/>
            <a:r>
              <a:rPr sz="1250" b="1" i="0">
                <a:solidFill>
                  <a:srgbClr val="3457A6"/>
                </a:solidFill>
                <a:latin typeface="Noto Sans CJK JP"/>
              </a:rPr>
              <a:t>このとき Gal(L/M) は巡回群 Cₙ になり、生成元 σ は σ(α) = ζₙα を満たす</a:t>
            </a:r>
          </a:p>
        </p:txBody>
      </p:sp>
      <p:sp>
        <p:nvSpPr>
          <p:cNvPr id="7" name="Rounded Rectangle 6"/>
          <p:cNvSpPr/>
          <p:nvPr/>
        </p:nvSpPr>
        <p:spPr>
          <a:xfrm>
            <a:off x="640080" y="2170000"/>
            <a:ext cx="3000000" cy="3300000"/>
          </a:xfrm>
          <a:prstGeom prst="roundRect">
            <a:avLst>
              <a:gd name="adj" fmla="val 5000"/>
            </a:avLst>
          </a:prstGeom>
          <a:solidFill>
            <a:srgbClr val="FFFFFF"/>
          </a:solidFill>
          <a:ln w="12700">
            <a:solidFill>
              <a:srgbClr val="0F9E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740080" y="2170000"/>
            <a:ext cx="3000000" cy="3300000"/>
          </a:xfrm>
          <a:prstGeom prst="roundRect">
            <a:avLst>
              <a:gd name="adj" fmla="val 5000"/>
            </a:avLst>
          </a:prstGeom>
          <a:solidFill>
            <a:srgbClr val="FFFFFF"/>
          </a:solidFill>
          <a:ln w="12700">
            <a:solidFill>
              <a:srgbClr val="0F9E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840080" y="2170000"/>
            <a:ext cx="2772800" cy="3300000"/>
          </a:xfrm>
          <a:prstGeom prst="roundRect">
            <a:avLst>
              <a:gd name="adj" fmla="val 5000"/>
            </a:avLst>
          </a:prstGeom>
          <a:solidFill>
            <a:srgbClr val="FFFFFF"/>
          </a:solidFill>
          <a:ln w="12700">
            <a:solidFill>
              <a:srgbClr val="0F9E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0080" y="2260000"/>
            <a:ext cx="2800000" cy="207749"/>
          </a:xfrm>
          <a:prstGeom prst="rect">
            <a:avLst/>
          </a:prstGeom>
          <a:noFill/>
        </p:spPr>
        <p:txBody>
          <a:bodyPr wrap="square" lIns="0" tIns="0" rIns="0" bIns="0" anchor="t">
            <a:spAutoFit/>
          </a:bodyPr>
          <a:lstStyle/>
          <a:p>
            <a:pPr algn="ctr"/>
            <a:r>
              <a:rPr sz="1350" b="1" i="0" dirty="0" err="1">
                <a:solidFill>
                  <a:srgbClr val="1A2238"/>
                </a:solidFill>
                <a:latin typeface="Noto Sans CJK JP"/>
              </a:rPr>
              <a:t>共役元の</a:t>
            </a:r>
            <a:r>
              <a:rPr lang="ja-JP" altLang="en-US" sz="1350" b="1" i="0" dirty="0">
                <a:solidFill>
                  <a:srgbClr val="1A2238"/>
                </a:solidFill>
                <a:latin typeface="Noto Sans CJK JP"/>
              </a:rPr>
              <a:t>回転</a:t>
            </a:r>
            <a:endParaRPr sz="1350" b="1" i="0" dirty="0">
              <a:solidFill>
                <a:srgbClr val="1A2238"/>
              </a:solidFill>
              <a:latin typeface="Noto Sans CJK JP"/>
            </a:endParaRPr>
          </a:p>
        </p:txBody>
      </p:sp>
      <p:cxnSp>
        <p:nvCxnSpPr>
          <p:cNvPr id="11" name="Connector 10"/>
          <p:cNvCxnSpPr/>
          <p:nvPr/>
        </p:nvCxnSpPr>
        <p:spPr>
          <a:xfrm>
            <a:off x="2291366" y="2999915"/>
            <a:ext cx="439251" cy="319135"/>
          </a:xfrm>
          <a:prstGeom prst="line">
            <a:avLst/>
          </a:prstGeom>
          <a:ln w="13000">
            <a:solidFill>
              <a:srgbClr val="0F9E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415648" y="2970491"/>
            <a:ext cx="320000" cy="200000"/>
          </a:xfrm>
          <a:prstGeom prst="rect">
            <a:avLst/>
          </a:prstGeom>
          <a:noFill/>
        </p:spPr>
        <p:txBody>
          <a:bodyPr wrap="square" lIns="0" tIns="0" rIns="0" bIns="0" anchor="t">
            <a:spAutoFit/>
          </a:bodyPr>
          <a:lstStyle/>
          <a:p>
            <a:pPr algn="ctr"/>
            <a:r>
              <a:rPr sz="900" b="1" i="0">
                <a:solidFill>
                  <a:srgbClr val="0F9E8E"/>
                </a:solidFill>
                <a:latin typeface="Noto Sans CJK JP"/>
              </a:rPr>
              <a:t>σ</a:t>
            </a:r>
          </a:p>
        </p:txBody>
      </p:sp>
      <p:cxnSp>
        <p:nvCxnSpPr>
          <p:cNvPr id="13" name="Connector 12"/>
          <p:cNvCxnSpPr/>
          <p:nvPr/>
        </p:nvCxnSpPr>
        <p:spPr>
          <a:xfrm flipH="1">
            <a:off x="2656338" y="3606814"/>
            <a:ext cx="167779" cy="516371"/>
          </a:xfrm>
          <a:prstGeom prst="line">
            <a:avLst/>
          </a:prstGeom>
          <a:ln w="13000">
            <a:solidFill>
              <a:srgbClr val="0F9E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684844" y="3798991"/>
            <a:ext cx="320000" cy="200000"/>
          </a:xfrm>
          <a:prstGeom prst="rect">
            <a:avLst/>
          </a:prstGeom>
          <a:noFill/>
        </p:spPr>
        <p:txBody>
          <a:bodyPr wrap="square" lIns="0" tIns="0" rIns="0" bIns="0" anchor="t">
            <a:spAutoFit/>
          </a:bodyPr>
          <a:lstStyle/>
          <a:p>
            <a:pPr algn="ctr"/>
            <a:r>
              <a:rPr sz="900" b="1" i="0">
                <a:solidFill>
                  <a:srgbClr val="0F9E8E"/>
                </a:solidFill>
                <a:latin typeface="Noto Sans CJK JP"/>
              </a:rPr>
              <a:t>σ</a:t>
            </a:r>
          </a:p>
        </p:txBody>
      </p:sp>
      <p:cxnSp>
        <p:nvCxnSpPr>
          <p:cNvPr id="15" name="Connector 14"/>
          <p:cNvCxnSpPr/>
          <p:nvPr/>
        </p:nvCxnSpPr>
        <p:spPr>
          <a:xfrm flipH="1">
            <a:off x="1868607" y="4301033"/>
            <a:ext cx="542945" cy="0"/>
          </a:xfrm>
          <a:prstGeom prst="line">
            <a:avLst/>
          </a:prstGeom>
          <a:ln w="13000">
            <a:solidFill>
              <a:srgbClr val="0F9E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980080" y="4311033"/>
            <a:ext cx="320000" cy="200000"/>
          </a:xfrm>
          <a:prstGeom prst="rect">
            <a:avLst/>
          </a:prstGeom>
          <a:noFill/>
        </p:spPr>
        <p:txBody>
          <a:bodyPr wrap="square" lIns="0" tIns="0" rIns="0" bIns="0" anchor="t">
            <a:spAutoFit/>
          </a:bodyPr>
          <a:lstStyle/>
          <a:p>
            <a:pPr algn="ctr"/>
            <a:r>
              <a:rPr sz="900" b="1" i="0">
                <a:solidFill>
                  <a:srgbClr val="0F9E8E"/>
                </a:solidFill>
                <a:latin typeface="Noto Sans CJK JP"/>
              </a:rPr>
              <a:t>σ</a:t>
            </a:r>
          </a:p>
        </p:txBody>
      </p:sp>
      <p:cxnSp>
        <p:nvCxnSpPr>
          <p:cNvPr id="17" name="Connector 16"/>
          <p:cNvCxnSpPr/>
          <p:nvPr/>
        </p:nvCxnSpPr>
        <p:spPr>
          <a:xfrm flipH="1" flipV="1">
            <a:off x="1456042" y="3606814"/>
            <a:ext cx="167779" cy="516371"/>
          </a:xfrm>
          <a:prstGeom prst="line">
            <a:avLst/>
          </a:prstGeom>
          <a:ln w="13000">
            <a:solidFill>
              <a:srgbClr val="0F9E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275315" y="3798991"/>
            <a:ext cx="320000" cy="200000"/>
          </a:xfrm>
          <a:prstGeom prst="rect">
            <a:avLst/>
          </a:prstGeom>
          <a:noFill/>
        </p:spPr>
        <p:txBody>
          <a:bodyPr wrap="square" lIns="0" tIns="0" rIns="0" bIns="0" anchor="t">
            <a:spAutoFit/>
          </a:bodyPr>
          <a:lstStyle/>
          <a:p>
            <a:pPr algn="ctr"/>
            <a:r>
              <a:rPr sz="900" b="1" i="0">
                <a:solidFill>
                  <a:srgbClr val="0F9E8E"/>
                </a:solidFill>
                <a:latin typeface="Noto Sans CJK JP"/>
              </a:rPr>
              <a:t>σ</a:t>
            </a:r>
          </a:p>
        </p:txBody>
      </p:sp>
      <p:cxnSp>
        <p:nvCxnSpPr>
          <p:cNvPr id="19" name="Connector 18"/>
          <p:cNvCxnSpPr/>
          <p:nvPr/>
        </p:nvCxnSpPr>
        <p:spPr>
          <a:xfrm flipV="1">
            <a:off x="1549542" y="2999915"/>
            <a:ext cx="439251" cy="319135"/>
          </a:xfrm>
          <a:prstGeom prst="line">
            <a:avLst/>
          </a:prstGeom>
          <a:ln w="13000">
            <a:solidFill>
              <a:srgbClr val="0F9E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544511" y="2970491"/>
            <a:ext cx="320000" cy="200000"/>
          </a:xfrm>
          <a:prstGeom prst="rect">
            <a:avLst/>
          </a:prstGeom>
          <a:noFill/>
        </p:spPr>
        <p:txBody>
          <a:bodyPr wrap="square" lIns="0" tIns="0" rIns="0" bIns="0" anchor="t">
            <a:spAutoFit/>
          </a:bodyPr>
          <a:lstStyle/>
          <a:p>
            <a:pPr algn="ctr"/>
            <a:r>
              <a:rPr sz="900" b="1" i="0">
                <a:solidFill>
                  <a:srgbClr val="0F9E8E"/>
                </a:solidFill>
                <a:latin typeface="Noto Sans CJK JP"/>
              </a:rPr>
              <a:t>σ</a:t>
            </a:r>
          </a:p>
        </p:txBody>
      </p:sp>
      <p:sp>
        <p:nvSpPr>
          <p:cNvPr id="21" name="Oval 20"/>
          <p:cNvSpPr/>
          <p:nvPr/>
        </p:nvSpPr>
        <p:spPr>
          <a:xfrm>
            <a:off x="1965080" y="2715000"/>
            <a:ext cx="350000" cy="350000"/>
          </a:xfrm>
          <a:prstGeom prst="ellipse">
            <a:avLst/>
          </a:prstGeom>
          <a:solidFill>
            <a:srgbClr val="E5F5F2"/>
          </a:solidFill>
          <a:ln w="11000">
            <a:solidFill>
              <a:srgbClr val="0F9E8E"/>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b="1" i="0">
                <a:solidFill>
                  <a:srgbClr val="1A2238"/>
                </a:solidFill>
                <a:latin typeface="Noto Sans CJK JP"/>
              </a:rPr>
              <a:t>α</a:t>
            </a:r>
          </a:p>
        </p:txBody>
      </p:sp>
      <p:sp>
        <p:nvSpPr>
          <p:cNvPr id="22" name="Oval 21"/>
          <p:cNvSpPr/>
          <p:nvPr/>
        </p:nvSpPr>
        <p:spPr>
          <a:xfrm>
            <a:off x="2706904" y="3253966"/>
            <a:ext cx="350000" cy="350000"/>
          </a:xfrm>
          <a:prstGeom prst="ellipse">
            <a:avLst/>
          </a:prstGeom>
          <a:solidFill>
            <a:srgbClr val="E5F5F2"/>
          </a:solidFill>
          <a:ln w="11000">
            <a:solidFill>
              <a:srgbClr val="0F9E8E"/>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b="1" i="0">
                <a:solidFill>
                  <a:srgbClr val="1A2238"/>
                </a:solidFill>
                <a:latin typeface="Noto Sans CJK JP"/>
              </a:rPr>
              <a:t>ζα</a:t>
            </a:r>
          </a:p>
        </p:txBody>
      </p:sp>
      <p:sp>
        <p:nvSpPr>
          <p:cNvPr id="23" name="Oval 22"/>
          <p:cNvSpPr/>
          <p:nvPr/>
        </p:nvSpPr>
        <p:spPr>
          <a:xfrm>
            <a:off x="2423552" y="4126033"/>
            <a:ext cx="350000" cy="350000"/>
          </a:xfrm>
          <a:prstGeom prst="ellipse">
            <a:avLst/>
          </a:prstGeom>
          <a:solidFill>
            <a:srgbClr val="E5F5F2"/>
          </a:solidFill>
          <a:ln w="11000">
            <a:solidFill>
              <a:srgbClr val="0F9E8E"/>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b="1" i="0">
                <a:solidFill>
                  <a:srgbClr val="1A2238"/>
                </a:solidFill>
                <a:latin typeface="Noto Sans CJK JP"/>
              </a:rPr>
              <a:t>ζ²α</a:t>
            </a:r>
          </a:p>
        </p:txBody>
      </p:sp>
      <p:sp>
        <p:nvSpPr>
          <p:cNvPr id="24" name="Oval 23"/>
          <p:cNvSpPr/>
          <p:nvPr/>
        </p:nvSpPr>
        <p:spPr>
          <a:xfrm>
            <a:off x="1506607" y="4126033"/>
            <a:ext cx="350000" cy="350000"/>
          </a:xfrm>
          <a:prstGeom prst="ellipse">
            <a:avLst/>
          </a:prstGeom>
          <a:solidFill>
            <a:srgbClr val="E5F5F2"/>
          </a:solidFill>
          <a:ln w="11000">
            <a:solidFill>
              <a:srgbClr val="0F9E8E"/>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b="1" i="0">
                <a:solidFill>
                  <a:srgbClr val="1A2238"/>
                </a:solidFill>
                <a:latin typeface="Noto Sans CJK JP"/>
              </a:rPr>
              <a:t>⋯</a:t>
            </a:r>
          </a:p>
        </p:txBody>
      </p:sp>
      <p:sp>
        <p:nvSpPr>
          <p:cNvPr id="25" name="Oval 24"/>
          <p:cNvSpPr/>
          <p:nvPr/>
        </p:nvSpPr>
        <p:spPr>
          <a:xfrm>
            <a:off x="1223255" y="3253966"/>
            <a:ext cx="350000" cy="350000"/>
          </a:xfrm>
          <a:prstGeom prst="ellipse">
            <a:avLst/>
          </a:prstGeom>
          <a:solidFill>
            <a:srgbClr val="E5F5F2"/>
          </a:solidFill>
          <a:ln w="11000">
            <a:solidFill>
              <a:srgbClr val="0F9E8E"/>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b="1" i="0">
                <a:solidFill>
                  <a:srgbClr val="1A2238"/>
                </a:solidFill>
                <a:latin typeface="Noto Sans CJK JP"/>
              </a:rPr>
              <a:t>ζⁿ⁻¹α</a:t>
            </a:r>
          </a:p>
        </p:txBody>
      </p:sp>
      <p:sp>
        <p:nvSpPr>
          <p:cNvPr id="26" name="TextBox 25"/>
          <p:cNvSpPr txBox="1"/>
          <p:nvPr/>
        </p:nvSpPr>
        <p:spPr>
          <a:xfrm>
            <a:off x="730080" y="4690000"/>
            <a:ext cx="2820000" cy="760000"/>
          </a:xfrm>
          <a:prstGeom prst="rect">
            <a:avLst/>
          </a:prstGeom>
          <a:noFill/>
        </p:spPr>
        <p:txBody>
          <a:bodyPr wrap="square" lIns="0" tIns="0" rIns="0" bIns="0" anchor="t">
            <a:spAutoFit/>
          </a:bodyPr>
          <a:lstStyle/>
          <a:p>
            <a:pPr algn="ctr">
              <a:lnSpc>
                <a:spcPct val="115000"/>
              </a:lnSpc>
            </a:pPr>
            <a:r>
              <a:rPr sz="1050" b="1" i="0">
                <a:solidFill>
                  <a:srgbClr val="3457A6"/>
                </a:solidFill>
                <a:latin typeface="Noto Sans CJK JP"/>
              </a:rPr>
              <a:t>生成元 σ が1つずつ送る</a:t>
            </a:r>
          </a:p>
          <a:p>
            <a:pPr algn="ctr">
              <a:lnSpc>
                <a:spcPct val="115000"/>
              </a:lnSpc>
            </a:pPr>
            <a:r>
              <a:rPr sz="1050" b="1" i="0">
                <a:solidFill>
                  <a:srgbClr val="3457A6"/>
                </a:solidFill>
                <a:latin typeface="Noto Sans CJK JP"/>
              </a:rPr>
              <a:t>σ(ζᵏα) = ζᵏ⁺¹α</a:t>
            </a:r>
          </a:p>
          <a:p>
            <a:pPr algn="ctr">
              <a:lnSpc>
                <a:spcPct val="115000"/>
              </a:lnSpc>
            </a:pPr>
            <a:r>
              <a:rPr sz="900" b="0" i="0">
                <a:solidFill>
                  <a:srgbClr val="6B7180"/>
                </a:solidFill>
                <a:latin typeface="Noto Sans CJK JP"/>
              </a:rPr>
              <a:t>(添字はnを法として計算)</a:t>
            </a:r>
          </a:p>
        </p:txBody>
      </p:sp>
      <p:sp>
        <p:nvSpPr>
          <p:cNvPr id="27" name="TextBox 26"/>
          <p:cNvSpPr txBox="1"/>
          <p:nvPr/>
        </p:nvSpPr>
        <p:spPr>
          <a:xfrm>
            <a:off x="3740080" y="3245715"/>
            <a:ext cx="1900000" cy="900000"/>
          </a:xfrm>
          <a:prstGeom prst="rect">
            <a:avLst/>
          </a:prstGeom>
          <a:noFill/>
        </p:spPr>
        <p:txBody>
          <a:bodyPr wrap="square" lIns="0" tIns="0" rIns="0" bIns="0" anchor="t">
            <a:spAutoFit/>
          </a:bodyPr>
          <a:lstStyle/>
          <a:p>
            <a:pPr algn="ctr">
              <a:lnSpc>
                <a:spcPct val="115000"/>
              </a:lnSpc>
            </a:pPr>
            <a:r>
              <a:rPr sz="1050" b="1" i="0" dirty="0" err="1">
                <a:solidFill>
                  <a:srgbClr val="1A2238"/>
                </a:solidFill>
                <a:latin typeface="Noto Sans CJK JP"/>
              </a:rPr>
              <a:t>各剰余類</a:t>
            </a:r>
            <a:r>
              <a:rPr sz="1050" b="1" i="0" dirty="0">
                <a:solidFill>
                  <a:srgbClr val="1A2238"/>
                </a:solidFill>
                <a:latin typeface="Noto Sans CJK JP"/>
              </a:rPr>
              <a:t> </a:t>
            </a:r>
            <a:r>
              <a:rPr sz="1050" b="1" i="0" dirty="0" err="1">
                <a:solidFill>
                  <a:srgbClr val="1A2238"/>
                </a:solidFill>
                <a:latin typeface="Noto Sans CJK JP"/>
              </a:rPr>
              <a:t>gᵏH</a:t>
            </a:r>
            <a:r>
              <a:rPr sz="1050" b="1" i="0" dirty="0">
                <a:solidFill>
                  <a:srgbClr val="1A2238"/>
                </a:solidFill>
                <a:latin typeface="Noto Sans CJK JP"/>
              </a:rPr>
              <a:t> は、</a:t>
            </a:r>
          </a:p>
          <a:p>
            <a:pPr algn="ctr">
              <a:lnSpc>
                <a:spcPct val="115000"/>
              </a:lnSpc>
            </a:pPr>
            <a:r>
              <a:rPr sz="1050" b="1" i="0" dirty="0">
                <a:solidFill>
                  <a:srgbClr val="1A2238"/>
                </a:solidFill>
                <a:latin typeface="Noto Sans CJK JP"/>
              </a:rPr>
              <a:t>α を ζᵏα </a:t>
            </a:r>
            <a:r>
              <a:rPr sz="1050" b="1" i="0" dirty="0" err="1">
                <a:solidFill>
                  <a:srgbClr val="1A2238"/>
                </a:solidFill>
                <a:latin typeface="Noto Sans CJK JP"/>
              </a:rPr>
              <a:t>に送る</a:t>
            </a:r>
            <a:endParaRPr sz="1050" b="1" i="0" dirty="0">
              <a:solidFill>
                <a:srgbClr val="1A2238"/>
              </a:solidFill>
              <a:latin typeface="Noto Sans CJK JP"/>
            </a:endParaRPr>
          </a:p>
          <a:p>
            <a:pPr algn="ctr">
              <a:lnSpc>
                <a:spcPct val="115000"/>
              </a:lnSpc>
            </a:pPr>
            <a:r>
              <a:rPr sz="1050" b="1" i="0" dirty="0" err="1">
                <a:solidFill>
                  <a:srgbClr val="1A2238"/>
                </a:solidFill>
                <a:latin typeface="Noto Sans CJK JP"/>
              </a:rPr>
              <a:t>作用に対応</a:t>
            </a:r>
            <a:endParaRPr sz="1050" b="1" i="0" dirty="0">
              <a:solidFill>
                <a:srgbClr val="1A2238"/>
              </a:solidFill>
              <a:latin typeface="Noto Sans CJK JP"/>
            </a:endParaRPr>
          </a:p>
        </p:txBody>
      </p:sp>
      <p:graphicFrame>
        <p:nvGraphicFramePr>
          <p:cNvPr id="28" name="Table 27"/>
          <p:cNvGraphicFramePr>
            <a:graphicFrameLocks noGrp="1"/>
          </p:cNvGraphicFramePr>
          <p:nvPr>
            <p:extLst>
              <p:ext uri="{D42A27DB-BD31-4B8C-83A1-F6EECF244321}">
                <p14:modId xmlns:p14="http://schemas.microsoft.com/office/powerpoint/2010/main" val="122374475"/>
              </p:ext>
            </p:extLst>
          </p:nvPr>
        </p:nvGraphicFramePr>
        <p:xfrm>
          <a:off x="3790080" y="3786140"/>
          <a:ext cx="1800000" cy="1350000"/>
        </p:xfrm>
        <a:graphic>
          <a:graphicData uri="http://schemas.openxmlformats.org/drawingml/2006/table">
            <a:tbl>
              <a:tblPr firstRow="1" bandRow="1">
                <a:tableStyleId>{5C22544A-7EE6-4342-B048-85BDC9FD1C3A}</a:tableStyleId>
              </a:tblPr>
              <a:tblGrid>
                <a:gridCol w="756000">
                  <a:extLst>
                    <a:ext uri="{9D8B030D-6E8A-4147-A177-3AD203B41FA5}">
                      <a16:colId xmlns:a16="http://schemas.microsoft.com/office/drawing/2014/main" val="20000"/>
                    </a:ext>
                  </a:extLst>
                </a:gridCol>
                <a:gridCol w="288000">
                  <a:extLst>
                    <a:ext uri="{9D8B030D-6E8A-4147-A177-3AD203B41FA5}">
                      <a16:colId xmlns:a16="http://schemas.microsoft.com/office/drawing/2014/main" val="20001"/>
                    </a:ext>
                  </a:extLst>
                </a:gridCol>
                <a:gridCol w="756000">
                  <a:extLst>
                    <a:ext uri="{9D8B030D-6E8A-4147-A177-3AD203B41FA5}">
                      <a16:colId xmlns:a16="http://schemas.microsoft.com/office/drawing/2014/main" val="20002"/>
                    </a:ext>
                  </a:extLst>
                </a:gridCol>
              </a:tblGrid>
              <a:tr h="270000">
                <a:tc>
                  <a:txBody>
                    <a:bodyPr/>
                    <a:lstStyle/>
                    <a:p>
                      <a:pPr algn="ctr"/>
                      <a:r>
                        <a:rPr sz="1050" b="1" i="0" dirty="0">
                          <a:solidFill>
                            <a:srgbClr val="1A2238"/>
                          </a:solidFill>
                          <a:latin typeface="Noto Sans CJK JP"/>
                        </a:rPr>
                        <a:t>α</a:t>
                      </a:r>
                    </a:p>
                  </a:txBody>
                  <a:tcPr marL="0" marR="0" marT="0" marB="0" anchor="ctr">
                    <a:solidFill>
                      <a:srgbClr val="FFFFFF"/>
                    </a:solidFill>
                  </a:tcPr>
                </a:tc>
                <a:tc>
                  <a:txBody>
                    <a:bodyPr/>
                    <a:lstStyle/>
                    <a:p>
                      <a:pPr algn="ctr"/>
                      <a:r>
                        <a:rPr sz="1050" b="0" i="0">
                          <a:solidFill>
                            <a:srgbClr val="0F9E8E"/>
                          </a:solidFill>
                          <a:latin typeface="Noto Sans CJK JP"/>
                        </a:rPr>
                        <a:t>↔</a:t>
                      </a:r>
                    </a:p>
                  </a:txBody>
                  <a:tcPr marL="0" marR="0" marT="0" marB="0" anchor="ctr">
                    <a:solidFill>
                      <a:srgbClr val="FFFFFF"/>
                    </a:solidFill>
                  </a:tcPr>
                </a:tc>
                <a:tc>
                  <a:txBody>
                    <a:bodyPr/>
                    <a:lstStyle/>
                    <a:p>
                      <a:pPr algn="ctr"/>
                      <a:r>
                        <a:rPr sz="1050" b="1" i="0">
                          <a:solidFill>
                            <a:srgbClr val="1A2238"/>
                          </a:solidFill>
                          <a:latin typeface="Noto Sans CJK JP"/>
                        </a:rPr>
                        <a:t>H</a:t>
                      </a:r>
                    </a:p>
                  </a:txBody>
                  <a:tcPr marL="0" marR="0" marT="0" marB="0" anchor="ctr">
                    <a:solidFill>
                      <a:srgbClr val="FFFFFF"/>
                    </a:solidFill>
                  </a:tcPr>
                </a:tc>
                <a:extLst>
                  <a:ext uri="{0D108BD9-81ED-4DB2-BD59-A6C34878D82A}">
                    <a16:rowId xmlns:a16="http://schemas.microsoft.com/office/drawing/2014/main" val="10000"/>
                  </a:ext>
                </a:extLst>
              </a:tr>
              <a:tr h="270000">
                <a:tc>
                  <a:txBody>
                    <a:bodyPr/>
                    <a:lstStyle/>
                    <a:p>
                      <a:pPr algn="ctr"/>
                      <a:r>
                        <a:rPr sz="1050" b="1" i="0">
                          <a:solidFill>
                            <a:srgbClr val="1A2238"/>
                          </a:solidFill>
                          <a:latin typeface="Noto Sans CJK JP"/>
                        </a:rPr>
                        <a:t>ζα</a:t>
                      </a:r>
                    </a:p>
                  </a:txBody>
                  <a:tcPr marL="0" marR="0" marT="0" marB="0" anchor="ctr">
                    <a:solidFill>
                      <a:srgbClr val="FFFFFF"/>
                    </a:solidFill>
                  </a:tcPr>
                </a:tc>
                <a:tc>
                  <a:txBody>
                    <a:bodyPr/>
                    <a:lstStyle/>
                    <a:p>
                      <a:pPr algn="ctr"/>
                      <a:r>
                        <a:rPr sz="1050" b="0" i="0">
                          <a:solidFill>
                            <a:srgbClr val="0F9E8E"/>
                          </a:solidFill>
                          <a:latin typeface="Noto Sans CJK JP"/>
                        </a:rPr>
                        <a:t>↔</a:t>
                      </a:r>
                    </a:p>
                  </a:txBody>
                  <a:tcPr marL="0" marR="0" marT="0" marB="0" anchor="ctr">
                    <a:solidFill>
                      <a:srgbClr val="FFFFFF"/>
                    </a:solidFill>
                  </a:tcPr>
                </a:tc>
                <a:tc>
                  <a:txBody>
                    <a:bodyPr/>
                    <a:lstStyle/>
                    <a:p>
                      <a:pPr algn="ctr"/>
                      <a:r>
                        <a:rPr sz="1050" b="1" i="0">
                          <a:solidFill>
                            <a:srgbClr val="1A2238"/>
                          </a:solidFill>
                          <a:latin typeface="Noto Sans CJK JP"/>
                        </a:rPr>
                        <a:t>gH</a:t>
                      </a:r>
                    </a:p>
                  </a:txBody>
                  <a:tcPr marL="0" marR="0" marT="0" marB="0" anchor="ctr">
                    <a:solidFill>
                      <a:srgbClr val="FFFFFF"/>
                    </a:solidFill>
                  </a:tcPr>
                </a:tc>
                <a:extLst>
                  <a:ext uri="{0D108BD9-81ED-4DB2-BD59-A6C34878D82A}">
                    <a16:rowId xmlns:a16="http://schemas.microsoft.com/office/drawing/2014/main" val="10001"/>
                  </a:ext>
                </a:extLst>
              </a:tr>
              <a:tr h="270000">
                <a:tc>
                  <a:txBody>
                    <a:bodyPr/>
                    <a:lstStyle/>
                    <a:p>
                      <a:pPr algn="ctr"/>
                      <a:r>
                        <a:rPr sz="1050" b="1" i="0">
                          <a:solidFill>
                            <a:srgbClr val="1A2238"/>
                          </a:solidFill>
                          <a:latin typeface="Noto Sans CJK JP"/>
                        </a:rPr>
                        <a:t>ζ²α</a:t>
                      </a:r>
                    </a:p>
                  </a:txBody>
                  <a:tcPr marL="0" marR="0" marT="0" marB="0" anchor="ctr">
                    <a:solidFill>
                      <a:srgbClr val="FFFFFF"/>
                    </a:solidFill>
                  </a:tcPr>
                </a:tc>
                <a:tc>
                  <a:txBody>
                    <a:bodyPr/>
                    <a:lstStyle/>
                    <a:p>
                      <a:pPr algn="ctr"/>
                      <a:r>
                        <a:rPr sz="1050" b="0" i="0">
                          <a:solidFill>
                            <a:srgbClr val="0F9E8E"/>
                          </a:solidFill>
                          <a:latin typeface="Noto Sans CJK JP"/>
                        </a:rPr>
                        <a:t>↔</a:t>
                      </a:r>
                    </a:p>
                  </a:txBody>
                  <a:tcPr marL="0" marR="0" marT="0" marB="0" anchor="ctr">
                    <a:solidFill>
                      <a:srgbClr val="FFFFFF"/>
                    </a:solidFill>
                  </a:tcPr>
                </a:tc>
                <a:tc>
                  <a:txBody>
                    <a:bodyPr/>
                    <a:lstStyle/>
                    <a:p>
                      <a:pPr algn="ctr"/>
                      <a:r>
                        <a:rPr sz="1050" b="1" i="0">
                          <a:solidFill>
                            <a:srgbClr val="1A2238"/>
                          </a:solidFill>
                          <a:latin typeface="Noto Sans CJK JP"/>
                        </a:rPr>
                        <a:t>g²H</a:t>
                      </a:r>
                    </a:p>
                  </a:txBody>
                  <a:tcPr marL="0" marR="0" marT="0" marB="0" anchor="ctr">
                    <a:solidFill>
                      <a:srgbClr val="FFFFFF"/>
                    </a:solidFill>
                  </a:tcPr>
                </a:tc>
                <a:extLst>
                  <a:ext uri="{0D108BD9-81ED-4DB2-BD59-A6C34878D82A}">
                    <a16:rowId xmlns:a16="http://schemas.microsoft.com/office/drawing/2014/main" val="10002"/>
                  </a:ext>
                </a:extLst>
              </a:tr>
              <a:tr h="270000">
                <a:tc>
                  <a:txBody>
                    <a:bodyPr/>
                    <a:lstStyle/>
                    <a:p>
                      <a:pPr algn="ctr"/>
                      <a:r>
                        <a:rPr sz="1050" b="1" i="0">
                          <a:solidFill>
                            <a:srgbClr val="1A2238"/>
                          </a:solidFill>
                          <a:latin typeface="Noto Sans CJK JP"/>
                        </a:rPr>
                        <a:t>⋮</a:t>
                      </a:r>
                    </a:p>
                  </a:txBody>
                  <a:tcPr marL="0" marR="0" marT="0" marB="0" anchor="ctr">
                    <a:solidFill>
                      <a:srgbClr val="FFFFFF"/>
                    </a:solidFill>
                  </a:tcPr>
                </a:tc>
                <a:tc>
                  <a:txBody>
                    <a:bodyPr/>
                    <a:lstStyle/>
                    <a:p>
                      <a:pPr algn="ctr"/>
                      <a:r>
                        <a:rPr sz="1050" b="0" i="0">
                          <a:solidFill>
                            <a:srgbClr val="0F9E8E"/>
                          </a:solidFill>
                          <a:latin typeface="Noto Sans CJK JP"/>
                        </a:rPr>
                        <a:t>↔</a:t>
                      </a:r>
                    </a:p>
                  </a:txBody>
                  <a:tcPr marL="0" marR="0" marT="0" marB="0" anchor="ctr">
                    <a:solidFill>
                      <a:srgbClr val="FFFFFF"/>
                    </a:solidFill>
                  </a:tcPr>
                </a:tc>
                <a:tc>
                  <a:txBody>
                    <a:bodyPr/>
                    <a:lstStyle/>
                    <a:p>
                      <a:pPr algn="ctr"/>
                      <a:r>
                        <a:rPr sz="1050" b="1" i="0" dirty="0">
                          <a:solidFill>
                            <a:srgbClr val="1A2238"/>
                          </a:solidFill>
                          <a:latin typeface="Noto Sans CJK JP"/>
                        </a:rPr>
                        <a:t>⋮</a:t>
                      </a:r>
                    </a:p>
                  </a:txBody>
                  <a:tcPr marL="0" marR="0" marT="0" marB="0" anchor="ctr">
                    <a:solidFill>
                      <a:srgbClr val="FFFFFF"/>
                    </a:solidFill>
                  </a:tcPr>
                </a:tc>
                <a:extLst>
                  <a:ext uri="{0D108BD9-81ED-4DB2-BD59-A6C34878D82A}">
                    <a16:rowId xmlns:a16="http://schemas.microsoft.com/office/drawing/2014/main" val="10003"/>
                  </a:ext>
                </a:extLst>
              </a:tr>
              <a:tr h="270000">
                <a:tc>
                  <a:txBody>
                    <a:bodyPr/>
                    <a:lstStyle/>
                    <a:p>
                      <a:pPr algn="ctr"/>
                      <a:r>
                        <a:rPr sz="1050" b="1" i="0">
                          <a:solidFill>
                            <a:srgbClr val="1A2238"/>
                          </a:solidFill>
                          <a:latin typeface="Noto Sans CJK JP"/>
                        </a:rPr>
                        <a:t>ζⁿ⁻¹α</a:t>
                      </a:r>
                    </a:p>
                  </a:txBody>
                  <a:tcPr marL="0" marR="0" marT="0" marB="0" anchor="ctr">
                    <a:solidFill>
                      <a:srgbClr val="FFFFFF"/>
                    </a:solidFill>
                  </a:tcPr>
                </a:tc>
                <a:tc>
                  <a:txBody>
                    <a:bodyPr/>
                    <a:lstStyle/>
                    <a:p>
                      <a:pPr algn="ctr"/>
                      <a:r>
                        <a:rPr sz="1050" b="0" i="0">
                          <a:solidFill>
                            <a:srgbClr val="0F9E8E"/>
                          </a:solidFill>
                          <a:latin typeface="Noto Sans CJK JP"/>
                        </a:rPr>
                        <a:t>↔</a:t>
                      </a:r>
                    </a:p>
                  </a:txBody>
                  <a:tcPr marL="0" marR="0" marT="0" marB="0" anchor="ctr">
                    <a:solidFill>
                      <a:srgbClr val="FFFFFF"/>
                    </a:solidFill>
                  </a:tcPr>
                </a:tc>
                <a:tc>
                  <a:txBody>
                    <a:bodyPr/>
                    <a:lstStyle/>
                    <a:p>
                      <a:pPr algn="ctr"/>
                      <a:r>
                        <a:rPr sz="1050" b="1" i="0" dirty="0">
                          <a:solidFill>
                            <a:srgbClr val="1A2238"/>
                          </a:solidFill>
                          <a:latin typeface="Noto Sans CJK JP"/>
                        </a:rPr>
                        <a:t>gⁿ⁻¹H</a:t>
                      </a:r>
                    </a:p>
                  </a:txBody>
                  <a:tcPr marL="0" marR="0" marT="0" marB="0" anchor="ctr">
                    <a:solidFill>
                      <a:srgbClr val="FFFFFF"/>
                    </a:solidFill>
                  </a:tcPr>
                </a:tc>
                <a:extLst>
                  <a:ext uri="{0D108BD9-81ED-4DB2-BD59-A6C34878D82A}">
                    <a16:rowId xmlns:a16="http://schemas.microsoft.com/office/drawing/2014/main" val="10004"/>
                  </a:ext>
                </a:extLst>
              </a:tr>
            </a:tbl>
          </a:graphicData>
        </a:graphic>
      </p:graphicFrame>
      <p:sp>
        <p:nvSpPr>
          <p:cNvPr id="29" name="TextBox 28"/>
          <p:cNvSpPr txBox="1"/>
          <p:nvPr/>
        </p:nvSpPr>
        <p:spPr>
          <a:xfrm>
            <a:off x="5840080" y="2260000"/>
            <a:ext cx="2800000" cy="207749"/>
          </a:xfrm>
          <a:prstGeom prst="rect">
            <a:avLst/>
          </a:prstGeom>
          <a:noFill/>
        </p:spPr>
        <p:txBody>
          <a:bodyPr wrap="square" lIns="0" tIns="0" rIns="0" bIns="0" anchor="t">
            <a:spAutoFit/>
          </a:bodyPr>
          <a:lstStyle/>
          <a:p>
            <a:pPr algn="ctr"/>
            <a:r>
              <a:rPr sz="1350" b="1" i="0" dirty="0">
                <a:solidFill>
                  <a:srgbClr val="1A2238"/>
                </a:solidFill>
                <a:latin typeface="Noto Sans CJK JP"/>
              </a:rPr>
              <a:t> </a:t>
            </a:r>
            <a:r>
              <a:rPr sz="1350" b="1" i="0" dirty="0" err="1">
                <a:solidFill>
                  <a:srgbClr val="1A2238"/>
                </a:solidFill>
                <a:latin typeface="Noto Sans CJK JP"/>
              </a:rPr>
              <a:t>商群の</a:t>
            </a:r>
            <a:r>
              <a:rPr lang="ja-JP" altLang="en-US" sz="1350" b="1" i="0" dirty="0">
                <a:solidFill>
                  <a:srgbClr val="1A2238"/>
                </a:solidFill>
                <a:latin typeface="Noto Sans CJK JP"/>
              </a:rPr>
              <a:t>巡回</a:t>
            </a:r>
            <a:endParaRPr sz="1350" b="1" i="0" dirty="0">
              <a:solidFill>
                <a:srgbClr val="1A2238"/>
              </a:solidFill>
              <a:latin typeface="Noto Sans CJK JP"/>
            </a:endParaRPr>
          </a:p>
        </p:txBody>
      </p:sp>
      <p:cxnSp>
        <p:nvCxnSpPr>
          <p:cNvPr id="30" name="Connector 29"/>
          <p:cNvCxnSpPr/>
          <p:nvPr/>
        </p:nvCxnSpPr>
        <p:spPr>
          <a:xfrm>
            <a:off x="7391366" y="2999915"/>
            <a:ext cx="439251" cy="319135"/>
          </a:xfrm>
          <a:prstGeom prst="line">
            <a:avLst/>
          </a:prstGeom>
          <a:ln w="13000">
            <a:solidFill>
              <a:srgbClr val="0F9E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433224" y="2936220"/>
            <a:ext cx="980000" cy="220000"/>
          </a:xfrm>
          <a:prstGeom prst="rect">
            <a:avLst/>
          </a:prstGeom>
          <a:noFill/>
        </p:spPr>
        <p:txBody>
          <a:bodyPr wrap="square" lIns="0" tIns="0" rIns="0" bIns="0" anchor="t">
            <a:spAutoFit/>
          </a:bodyPr>
          <a:lstStyle/>
          <a:p>
            <a:pPr algn="ctr"/>
            <a:r>
              <a:rPr sz="900" b="1" i="0" dirty="0">
                <a:solidFill>
                  <a:srgbClr val="0F9E8E"/>
                </a:solidFill>
                <a:latin typeface="Noto Sans CJK JP"/>
              </a:rPr>
              <a:t>gHで1つ進む</a:t>
            </a:r>
          </a:p>
        </p:txBody>
      </p:sp>
      <p:cxnSp>
        <p:nvCxnSpPr>
          <p:cNvPr id="32" name="Connector 31"/>
          <p:cNvCxnSpPr/>
          <p:nvPr/>
        </p:nvCxnSpPr>
        <p:spPr>
          <a:xfrm flipH="1">
            <a:off x="7756338" y="3606814"/>
            <a:ext cx="167779" cy="516371"/>
          </a:xfrm>
          <a:prstGeom prst="line">
            <a:avLst/>
          </a:prstGeom>
          <a:ln w="13000">
            <a:solidFill>
              <a:srgbClr val="0F9E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6968607" y="4301033"/>
            <a:ext cx="542945" cy="0"/>
          </a:xfrm>
          <a:prstGeom prst="line">
            <a:avLst/>
          </a:prstGeom>
          <a:ln w="13000">
            <a:solidFill>
              <a:srgbClr val="0F9E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6556042" y="3606814"/>
            <a:ext cx="167779" cy="516371"/>
          </a:xfrm>
          <a:prstGeom prst="line">
            <a:avLst/>
          </a:prstGeom>
          <a:ln w="13000">
            <a:solidFill>
              <a:srgbClr val="0F9E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6649542" y="2999915"/>
            <a:ext cx="439251" cy="319135"/>
          </a:xfrm>
          <a:prstGeom prst="line">
            <a:avLst/>
          </a:prstGeom>
          <a:ln w="13000">
            <a:solidFill>
              <a:srgbClr val="0F9E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7065080" y="2715000"/>
            <a:ext cx="350000" cy="350000"/>
          </a:xfrm>
          <a:prstGeom prst="ellipse">
            <a:avLst/>
          </a:prstGeom>
          <a:solidFill>
            <a:srgbClr val="E5F5F2"/>
          </a:solidFill>
          <a:ln w="11000">
            <a:solidFill>
              <a:srgbClr val="0F9E8E"/>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b="1" i="0">
                <a:solidFill>
                  <a:srgbClr val="1A2238"/>
                </a:solidFill>
                <a:latin typeface="Noto Sans CJK JP"/>
              </a:rPr>
              <a:t>H</a:t>
            </a:r>
          </a:p>
        </p:txBody>
      </p:sp>
      <p:sp>
        <p:nvSpPr>
          <p:cNvPr id="37" name="Oval 36"/>
          <p:cNvSpPr/>
          <p:nvPr/>
        </p:nvSpPr>
        <p:spPr>
          <a:xfrm>
            <a:off x="7806904" y="3253966"/>
            <a:ext cx="350000" cy="350000"/>
          </a:xfrm>
          <a:prstGeom prst="ellipse">
            <a:avLst/>
          </a:prstGeom>
          <a:solidFill>
            <a:srgbClr val="E5F5F2"/>
          </a:solidFill>
          <a:ln w="11000">
            <a:solidFill>
              <a:srgbClr val="0F9E8E"/>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b="1" i="0">
                <a:solidFill>
                  <a:srgbClr val="1A2238"/>
                </a:solidFill>
                <a:latin typeface="Noto Sans CJK JP"/>
              </a:rPr>
              <a:t>gH</a:t>
            </a:r>
          </a:p>
        </p:txBody>
      </p:sp>
      <p:sp>
        <p:nvSpPr>
          <p:cNvPr id="38" name="Oval 37"/>
          <p:cNvSpPr/>
          <p:nvPr/>
        </p:nvSpPr>
        <p:spPr>
          <a:xfrm>
            <a:off x="7523552" y="4126033"/>
            <a:ext cx="350000" cy="350000"/>
          </a:xfrm>
          <a:prstGeom prst="ellipse">
            <a:avLst/>
          </a:prstGeom>
          <a:solidFill>
            <a:srgbClr val="E5F5F2"/>
          </a:solidFill>
          <a:ln w="11000">
            <a:solidFill>
              <a:srgbClr val="0F9E8E"/>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b="1" i="0">
                <a:solidFill>
                  <a:srgbClr val="1A2238"/>
                </a:solidFill>
                <a:latin typeface="Noto Sans CJK JP"/>
              </a:rPr>
              <a:t>g²H</a:t>
            </a:r>
          </a:p>
        </p:txBody>
      </p:sp>
      <p:sp>
        <p:nvSpPr>
          <p:cNvPr id="39" name="Oval 38"/>
          <p:cNvSpPr/>
          <p:nvPr/>
        </p:nvSpPr>
        <p:spPr>
          <a:xfrm>
            <a:off x="6606607" y="4126033"/>
            <a:ext cx="350000" cy="350000"/>
          </a:xfrm>
          <a:prstGeom prst="ellipse">
            <a:avLst/>
          </a:prstGeom>
          <a:solidFill>
            <a:srgbClr val="E5F5F2"/>
          </a:solidFill>
          <a:ln w="11000">
            <a:solidFill>
              <a:srgbClr val="0F9E8E"/>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b="1" i="0">
                <a:solidFill>
                  <a:srgbClr val="1A2238"/>
                </a:solidFill>
                <a:latin typeface="Noto Sans CJK JP"/>
              </a:rPr>
              <a:t>⋯</a:t>
            </a:r>
          </a:p>
        </p:txBody>
      </p:sp>
      <p:sp>
        <p:nvSpPr>
          <p:cNvPr id="40" name="Oval 39"/>
          <p:cNvSpPr/>
          <p:nvPr/>
        </p:nvSpPr>
        <p:spPr>
          <a:xfrm>
            <a:off x="6323255" y="3253966"/>
            <a:ext cx="350000" cy="350000"/>
          </a:xfrm>
          <a:prstGeom prst="ellipse">
            <a:avLst/>
          </a:prstGeom>
          <a:solidFill>
            <a:srgbClr val="E5F5F2"/>
          </a:solidFill>
          <a:ln w="11000">
            <a:solidFill>
              <a:srgbClr val="0F9E8E"/>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b="1" i="0">
                <a:solidFill>
                  <a:srgbClr val="1A2238"/>
                </a:solidFill>
                <a:latin typeface="Noto Sans CJK JP"/>
              </a:rPr>
              <a:t>gⁿ⁻¹H</a:t>
            </a:r>
          </a:p>
        </p:txBody>
      </p:sp>
      <p:sp>
        <p:nvSpPr>
          <p:cNvPr id="41" name="TextBox 40"/>
          <p:cNvSpPr txBox="1"/>
          <p:nvPr/>
        </p:nvSpPr>
        <p:spPr>
          <a:xfrm>
            <a:off x="5830080" y="4690000"/>
            <a:ext cx="2820000" cy="760000"/>
          </a:xfrm>
          <a:prstGeom prst="rect">
            <a:avLst/>
          </a:prstGeom>
          <a:noFill/>
        </p:spPr>
        <p:txBody>
          <a:bodyPr wrap="square" lIns="0" tIns="0" rIns="0" bIns="0" anchor="t">
            <a:spAutoFit/>
          </a:bodyPr>
          <a:lstStyle/>
          <a:p>
            <a:pPr algn="ctr">
              <a:lnSpc>
                <a:spcPct val="115000"/>
              </a:lnSpc>
            </a:pPr>
            <a:r>
              <a:rPr sz="1100" b="1" i="0">
                <a:solidFill>
                  <a:srgbClr val="3457A6"/>
                </a:solidFill>
                <a:latin typeface="Noto Sans CJK JP"/>
              </a:rPr>
              <a:t>G/H = ⟨gH⟩ ≅ Cₙ</a:t>
            </a:r>
          </a:p>
          <a:p>
            <a:pPr algn="ctr">
              <a:lnSpc>
                <a:spcPct val="115000"/>
              </a:lnSpc>
            </a:pPr>
            <a:r>
              <a:rPr sz="900" b="0" i="0">
                <a:solidFill>
                  <a:srgbClr val="6B7180"/>
                </a:solidFill>
                <a:latin typeface="Noto Sans CJK JP"/>
              </a:rPr>
              <a:t>(G = Gal(L/M), H = {id})</a:t>
            </a:r>
          </a:p>
        </p:txBody>
      </p:sp>
      <p:sp>
        <p:nvSpPr>
          <p:cNvPr id="42" name="TextBox 41"/>
          <p:cNvSpPr txBox="1"/>
          <p:nvPr/>
        </p:nvSpPr>
        <p:spPr>
          <a:xfrm>
            <a:off x="8940080" y="2260000"/>
            <a:ext cx="2572800" cy="200055"/>
          </a:xfrm>
          <a:prstGeom prst="rect">
            <a:avLst/>
          </a:prstGeom>
          <a:noFill/>
        </p:spPr>
        <p:txBody>
          <a:bodyPr wrap="square" lIns="0" tIns="0" rIns="0" bIns="0" anchor="t">
            <a:spAutoFit/>
          </a:bodyPr>
          <a:lstStyle/>
          <a:p>
            <a:pPr algn="ctr"/>
            <a:r>
              <a:rPr sz="1300" b="1" i="0" dirty="0">
                <a:solidFill>
                  <a:srgbClr val="1A2238"/>
                </a:solidFill>
                <a:latin typeface="Noto Sans CJK JP"/>
              </a:rPr>
              <a:t>何が「1対1対応」なのか</a:t>
            </a:r>
          </a:p>
        </p:txBody>
      </p:sp>
      <p:sp>
        <p:nvSpPr>
          <p:cNvPr id="43" name="TextBox 42"/>
          <p:cNvSpPr txBox="1"/>
          <p:nvPr/>
        </p:nvSpPr>
        <p:spPr>
          <a:xfrm>
            <a:off x="8890080" y="3136099"/>
            <a:ext cx="2661840" cy="175946"/>
          </a:xfrm>
          <a:prstGeom prst="rect">
            <a:avLst/>
          </a:prstGeom>
          <a:noFill/>
        </p:spPr>
        <p:txBody>
          <a:bodyPr wrap="square" lIns="0" tIns="0" rIns="0" bIns="0" anchor="t">
            <a:spAutoFit/>
          </a:bodyPr>
          <a:lstStyle/>
          <a:p>
            <a:pPr algn="l">
              <a:lnSpc>
                <a:spcPct val="118000"/>
              </a:lnSpc>
            </a:pPr>
            <a:r>
              <a:rPr sz="1050" b="0" i="0" dirty="0">
                <a:solidFill>
                  <a:srgbClr val="33384A"/>
                </a:solidFill>
                <a:latin typeface="Noto Sans CJK JP"/>
              </a:rPr>
              <a:t>「</a:t>
            </a:r>
            <a:r>
              <a:rPr sz="1050" b="0" i="0" dirty="0" err="1">
                <a:solidFill>
                  <a:srgbClr val="33384A"/>
                </a:solidFill>
                <a:latin typeface="Noto Sans CJK JP"/>
              </a:rPr>
              <a:t>各剰余類</a:t>
            </a:r>
            <a:r>
              <a:rPr sz="1050" b="0" i="0" dirty="0">
                <a:solidFill>
                  <a:srgbClr val="33384A"/>
                </a:solidFill>
                <a:latin typeface="Noto Sans CJK JP"/>
              </a:rPr>
              <a:t> </a:t>
            </a:r>
            <a:r>
              <a:rPr sz="1050" b="0" i="0" dirty="0" err="1">
                <a:solidFill>
                  <a:srgbClr val="33384A"/>
                </a:solidFill>
                <a:latin typeface="Noto Sans CJK JP"/>
              </a:rPr>
              <a:t>gᵏH」が</a:t>
            </a:r>
            <a:r>
              <a:rPr sz="1050" b="0" i="0" dirty="0">
                <a:solidFill>
                  <a:srgbClr val="33384A"/>
                </a:solidFill>
                <a:latin typeface="Noto Sans CJK JP"/>
              </a:rPr>
              <a:t>「α</a:t>
            </a:r>
            <a:r>
              <a:rPr sz="1050" b="0" i="0" dirty="0" err="1">
                <a:solidFill>
                  <a:srgbClr val="33384A"/>
                </a:solidFill>
                <a:latin typeface="Noto Sans CJK JP"/>
              </a:rPr>
              <a:t>の像</a:t>
            </a:r>
            <a:r>
              <a:rPr sz="1050" b="0" i="0" dirty="0">
                <a:solidFill>
                  <a:srgbClr val="33384A"/>
                </a:solidFill>
                <a:latin typeface="Noto Sans CJK JP"/>
              </a:rPr>
              <a:t> ζᵏα」</a:t>
            </a:r>
            <a:r>
              <a:rPr sz="1050" b="0" i="0" dirty="0" err="1">
                <a:solidFill>
                  <a:srgbClr val="33384A"/>
                </a:solidFill>
                <a:latin typeface="Noto Sans CJK JP"/>
              </a:rPr>
              <a:t>に対応</a:t>
            </a:r>
            <a:endParaRPr sz="1050" b="0" i="0" dirty="0">
              <a:solidFill>
                <a:srgbClr val="33384A"/>
              </a:solidFill>
              <a:latin typeface="Noto Sans CJK JP"/>
            </a:endParaRPr>
          </a:p>
        </p:txBody>
      </p:sp>
      <p:sp>
        <p:nvSpPr>
          <p:cNvPr id="44" name="Rounded Rectangle 43"/>
          <p:cNvSpPr/>
          <p:nvPr/>
        </p:nvSpPr>
        <p:spPr>
          <a:xfrm>
            <a:off x="8970080" y="3493700"/>
            <a:ext cx="2512800" cy="500000"/>
          </a:xfrm>
          <a:prstGeom prst="roundRect">
            <a:avLst>
              <a:gd name="adj" fmla="val 18000"/>
            </a:avLst>
          </a:prstGeom>
          <a:solidFill>
            <a:srgbClr val="E5F5F2"/>
          </a:solidFill>
          <a:ln w="12700">
            <a:solidFill>
              <a:srgbClr val="0F9E8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3457A6"/>
                </a:solidFill>
                <a:latin typeface="Noto Sans CJK JP"/>
              </a:rPr>
              <a:t>(gᵏH)(α) = ζᵏα</a:t>
            </a:r>
          </a:p>
        </p:txBody>
      </p:sp>
      <p:sp>
        <p:nvSpPr>
          <p:cNvPr id="46" name="Rectangle 45"/>
          <p:cNvSpPr/>
          <p:nvPr/>
        </p:nvSpPr>
        <p:spPr>
          <a:xfrm>
            <a:off x="640080" y="5540950"/>
            <a:ext cx="64008" cy="700000"/>
          </a:xfrm>
          <a:prstGeom prst="rect">
            <a:avLst/>
          </a:prstGeom>
          <a:solidFill>
            <a:srgbClr val="1A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640080" y="5540950"/>
            <a:ext cx="8100000" cy="851034"/>
          </a:xfrm>
          <a:prstGeom prst="roundRect">
            <a:avLst>
              <a:gd name="adj" fmla="val 6000"/>
            </a:avLst>
          </a:prstGeom>
          <a:solidFill>
            <a:srgbClr val="E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40080" y="5540950"/>
            <a:ext cx="64008" cy="851034"/>
          </a:xfrm>
          <a:prstGeom prst="rect">
            <a:avLst/>
          </a:prstGeom>
          <a:solidFill>
            <a:srgbClr val="1A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60080" y="5570950"/>
            <a:ext cx="8300000" cy="640000"/>
          </a:xfrm>
          <a:prstGeom prst="rect">
            <a:avLst/>
          </a:prstGeom>
          <a:noFill/>
        </p:spPr>
        <p:txBody>
          <a:bodyPr wrap="square" lIns="0" tIns="0" rIns="0" bIns="0" anchor="t">
            <a:spAutoFit/>
          </a:bodyPr>
          <a:lstStyle/>
          <a:p>
            <a:pPr algn="l">
              <a:lnSpc>
                <a:spcPct val="112000"/>
              </a:lnSpc>
            </a:pPr>
            <a:r>
              <a:rPr sz="1150" b="1" i="0" dirty="0" err="1">
                <a:solidFill>
                  <a:srgbClr val="1A2238"/>
                </a:solidFill>
                <a:latin typeface="Noto Sans CJK JP"/>
              </a:rPr>
              <a:t>まとめ</a:t>
            </a:r>
            <a:r>
              <a:rPr sz="1150" b="1" i="0" dirty="0">
                <a:solidFill>
                  <a:srgbClr val="1A2238"/>
                </a:solidFill>
                <a:latin typeface="Noto Sans CJK JP"/>
              </a:rPr>
              <a:t>:</a:t>
            </a:r>
          </a:p>
          <a:p>
            <a:pPr algn="l">
              <a:lnSpc>
                <a:spcPct val="112000"/>
              </a:lnSpc>
            </a:pPr>
            <a:r>
              <a:rPr sz="1150" b="1" i="0" dirty="0">
                <a:solidFill>
                  <a:srgbClr val="33384A"/>
                </a:solidFill>
                <a:latin typeface="Noto Sans CJK JP"/>
              </a:rPr>
              <a:t>① </a:t>
            </a:r>
            <a:r>
              <a:rPr sz="1150" b="1" i="0" dirty="0" err="1">
                <a:solidFill>
                  <a:srgbClr val="33384A"/>
                </a:solidFill>
                <a:latin typeface="Noto Sans CJK JP"/>
              </a:rPr>
              <a:t>生成元</a:t>
            </a:r>
            <a:r>
              <a:rPr sz="1150" b="1" i="0" dirty="0">
                <a:solidFill>
                  <a:srgbClr val="33384A"/>
                </a:solidFill>
                <a:latin typeface="Noto Sans CJK JP"/>
              </a:rPr>
              <a:t> σ:α↦ζα </a:t>
            </a:r>
            <a:r>
              <a:rPr sz="1150" b="1" i="0" dirty="0" err="1">
                <a:solidFill>
                  <a:srgbClr val="33384A"/>
                </a:solidFill>
                <a:latin typeface="Noto Sans CJK JP"/>
              </a:rPr>
              <a:t>が、共役元を巡回させる</a:t>
            </a:r>
            <a:r>
              <a:rPr sz="1150" b="1" i="0" dirty="0">
                <a:solidFill>
                  <a:srgbClr val="33384A"/>
                </a:solidFill>
                <a:latin typeface="Noto Sans CJK JP"/>
              </a:rPr>
              <a:t>。</a:t>
            </a:r>
          </a:p>
          <a:p>
            <a:pPr algn="l">
              <a:lnSpc>
                <a:spcPct val="112000"/>
              </a:lnSpc>
            </a:pPr>
            <a:r>
              <a:rPr sz="1150" b="1" i="0" dirty="0">
                <a:solidFill>
                  <a:srgbClr val="33384A"/>
                </a:solidFill>
                <a:latin typeface="Noto Sans CJK JP"/>
              </a:rPr>
              <a:t>② </a:t>
            </a:r>
            <a:r>
              <a:rPr sz="1150" b="1" i="0" dirty="0" err="1">
                <a:solidFill>
                  <a:srgbClr val="33384A"/>
                </a:solidFill>
                <a:latin typeface="Noto Sans CJK JP"/>
              </a:rPr>
              <a:t>生成元</a:t>
            </a:r>
            <a:r>
              <a:rPr sz="1150" b="1" i="0" dirty="0">
                <a:solidFill>
                  <a:srgbClr val="33384A"/>
                </a:solidFill>
                <a:latin typeface="Noto Sans CJK JP"/>
              </a:rPr>
              <a:t> </a:t>
            </a:r>
            <a:r>
              <a:rPr sz="1150" b="1" i="0" dirty="0" err="1">
                <a:solidFill>
                  <a:srgbClr val="33384A"/>
                </a:solidFill>
                <a:latin typeface="Noto Sans CJK JP"/>
              </a:rPr>
              <a:t>gH</a:t>
            </a:r>
            <a:r>
              <a:rPr sz="1150" b="1" i="0" dirty="0">
                <a:solidFill>
                  <a:srgbClr val="33384A"/>
                </a:solidFill>
                <a:latin typeface="Noto Sans CJK JP"/>
              </a:rPr>
              <a:t> </a:t>
            </a:r>
            <a:r>
              <a:rPr sz="1150" b="1" i="0" dirty="0" err="1">
                <a:solidFill>
                  <a:srgbClr val="33384A"/>
                </a:solidFill>
                <a:latin typeface="Noto Sans CJK JP"/>
              </a:rPr>
              <a:t>が、商群</a:t>
            </a:r>
            <a:r>
              <a:rPr sz="1150" b="1" i="0" dirty="0">
                <a:solidFill>
                  <a:srgbClr val="33384A"/>
                </a:solidFill>
                <a:latin typeface="Noto Sans CJK JP"/>
              </a:rPr>
              <a:t> G/H </a:t>
            </a:r>
            <a:r>
              <a:rPr sz="1150" b="1" i="0" dirty="0" err="1">
                <a:solidFill>
                  <a:srgbClr val="33384A"/>
                </a:solidFill>
                <a:latin typeface="Noto Sans CJK JP"/>
              </a:rPr>
              <a:t>を巡回させる</a:t>
            </a:r>
            <a:r>
              <a:rPr sz="1150" b="1" i="0" dirty="0">
                <a:solidFill>
                  <a:srgbClr val="33384A"/>
                </a:solidFill>
                <a:latin typeface="Noto Sans CJK JP"/>
              </a:rPr>
              <a:t>。</a:t>
            </a:r>
          </a:p>
          <a:p>
            <a:pPr algn="l">
              <a:lnSpc>
                <a:spcPct val="112000"/>
              </a:lnSpc>
            </a:pPr>
            <a:r>
              <a:rPr sz="1150" b="1" i="0" dirty="0">
                <a:solidFill>
                  <a:srgbClr val="33384A"/>
                </a:solidFill>
                <a:latin typeface="Noto Sans CJK JP"/>
              </a:rPr>
              <a:t>③ </a:t>
            </a:r>
            <a:r>
              <a:rPr sz="1150" b="1" i="0" dirty="0" err="1">
                <a:solidFill>
                  <a:srgbClr val="33384A"/>
                </a:solidFill>
                <a:latin typeface="Noto Sans CJK JP"/>
              </a:rPr>
              <a:t>その</a:t>
            </a:r>
            <a:r>
              <a:rPr sz="1150" b="1" i="0" dirty="0">
                <a:solidFill>
                  <a:srgbClr val="33384A"/>
                </a:solidFill>
                <a:latin typeface="Noto Sans CJK JP"/>
              </a:rPr>
              <a:t> k </a:t>
            </a:r>
            <a:r>
              <a:rPr sz="1150" b="1" i="0" dirty="0" err="1">
                <a:solidFill>
                  <a:srgbClr val="33384A"/>
                </a:solidFill>
                <a:latin typeface="Noto Sans CJK JP"/>
              </a:rPr>
              <a:t>乗が</a:t>
            </a:r>
            <a:r>
              <a:rPr sz="1150" b="1" i="0" dirty="0">
                <a:solidFill>
                  <a:srgbClr val="33384A"/>
                </a:solidFill>
                <a:latin typeface="Noto Sans CJK JP"/>
              </a:rPr>
              <a:t> α を ζᵏα </a:t>
            </a:r>
            <a:r>
              <a:rPr sz="1150" b="1" i="0" dirty="0" err="1">
                <a:solidFill>
                  <a:srgbClr val="33384A"/>
                </a:solidFill>
                <a:latin typeface="Noto Sans CJK JP"/>
              </a:rPr>
              <a:t>に送るので</a:t>
            </a:r>
            <a:r>
              <a:rPr sz="1150" b="1" i="0" dirty="0">
                <a:solidFill>
                  <a:srgbClr val="33384A"/>
                </a:solidFill>
                <a:latin typeface="Noto Sans CJK JP"/>
              </a:rPr>
              <a:t>、「</a:t>
            </a:r>
            <a:r>
              <a:rPr sz="1150" b="1" i="0" dirty="0" err="1">
                <a:solidFill>
                  <a:srgbClr val="33384A"/>
                </a:solidFill>
                <a:latin typeface="Noto Sans CJK JP"/>
              </a:rPr>
              <a:t>共役元の並び」と「巡回商群の並び」は同じ巡回構造を表している</a:t>
            </a:r>
            <a:r>
              <a:rPr sz="1150" b="1" i="0" dirty="0">
                <a:solidFill>
                  <a:srgbClr val="33384A"/>
                </a:solidFill>
                <a:latin typeface="Noto Sans CJK JP"/>
              </a:rPr>
              <a:t>。</a:t>
            </a:r>
          </a:p>
        </p:txBody>
      </p:sp>
      <p:sp>
        <p:nvSpPr>
          <p:cNvPr id="51" name="TextBox 50"/>
          <p:cNvSpPr txBox="1"/>
          <p:nvPr/>
        </p:nvSpPr>
        <p:spPr>
          <a:xfrm>
            <a:off x="11338560" y="6355080"/>
            <a:ext cx="457200" cy="274320"/>
          </a:xfrm>
          <a:prstGeom prst="rect">
            <a:avLst/>
          </a:prstGeom>
          <a:noFill/>
        </p:spPr>
        <p:txBody>
          <a:bodyPr wrap="square" lIns="0" tIns="0" rIns="0" bIns="0" anchor="ctr">
            <a:spAutoFit/>
          </a:bodyPr>
          <a:lstStyle/>
          <a:p>
            <a:pPr algn="r"/>
            <a:r>
              <a:rPr sz="1100" b="0" i="0">
                <a:solidFill>
                  <a:srgbClr val="6B7180"/>
                </a:solidFill>
                <a:latin typeface="Noto Sans CJK JP"/>
              </a:rPr>
              <a:t>15</a:t>
            </a:r>
          </a:p>
        </p:txBody>
      </p:sp>
      <p:sp>
        <p:nvSpPr>
          <p:cNvPr id="52" name="TextBox 51"/>
          <p:cNvSpPr txBox="1"/>
          <p:nvPr/>
        </p:nvSpPr>
        <p:spPr>
          <a:xfrm>
            <a:off x="457200" y="6355080"/>
            <a:ext cx="4572000" cy="274320"/>
          </a:xfrm>
          <a:prstGeom prst="rect">
            <a:avLst/>
          </a:prstGeom>
          <a:noFill/>
        </p:spPr>
        <p:txBody>
          <a:bodyPr wrap="square" lIns="0" tIns="0" rIns="0" bIns="0" anchor="ctr">
            <a:spAutoFit/>
          </a:bodyPr>
          <a:lstStyle/>
          <a:p>
            <a:pPr algn="l"/>
            <a:r>
              <a:rPr sz="1000" b="0" i="0">
                <a:solidFill>
                  <a:srgbClr val="6B7180"/>
                </a:solidFill>
                <a:latin typeface="Noto Sans CJK JP"/>
              </a:rPr>
              <a:t>5garashi.com 設計事務所</a:t>
            </a:r>
          </a:p>
        </p:txBody>
      </p:sp>
      <p:sp>
        <p:nvSpPr>
          <p:cNvPr id="53" name="矢印: 左右 52">
            <a:extLst>
              <a:ext uri="{FF2B5EF4-FFF2-40B4-BE49-F238E27FC236}">
                <a16:creationId xmlns:a16="http://schemas.microsoft.com/office/drawing/2014/main" id="{AF5A14D8-FBB4-0F58-3085-7A39C3E85D79}"/>
              </a:ext>
            </a:extLst>
          </p:cNvPr>
          <p:cNvSpPr/>
          <p:nvPr/>
        </p:nvSpPr>
        <p:spPr>
          <a:xfrm>
            <a:off x="3790080" y="2383215"/>
            <a:ext cx="1800000" cy="699840"/>
          </a:xfrm>
          <a:prstGeom prst="lef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a:solidFill>
                  <a:schemeClr val="bg1"/>
                </a:solidFill>
                <a:latin typeface="Noto Sans CJK JP"/>
              </a:rPr>
              <a:t>1</a:t>
            </a:r>
            <a:r>
              <a:rPr lang="ja-JP" altLang="en-US" b="1">
                <a:solidFill>
                  <a:schemeClr val="bg1"/>
                </a:solidFill>
                <a:latin typeface="Noto Sans CJK JP"/>
              </a:rPr>
              <a:t>対</a:t>
            </a:r>
            <a:r>
              <a:rPr lang="en-US" altLang="ja-JP" b="1">
                <a:solidFill>
                  <a:schemeClr val="bg1"/>
                </a:solidFill>
                <a:latin typeface="Noto Sans CJK JP"/>
              </a:rPr>
              <a:t>1</a:t>
            </a:r>
            <a:r>
              <a:rPr lang="ja-JP" altLang="en-US" b="1">
                <a:solidFill>
                  <a:schemeClr val="bg1"/>
                </a:solidFill>
                <a:latin typeface="Noto Sans CJK JP"/>
              </a:rPr>
              <a:t>対応</a:t>
            </a:r>
            <a:endParaRPr kumimoji="1" lang="ja-JP" altLang="en-US">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146304" cy="146304"/>
          </a:xfrm>
          <a:prstGeom prst="ellipse">
            <a:avLst/>
          </a:prstGeom>
          <a:solidFill>
            <a:srgbClr val="0F9E8E"/>
          </a:solidFill>
          <a:ln/>
        </p:spPr>
        <p:txBody>
          <a:bodyPr/>
          <a:lstStyle/>
          <a:p>
            <a:endParaRPr/>
          </a:p>
        </p:txBody>
      </p:sp>
      <p:sp>
        <p:nvSpPr>
          <p:cNvPr id="3" name="Text 1"/>
          <p:cNvSpPr/>
          <p:nvPr/>
        </p:nvSpPr>
        <p:spPr>
          <a:xfrm>
            <a:off x="896112" y="393192"/>
            <a:ext cx="5486400" cy="365760"/>
          </a:xfrm>
          <a:prstGeom prst="rect">
            <a:avLst/>
          </a:prstGeom>
          <a:noFill/>
          <a:ln/>
        </p:spPr>
        <p:txBody>
          <a:bodyPr wrap="square" lIns="0" tIns="0" rIns="0" bIns="0" rtlCol="0" anchor="ctr"/>
          <a:lstStyle/>
          <a:p>
            <a:pPr marL="0" indent="0">
              <a:buNone/>
            </a:pPr>
            <a:r>
              <a:rPr lang="ja-JP" sz="1600" b="1" dirty="0">
                <a:solidFill>
                  <a:srgbClr val="0F9E8E"/>
                </a:solidFill>
                <a:latin typeface="Noto Sans CJK JP" pitchFamily="34" charset="0"/>
                <a:ea typeface="Noto Sans CJK JP"/>
                <a:cs typeface="Noto Sans CJK JP" pitchFamily="34" charset="-120"/>
              </a:rPr>
              <a:t>補論 2</a:t>
            </a:r>
            <a:endParaRPr lang="en-US" sz="1600" dirty="0"/>
          </a:p>
        </p:txBody>
      </p:sp>
      <p:sp>
        <p:nvSpPr>
          <p:cNvPr id="4" name="Text 2"/>
          <p:cNvSpPr/>
          <p:nvPr/>
        </p:nvSpPr>
        <p:spPr>
          <a:xfrm>
            <a:off x="640080" y="822960"/>
            <a:ext cx="10972800" cy="640080"/>
          </a:xfrm>
          <a:prstGeom prst="rect">
            <a:avLst/>
          </a:prstGeom>
          <a:noFill/>
          <a:ln/>
        </p:spPr>
        <p:txBody>
          <a:bodyPr wrap="square" lIns="0" tIns="0" rIns="0" bIns="0" rtlCol="0" anchor="ctr"/>
          <a:lstStyle/>
          <a:p>
            <a:pPr marL="0" indent="0">
              <a:buNone/>
            </a:pPr>
            <a:r>
              <a:rPr lang="ja-JP" sz="2800" b="1" dirty="0">
                <a:solidFill>
                  <a:srgbClr val="1A2238"/>
                </a:solidFill>
                <a:latin typeface="Noto Sans CJK JP" pitchFamily="34" charset="0"/>
                <a:ea typeface="Noto Sans CJK JP"/>
                <a:cs typeface="Noto Sans CJK JP" pitchFamily="34" charset="-120"/>
              </a:rPr>
              <a:t>x³−2 でたどる縮小鎖と、可解性の結論</a:t>
            </a:r>
            <a:endParaRPr lang="en-US" sz="2800" dirty="0"/>
          </a:p>
        </p:txBody>
      </p:sp>
      <p:sp>
        <p:nvSpPr>
          <p:cNvPr id="5" name="Text 3"/>
          <p:cNvSpPr/>
          <p:nvPr/>
        </p:nvSpPr>
        <p:spPr>
          <a:xfrm>
            <a:off x="640080" y="1554480"/>
            <a:ext cx="10058400" cy="365760"/>
          </a:xfrm>
          <a:prstGeom prst="rect">
            <a:avLst/>
          </a:prstGeom>
          <a:noFill/>
          <a:ln/>
        </p:spPr>
        <p:txBody>
          <a:bodyPr wrap="square" lIns="0" tIns="0" rIns="0" bIns="0" rtlCol="0" anchor="ctr"/>
          <a:lstStyle/>
          <a:p>
            <a:pPr marL="0" indent="0">
              <a:buNone/>
            </a:pPr>
            <a:r>
              <a:rPr lang="ja-JP" sz="1600" b="1" dirty="0">
                <a:solidFill>
                  <a:srgbClr val="0F9E8E"/>
                </a:solidFill>
                <a:latin typeface="Noto Sans CJK JP" pitchFamily="34" charset="0"/>
                <a:ea typeface="Noto Sans CJK JP"/>
                <a:cs typeface="Noto Sans CJK JP" pitchFamily="34" charset="-120"/>
              </a:rPr>
              <a:t>x³−2=0 を解く2ステップ</a:t>
            </a:r>
            <a:endParaRPr lang="en-US" sz="1600" dirty="0"/>
          </a:p>
        </p:txBody>
      </p:sp>
      <p:sp>
        <p:nvSpPr>
          <p:cNvPr id="6" name="Shape 4"/>
          <p:cNvSpPr/>
          <p:nvPr/>
        </p:nvSpPr>
        <p:spPr>
          <a:xfrm>
            <a:off x="640080" y="1965960"/>
            <a:ext cx="5303520" cy="1371600"/>
          </a:xfrm>
          <a:prstGeom prst="roundRect">
            <a:avLst>
              <a:gd name="adj" fmla="val 5333"/>
            </a:avLst>
          </a:prstGeom>
          <a:solidFill>
            <a:srgbClr val="E5F5F2"/>
          </a:solidFill>
          <a:ln w="12700">
            <a:solidFill>
              <a:srgbClr val="0F9E8E"/>
            </a:solidFill>
            <a:prstDash val="solid"/>
          </a:ln>
        </p:spPr>
        <p:txBody>
          <a:bodyPr/>
          <a:lstStyle/>
          <a:p>
            <a:endParaRPr/>
          </a:p>
        </p:txBody>
      </p:sp>
      <p:sp>
        <p:nvSpPr>
          <p:cNvPr id="7" name="Text 5"/>
          <p:cNvSpPr/>
          <p:nvPr/>
        </p:nvSpPr>
        <p:spPr>
          <a:xfrm>
            <a:off x="868680" y="2075688"/>
            <a:ext cx="4846320" cy="365760"/>
          </a:xfrm>
          <a:prstGeom prst="rect">
            <a:avLst/>
          </a:prstGeom>
          <a:noFill/>
          <a:ln/>
        </p:spPr>
        <p:txBody>
          <a:bodyPr wrap="square" lIns="0" tIns="0" rIns="0" bIns="0" rtlCol="0" anchor="ctr"/>
          <a:lstStyle/>
          <a:p>
            <a:pPr marL="0" indent="0">
              <a:buNone/>
            </a:pPr>
            <a:r>
              <a:rPr lang="ja-JP" sz="1600" b="1" dirty="0">
                <a:solidFill>
                  <a:srgbClr val="1A2238"/>
                </a:solidFill>
                <a:latin typeface="Noto Sans CJK JP" pitchFamily="34" charset="0"/>
                <a:ea typeface="Noto Sans CJK JP"/>
                <a:cs typeface="Noto Sans CJK JP" pitchFamily="34" charset="-120"/>
              </a:rPr>
              <a:t>STEP 1:ω を添加</a:t>
            </a:r>
            <a:endParaRPr lang="en-US" sz="1600" dirty="0"/>
          </a:p>
        </p:txBody>
      </p:sp>
      <p:sp>
        <p:nvSpPr>
          <p:cNvPr id="8" name="Text 6"/>
          <p:cNvSpPr/>
          <p:nvPr/>
        </p:nvSpPr>
        <p:spPr>
          <a:xfrm>
            <a:off x="868680" y="2450592"/>
            <a:ext cx="4937760" cy="868680"/>
          </a:xfrm>
          <a:prstGeom prst="rect">
            <a:avLst/>
          </a:prstGeom>
          <a:noFill/>
          <a:ln/>
        </p:spPr>
        <p:txBody>
          <a:bodyPr wrap="square" lIns="0" tIns="0" rIns="0" bIns="0" rtlCol="0" anchor="t"/>
          <a:lstStyle/>
          <a:p>
            <a:pPr marL="0" indent="0">
              <a:lnSpc>
                <a:spcPct val="120000"/>
              </a:lnSpc>
              <a:buNone/>
            </a:pPr>
            <a:r>
              <a:rPr lang="ja-JP" sz="1300" dirty="0">
                <a:solidFill>
                  <a:srgbClr val="33384A"/>
                </a:solidFill>
                <a:latin typeface="Noto Sans CJK JP" pitchFamily="34" charset="0"/>
                <a:ea typeface="Noto Sans CJK JP"/>
                <a:cs typeface="Noto Sans CJK JP" pitchFamily="34" charset="-120"/>
              </a:rPr>
              <a:t>体:Q → L = Q(ω)</a:t>
            </a:r>
            <a:endParaRPr lang="en-US" sz="1300" dirty="0"/>
          </a:p>
          <a:p>
            <a:pPr marL="0" indent="0">
              <a:lnSpc>
                <a:spcPct val="120000"/>
              </a:lnSpc>
              <a:buNone/>
            </a:pPr>
            <a:r>
              <a:rPr lang="ja-JP" sz="1300" dirty="0">
                <a:solidFill>
                  <a:srgbClr val="33384A"/>
                </a:solidFill>
                <a:latin typeface="Noto Sans CJK JP" pitchFamily="34" charset="0"/>
                <a:ea typeface="Noto Sans CJK JP"/>
                <a:cs typeface="Noto Sans CJK JP" pitchFamily="34" charset="-120"/>
              </a:rPr>
              <a:t>群:S₃ → A₃(位数3)に縮小</a:t>
            </a:r>
            <a:endParaRPr lang="en-US" sz="1300" dirty="0"/>
          </a:p>
          <a:p>
            <a:pPr marL="0" indent="0">
              <a:lnSpc>
                <a:spcPct val="120000"/>
              </a:lnSpc>
              <a:buNone/>
            </a:pPr>
            <a:r>
              <a:rPr lang="ja-JP" sz="1300" dirty="0">
                <a:solidFill>
                  <a:srgbClr val="3457A6"/>
                </a:solidFill>
                <a:latin typeface="Noto Sans CJK JP" pitchFamily="34" charset="0"/>
                <a:ea typeface="Noto Sans CJK JP"/>
                <a:cs typeface="Noto Sans CJK JP" pitchFamily="34" charset="-120"/>
              </a:rPr>
              <a:t>剰余群の位数 2 = 2乗根(√−3)に対応</a:t>
            </a:r>
            <a:endParaRPr lang="en-US" sz="1300" dirty="0"/>
          </a:p>
        </p:txBody>
      </p:sp>
      <p:sp>
        <p:nvSpPr>
          <p:cNvPr id="9" name="Shape 7"/>
          <p:cNvSpPr/>
          <p:nvPr/>
        </p:nvSpPr>
        <p:spPr>
          <a:xfrm>
            <a:off x="6217920" y="1965960"/>
            <a:ext cx="5303520" cy="1371600"/>
          </a:xfrm>
          <a:prstGeom prst="roundRect">
            <a:avLst>
              <a:gd name="adj" fmla="val 5333"/>
            </a:avLst>
          </a:prstGeom>
          <a:solidFill>
            <a:srgbClr val="E5F5F2"/>
          </a:solidFill>
          <a:ln w="12700">
            <a:solidFill>
              <a:srgbClr val="0F9E8E"/>
            </a:solidFill>
            <a:prstDash val="solid"/>
          </a:ln>
        </p:spPr>
        <p:txBody>
          <a:bodyPr/>
          <a:lstStyle/>
          <a:p>
            <a:endParaRPr/>
          </a:p>
        </p:txBody>
      </p:sp>
      <p:sp>
        <p:nvSpPr>
          <p:cNvPr id="10" name="Text 8"/>
          <p:cNvSpPr/>
          <p:nvPr/>
        </p:nvSpPr>
        <p:spPr>
          <a:xfrm>
            <a:off x="6446520" y="2075688"/>
            <a:ext cx="4846320" cy="365760"/>
          </a:xfrm>
          <a:prstGeom prst="rect">
            <a:avLst/>
          </a:prstGeom>
          <a:noFill/>
          <a:ln/>
        </p:spPr>
        <p:txBody>
          <a:bodyPr wrap="square" lIns="0" tIns="0" rIns="0" bIns="0" rtlCol="0" anchor="ctr"/>
          <a:lstStyle/>
          <a:p>
            <a:pPr marL="0" indent="0">
              <a:buNone/>
            </a:pPr>
            <a:r>
              <a:rPr lang="ja-JP" sz="1600" b="1" dirty="0">
                <a:solidFill>
                  <a:srgbClr val="1A2238"/>
                </a:solidFill>
                <a:latin typeface="Noto Sans CJK JP" pitchFamily="34" charset="0"/>
                <a:ea typeface="Noto Sans CJK JP"/>
                <a:cs typeface="Noto Sans CJK JP" pitchFamily="34" charset="-120"/>
              </a:rPr>
              <a:t>STEP 2:³√2 を添加</a:t>
            </a:r>
            <a:endParaRPr lang="en-US" sz="1600" dirty="0"/>
          </a:p>
        </p:txBody>
      </p:sp>
      <p:sp>
        <p:nvSpPr>
          <p:cNvPr id="11" name="Text 9"/>
          <p:cNvSpPr/>
          <p:nvPr/>
        </p:nvSpPr>
        <p:spPr>
          <a:xfrm>
            <a:off x="6446520" y="2450592"/>
            <a:ext cx="4937760" cy="868680"/>
          </a:xfrm>
          <a:prstGeom prst="rect">
            <a:avLst/>
          </a:prstGeom>
          <a:noFill/>
          <a:ln/>
        </p:spPr>
        <p:txBody>
          <a:bodyPr wrap="square" lIns="0" tIns="0" rIns="0" bIns="0" rtlCol="0" anchor="t"/>
          <a:lstStyle/>
          <a:p>
            <a:pPr marL="0" indent="0">
              <a:lnSpc>
                <a:spcPct val="120000"/>
              </a:lnSpc>
              <a:buNone/>
            </a:pPr>
            <a:r>
              <a:rPr lang="ja-JP" sz="1300" dirty="0">
                <a:solidFill>
                  <a:srgbClr val="33384A"/>
                </a:solidFill>
                <a:latin typeface="Noto Sans CJK JP" pitchFamily="34" charset="0"/>
                <a:ea typeface="Noto Sans CJK JP"/>
                <a:cs typeface="Noto Sans CJK JP" pitchFamily="34" charset="-120"/>
              </a:rPr>
              <a:t>体:L → K = Q(ω, ³√2)</a:t>
            </a:r>
            <a:endParaRPr lang="en-US" sz="1300" dirty="0"/>
          </a:p>
          <a:p>
            <a:pPr marL="0" indent="0">
              <a:lnSpc>
                <a:spcPct val="120000"/>
              </a:lnSpc>
              <a:buNone/>
            </a:pPr>
            <a:r>
              <a:rPr lang="ja-JP" sz="1300" dirty="0">
                <a:solidFill>
                  <a:srgbClr val="33384A"/>
                </a:solidFill>
                <a:latin typeface="Noto Sans CJK JP" pitchFamily="34" charset="0"/>
                <a:ea typeface="Noto Sans CJK JP"/>
                <a:cs typeface="Noto Sans CJK JP" pitchFamily="34" charset="-120"/>
              </a:rPr>
              <a:t>群:A₃ → { e } に縮小</a:t>
            </a:r>
            <a:endParaRPr lang="en-US" sz="1300" dirty="0"/>
          </a:p>
          <a:p>
            <a:pPr marL="0" indent="0">
              <a:lnSpc>
                <a:spcPct val="120000"/>
              </a:lnSpc>
              <a:buNone/>
            </a:pPr>
            <a:r>
              <a:rPr lang="ja-JP" sz="1300" dirty="0">
                <a:solidFill>
                  <a:srgbClr val="3457A6"/>
                </a:solidFill>
                <a:latin typeface="Noto Sans CJK JP" pitchFamily="34" charset="0"/>
                <a:ea typeface="Noto Sans CJK JP"/>
                <a:cs typeface="Noto Sans CJK JP" pitchFamily="34" charset="-120"/>
              </a:rPr>
              <a:t>剰余群の位数 3 = 3乗根に対応</a:t>
            </a:r>
            <a:endParaRPr lang="en-US" sz="1300" dirty="0"/>
          </a:p>
        </p:txBody>
      </p:sp>
      <p:sp>
        <p:nvSpPr>
          <p:cNvPr id="12" name="Text 10"/>
          <p:cNvSpPr/>
          <p:nvPr/>
        </p:nvSpPr>
        <p:spPr>
          <a:xfrm>
            <a:off x="640080" y="3474720"/>
            <a:ext cx="10881360" cy="365760"/>
          </a:xfrm>
          <a:prstGeom prst="rect">
            <a:avLst/>
          </a:prstGeom>
          <a:noFill/>
          <a:ln/>
        </p:spPr>
        <p:txBody>
          <a:bodyPr wrap="square" lIns="0" tIns="0" rIns="0" bIns="0" rtlCol="0" anchor="ctr"/>
          <a:lstStyle/>
          <a:p>
            <a:pPr marL="0" indent="0">
              <a:buNone/>
            </a:pPr>
            <a:r>
              <a:rPr lang="ja-JP" sz="1400" i="1" dirty="0">
                <a:solidFill>
                  <a:srgbClr val="6B7180"/>
                </a:solidFill>
                <a:latin typeface="Noto Sans CJK JP" pitchFamily="34" charset="0"/>
                <a:ea typeface="Noto Sans CJK JP"/>
                <a:cs typeface="Noto Sans CJK JP" pitchFamily="34" charset="-120"/>
              </a:rPr>
              <a:t>群が { e } に縮小すると未知の数がなくなり、添加した元で根を表現できる。</a:t>
            </a:r>
            <a:endParaRPr lang="en-US" sz="1400" dirty="0"/>
          </a:p>
        </p:txBody>
      </p:sp>
      <p:sp>
        <p:nvSpPr>
          <p:cNvPr id="13" name="Shape 11"/>
          <p:cNvSpPr/>
          <p:nvPr/>
        </p:nvSpPr>
        <p:spPr>
          <a:xfrm>
            <a:off x="640080" y="4023360"/>
            <a:ext cx="64008" cy="2011680"/>
          </a:xfrm>
          <a:prstGeom prst="rect">
            <a:avLst/>
          </a:prstGeom>
          <a:solidFill>
            <a:srgbClr val="1A2238"/>
          </a:solidFill>
          <a:ln/>
        </p:spPr>
        <p:txBody>
          <a:bodyPr/>
          <a:lstStyle/>
          <a:p>
            <a:endParaRPr/>
          </a:p>
        </p:txBody>
      </p:sp>
      <p:sp>
        <p:nvSpPr>
          <p:cNvPr id="14" name="Text 12"/>
          <p:cNvSpPr/>
          <p:nvPr/>
        </p:nvSpPr>
        <p:spPr>
          <a:xfrm>
            <a:off x="868680" y="3977640"/>
            <a:ext cx="10058400" cy="365760"/>
          </a:xfrm>
          <a:prstGeom prst="rect">
            <a:avLst/>
          </a:prstGeom>
          <a:noFill/>
          <a:ln/>
        </p:spPr>
        <p:txBody>
          <a:bodyPr wrap="square" lIns="0" tIns="0" rIns="0" bIns="0" rtlCol="0" anchor="ctr"/>
          <a:lstStyle/>
          <a:p>
            <a:pPr marL="0" indent="0">
              <a:buNone/>
            </a:pPr>
            <a:r>
              <a:rPr lang="ja-JP" sz="1600" b="1" dirty="0">
                <a:solidFill>
                  <a:srgbClr val="1A2238"/>
                </a:solidFill>
                <a:latin typeface="Noto Sans CJK JP" pitchFamily="34" charset="0"/>
                <a:ea typeface="Noto Sans CJK JP"/>
                <a:cs typeface="Noto Sans CJK JP" pitchFamily="34" charset="-120"/>
              </a:rPr>
              <a:t>一般化:べき根で解けるとは</a:t>
            </a:r>
            <a:endParaRPr lang="en-US" sz="1600" dirty="0"/>
          </a:p>
        </p:txBody>
      </p:sp>
      <p:sp>
        <p:nvSpPr>
          <p:cNvPr id="15" name="Text 13"/>
          <p:cNvSpPr/>
          <p:nvPr/>
        </p:nvSpPr>
        <p:spPr>
          <a:xfrm>
            <a:off x="868680" y="4370832"/>
            <a:ext cx="10607040" cy="1828800"/>
          </a:xfrm>
          <a:prstGeom prst="rect">
            <a:avLst/>
          </a:prstGeom>
          <a:noFill/>
          <a:ln/>
        </p:spPr>
        <p:txBody>
          <a:bodyPr wrap="square" lIns="0" tIns="0" rIns="0" bIns="0" rtlCol="0" anchor="ctr"/>
          <a:lstStyle/>
          <a:p>
            <a:pPr marL="0" indent="0">
              <a:lnSpc>
                <a:spcPct val="125000"/>
              </a:lnSpc>
              <a:buNone/>
            </a:pPr>
            <a:r>
              <a:rPr lang="ja-JP" sz="1400" dirty="0">
                <a:solidFill>
                  <a:srgbClr val="33384A"/>
                </a:solidFill>
                <a:latin typeface="Noto Sans CJK JP" pitchFamily="34" charset="0"/>
                <a:ea typeface="Noto Sans CJK JP"/>
                <a:cs typeface="Noto Sans CJK JP" pitchFamily="34" charset="-120"/>
              </a:rPr>
              <a:t>各段の縮小は、縮小前の群を縮小後の群(正規部分群)で割った商が巡回群になっていなければならない。その巡回群の位数が、その段で添加するべき根の位数に一致する。</a:t>
            </a:r>
            <a:endParaRPr lang="en-US" sz="1400" dirty="0"/>
          </a:p>
          <a:p>
            <a:pPr marL="0" indent="0">
              <a:lnSpc>
                <a:spcPct val="125000"/>
              </a:lnSpc>
              <a:buNone/>
            </a:pPr>
            <a:r>
              <a:rPr lang="ja-JP" sz="1400" dirty="0">
                <a:solidFill>
                  <a:srgbClr val="33384A"/>
                </a:solidFill>
                <a:latin typeface="Noto Sans CJK JP" pitchFamily="34" charset="0"/>
                <a:ea typeface="Noto Sans CJK JP"/>
                <a:cs typeface="Noto Sans CJK JP" pitchFamily="34" charset="-120"/>
              </a:rPr>
              <a:t>方程式がべき根で解けるとは、この縮小と拡大がセットで繰り返され、最終的に群が { e } まで縮小し体 K が分解体まで拡大できること。</a:t>
            </a:r>
            <a:endParaRPr lang="en-US" sz="1400" dirty="0"/>
          </a:p>
          <a:p>
            <a:pPr marL="0" indent="0">
              <a:lnSpc>
                <a:spcPct val="125000"/>
              </a:lnSpc>
              <a:buNone/>
            </a:pPr>
            <a:r>
              <a:rPr lang="ja-JP" sz="1400" b="1" dirty="0">
                <a:solidFill>
                  <a:srgbClr val="D8593A"/>
                </a:solidFill>
                <a:latin typeface="Noto Sans CJK JP" pitchFamily="34" charset="0"/>
                <a:ea typeface="Noto Sans CJK JP"/>
                <a:cs typeface="Noto Sans CJK JP" pitchFamily="34" charset="-120"/>
              </a:rPr>
              <a:t>4次までは、どんな係数でもこの縮小鎖が存在し、すべてべき根で解ける。5次以上では縮小鎖が存在しない方程式があり、{ e } に到達しないものはべき根では解けない。</a:t>
            </a:r>
            <a:endParaRPr lang="en-US" sz="1400" dirty="0"/>
          </a:p>
        </p:txBody>
      </p:sp>
      <p:sp>
        <p:nvSpPr>
          <p:cNvPr id="16" name="Text 14"/>
          <p:cNvSpPr/>
          <p:nvPr/>
        </p:nvSpPr>
        <p:spPr>
          <a:xfrm>
            <a:off x="11338560" y="6355080"/>
            <a:ext cx="457200" cy="274320"/>
          </a:xfrm>
          <a:prstGeom prst="rect">
            <a:avLst/>
          </a:prstGeom>
          <a:noFill/>
          <a:ln/>
        </p:spPr>
        <p:txBody>
          <a:bodyPr wrap="square" lIns="0" tIns="0" rIns="0" bIns="0" rtlCol="0" anchor="ctr"/>
          <a:lstStyle/>
          <a:p>
            <a:pPr marL="0" indent="0" algn="r">
              <a:buNone/>
            </a:pPr>
            <a:r>
              <a:rPr lang="ja-JP" sz="1100" dirty="0">
                <a:solidFill>
                  <a:srgbClr val="6B7180"/>
                </a:solidFill>
                <a:latin typeface="Noto Sans CJK JP" pitchFamily="34" charset="0"/>
                <a:ea typeface="Noto Sans CJK JP"/>
                <a:cs typeface="Noto Sans CJK JP" pitchFamily="34" charset="-120"/>
              </a:rPr>
              <a:t>16</a:t>
            </a:r>
            <a:endParaRPr lang="en-US" sz="1100" dirty="0"/>
          </a:p>
        </p:txBody>
      </p:sp>
      <p:sp>
        <p:nvSpPr>
          <p:cNvPr id="17" name="Text 15"/>
          <p:cNvSpPr/>
          <p:nvPr/>
        </p:nvSpPr>
        <p:spPr>
          <a:xfrm>
            <a:off x="457200" y="6355080"/>
            <a:ext cx="4572000" cy="274320"/>
          </a:xfrm>
          <a:prstGeom prst="rect">
            <a:avLst/>
          </a:prstGeom>
          <a:noFill/>
          <a:ln/>
        </p:spPr>
        <p:txBody>
          <a:bodyPr wrap="square" lIns="0" tIns="0" rIns="0" bIns="0" rtlCol="0" anchor="ctr"/>
          <a:lstStyle/>
          <a:p>
            <a:pPr marL="0" indent="0" algn="l">
              <a:buNone/>
            </a:pPr>
            <a:r>
              <a:rPr lang="ja-JP" sz="1000" dirty="0">
                <a:solidFill>
                  <a:srgbClr val="6B7180"/>
                </a:solidFill>
                <a:latin typeface="Noto Sans CJK JP" pitchFamily="34" charset="0"/>
                <a:ea typeface="Noto Sans CJK JP"/>
                <a:cs typeface="Noto Sans CJK JP" pitchFamily="34" charset="-120"/>
              </a:rPr>
              <a:t>5garashi.com 設計事務所</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640080" y="502920"/>
            <a:ext cx="146304" cy="146304"/>
          </a:xfrm>
          <a:prstGeom prst="ellipse">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96112" y="393192"/>
            <a:ext cx="5486400" cy="365760"/>
          </a:xfrm>
          <a:prstGeom prst="rect">
            <a:avLst/>
          </a:prstGeom>
          <a:noFill/>
        </p:spPr>
        <p:txBody>
          <a:bodyPr wrap="square" lIns="0" tIns="0" rIns="0" bIns="0" anchor="t">
            <a:spAutoFit/>
          </a:bodyPr>
          <a:lstStyle/>
          <a:p>
            <a:pPr algn="l"/>
            <a:r>
              <a:rPr lang="ja-JP" sz="1600" b="1" i="0">
                <a:solidFill>
                  <a:srgbClr val="0F9E8E"/>
                </a:solidFill>
                <a:latin typeface="Noto Sans CJK JP"/>
                <a:ea typeface="Noto Sans CJK JP"/>
              </a:rPr>
              <a:t>補論 3</a:t>
            </a:r>
          </a:p>
        </p:txBody>
      </p:sp>
      <p:sp>
        <p:nvSpPr>
          <p:cNvPr id="4" name="TextBox 3"/>
          <p:cNvSpPr txBox="1"/>
          <p:nvPr/>
        </p:nvSpPr>
        <p:spPr>
          <a:xfrm>
            <a:off x="640080" y="822960"/>
            <a:ext cx="10972800" cy="640080"/>
          </a:xfrm>
          <a:prstGeom prst="rect">
            <a:avLst/>
          </a:prstGeom>
          <a:noFill/>
        </p:spPr>
        <p:txBody>
          <a:bodyPr wrap="square" lIns="0" tIns="0" rIns="0" bIns="0" anchor="t">
            <a:spAutoFit/>
          </a:bodyPr>
          <a:lstStyle/>
          <a:p>
            <a:pPr algn="l"/>
            <a:r>
              <a:rPr lang="ja-JP" sz="2700" b="1" i="0">
                <a:solidFill>
                  <a:srgbClr val="1A2238"/>
                </a:solidFill>
                <a:latin typeface="Noto Sans CJK JP"/>
                <a:ea typeface="Noto Sans CJK JP"/>
              </a:rPr>
              <a:t>最初につまずきやすいところ(1/2)</a:t>
            </a:r>
          </a:p>
        </p:txBody>
      </p:sp>
      <p:sp>
        <p:nvSpPr>
          <p:cNvPr id="5" name="Rectangle 4"/>
          <p:cNvSpPr/>
          <p:nvPr/>
        </p:nvSpPr>
        <p:spPr>
          <a:xfrm>
            <a:off x="640080" y="1600200"/>
            <a:ext cx="502920" cy="502920"/>
          </a:xfrm>
          <a:prstGeom prst="rect">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600200"/>
            <a:ext cx="502920" cy="502920"/>
          </a:xfrm>
          <a:prstGeom prst="rect">
            <a:avLst/>
          </a:prstGeom>
          <a:noFill/>
        </p:spPr>
        <p:txBody>
          <a:bodyPr wrap="square" lIns="0" tIns="0" rIns="0" bIns="0" anchor="ctr">
            <a:spAutoFit/>
          </a:bodyPr>
          <a:lstStyle/>
          <a:p>
            <a:pPr algn="ctr"/>
            <a:r>
              <a:rPr lang="ja-JP" sz="2200" b="1" i="0">
                <a:solidFill>
                  <a:srgbClr val="FFFFFF"/>
                </a:solidFill>
                <a:latin typeface="Noto Sans CJK JP"/>
                <a:ea typeface="Noto Sans CJK JP"/>
              </a:rPr>
              <a:t>1</a:t>
            </a:r>
          </a:p>
        </p:txBody>
      </p:sp>
      <p:sp>
        <p:nvSpPr>
          <p:cNvPr id="7" name="TextBox 6"/>
          <p:cNvSpPr txBox="1"/>
          <p:nvPr/>
        </p:nvSpPr>
        <p:spPr>
          <a:xfrm>
            <a:off x="1325880" y="1581912"/>
            <a:ext cx="10058400" cy="411480"/>
          </a:xfrm>
          <a:prstGeom prst="rect">
            <a:avLst/>
          </a:prstGeom>
          <a:noFill/>
        </p:spPr>
        <p:txBody>
          <a:bodyPr wrap="square" lIns="0" tIns="0" rIns="0" bIns="0" anchor="ctr">
            <a:spAutoFit/>
          </a:bodyPr>
          <a:lstStyle/>
          <a:p>
            <a:pPr algn="l"/>
            <a:r>
              <a:rPr lang="ja-JP" sz="1700" b="1" i="0">
                <a:solidFill>
                  <a:srgbClr val="1A2238"/>
                </a:solidFill>
                <a:latin typeface="Noto Sans CJK JP"/>
                <a:ea typeface="Noto Sans CJK JP"/>
              </a:rPr>
              <a:t>根がないのではなく、べき根で表せない場合がある</a:t>
            </a:r>
            <a:r>
              <a:rPr lang="ja-JP" sz="1200" b="0">
                <a:solidFill>
                  <a:srgbClr val="0F9E8E"/>
                </a:solidFill>
                <a:latin typeface="Noto Sans CJK JP"/>
                <a:ea typeface="Noto Sans CJK JP"/>
              </a:rPr>
              <a:t>   （本編 → P9）</a:t>
            </a:r>
          </a:p>
        </p:txBody>
      </p:sp>
      <p:sp>
        <p:nvSpPr>
          <p:cNvPr id="8" name="TextBox 7"/>
          <p:cNvSpPr txBox="1"/>
          <p:nvPr/>
        </p:nvSpPr>
        <p:spPr>
          <a:xfrm>
            <a:off x="1325880" y="2057400"/>
            <a:ext cx="10058400" cy="1097280"/>
          </a:xfrm>
          <a:prstGeom prst="rect">
            <a:avLst/>
          </a:prstGeom>
          <a:noFill/>
        </p:spPr>
        <p:txBody>
          <a:bodyPr wrap="square" lIns="0" tIns="0" rIns="0" bIns="0">
            <a:spAutoFit/>
          </a:bodyPr>
          <a:lstStyle/>
          <a:p>
            <a:pPr algn="l">
              <a:lnSpc>
                <a:spcPct val="120000"/>
              </a:lnSpc>
            </a:pPr>
            <a:r>
              <a:rPr lang="ja-JP" sz="1350" b="0" i="0">
                <a:solidFill>
                  <a:srgbClr val="5A6072"/>
                </a:solidFill>
                <a:latin typeface="Noto Sans CJK JP"/>
                <a:ea typeface="Noto Sans CJK JP"/>
              </a:rPr>
              <a:t>5次以上でも、複素数まで広げれば根は必ず存在する。問題は根があるかどうかではなく、</a:t>
            </a:r>
            <a:r>
              <a:rPr lang="ja-JP" sz="1350" b="1" i="0">
                <a:solidFill>
                  <a:srgbClr val="1A2238"/>
                </a:solidFill>
                <a:latin typeface="Noto Sans CJK JP"/>
                <a:ea typeface="Noto Sans CJK JP"/>
              </a:rPr>
              <a:t>四則演算とべき根だけで根を表せるか</a:t>
            </a:r>
            <a:r>
              <a:rPr lang="ja-JP" sz="1350" b="0" i="0">
                <a:solidFill>
                  <a:srgbClr val="5A6072"/>
                </a:solidFill>
                <a:latin typeface="Noto Sans CJK JP"/>
                <a:ea typeface="Noto Sans CJK JP"/>
              </a:rPr>
              <a:t>。</a:t>
            </a:r>
          </a:p>
          <a:p>
            <a:pPr algn="l">
              <a:lnSpc>
                <a:spcPct val="120000"/>
              </a:lnSpc>
            </a:pPr>
            <a:r>
              <a:rPr lang="ja-JP" sz="1350" b="0" i="0">
                <a:solidFill>
                  <a:srgbClr val="5A6072"/>
                </a:solidFill>
                <a:latin typeface="Noto Sans CJK JP"/>
                <a:ea typeface="Noto Sans CJK JP"/>
              </a:rPr>
              <a:t>「解の公式がない」とは根がないという意味ではなく、根をべき根だけで表す統一的な手順が存在しない、という意味。</a:t>
            </a:r>
          </a:p>
        </p:txBody>
      </p:sp>
      <p:sp>
        <p:nvSpPr>
          <p:cNvPr id="9" name="Rectangle 8"/>
          <p:cNvSpPr/>
          <p:nvPr/>
        </p:nvSpPr>
        <p:spPr>
          <a:xfrm>
            <a:off x="640080" y="3154680"/>
            <a:ext cx="502920" cy="502920"/>
          </a:xfrm>
          <a:prstGeom prst="rect">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3154680"/>
            <a:ext cx="502920" cy="502920"/>
          </a:xfrm>
          <a:prstGeom prst="rect">
            <a:avLst/>
          </a:prstGeom>
          <a:noFill/>
        </p:spPr>
        <p:txBody>
          <a:bodyPr wrap="square" lIns="0" tIns="0" rIns="0" bIns="0" anchor="ctr">
            <a:spAutoFit/>
          </a:bodyPr>
          <a:lstStyle/>
          <a:p>
            <a:pPr algn="ctr"/>
            <a:r>
              <a:rPr lang="ja-JP" sz="2200" b="1" i="0">
                <a:solidFill>
                  <a:srgbClr val="FFFFFF"/>
                </a:solidFill>
                <a:latin typeface="Noto Sans CJK JP"/>
                <a:ea typeface="Noto Sans CJK JP"/>
              </a:rPr>
              <a:t>2</a:t>
            </a:r>
          </a:p>
        </p:txBody>
      </p:sp>
      <p:sp>
        <p:nvSpPr>
          <p:cNvPr id="11" name="TextBox 10"/>
          <p:cNvSpPr txBox="1"/>
          <p:nvPr/>
        </p:nvSpPr>
        <p:spPr>
          <a:xfrm>
            <a:off x="1325880" y="3136392"/>
            <a:ext cx="10058400" cy="411480"/>
          </a:xfrm>
          <a:prstGeom prst="rect">
            <a:avLst/>
          </a:prstGeom>
          <a:noFill/>
        </p:spPr>
        <p:txBody>
          <a:bodyPr wrap="square" lIns="0" tIns="0" rIns="0" bIns="0" anchor="ctr">
            <a:spAutoFit/>
          </a:bodyPr>
          <a:lstStyle/>
          <a:p>
            <a:pPr algn="l"/>
            <a:r>
              <a:rPr lang="ja-JP" sz="1700" b="1" i="0">
                <a:solidFill>
                  <a:srgbClr val="1A2238"/>
                </a:solidFill>
                <a:latin typeface="Noto Sans CJK JP"/>
                <a:ea typeface="Noto Sans CJK JP"/>
              </a:rPr>
              <a:t>個別に解ける5次方程式もある</a:t>
            </a:r>
            <a:r>
              <a:rPr lang="ja-JP" sz="1200" b="0">
                <a:solidFill>
                  <a:srgbClr val="0F9E8E"/>
                </a:solidFill>
                <a:latin typeface="Noto Sans CJK JP"/>
                <a:ea typeface="Noto Sans CJK JP"/>
              </a:rPr>
              <a:t>   （本編 → P9）</a:t>
            </a:r>
          </a:p>
        </p:txBody>
      </p:sp>
      <p:sp>
        <p:nvSpPr>
          <p:cNvPr id="12" name="TextBox 11"/>
          <p:cNvSpPr txBox="1"/>
          <p:nvPr/>
        </p:nvSpPr>
        <p:spPr>
          <a:xfrm>
            <a:off x="1325880" y="3611880"/>
            <a:ext cx="10058400" cy="1097280"/>
          </a:xfrm>
          <a:prstGeom prst="rect">
            <a:avLst/>
          </a:prstGeom>
          <a:noFill/>
        </p:spPr>
        <p:txBody>
          <a:bodyPr wrap="square" lIns="0" tIns="0" rIns="0" bIns="0">
            <a:spAutoFit/>
          </a:bodyPr>
          <a:lstStyle/>
          <a:p>
            <a:pPr algn="l">
              <a:lnSpc>
                <a:spcPct val="120000"/>
              </a:lnSpc>
            </a:pPr>
            <a:r>
              <a:rPr lang="ja-JP" sz="1350" b="0" i="0">
                <a:solidFill>
                  <a:srgbClr val="5A6072"/>
                </a:solidFill>
                <a:latin typeface="Noto Sans CJK JP"/>
                <a:ea typeface="Noto Sans CJK JP"/>
              </a:rPr>
              <a:t>「5次に解の公式がない」は、すべての5次が解けないという意味ではない。形によってはべき根で解ける5次もある(例:x⁵−1=0)。</a:t>
            </a:r>
          </a:p>
          <a:p>
            <a:pPr algn="l">
              <a:lnSpc>
                <a:spcPct val="120000"/>
              </a:lnSpc>
            </a:pPr>
            <a:r>
              <a:rPr lang="ja-JP" sz="1350" b="0" i="0">
                <a:solidFill>
                  <a:srgbClr val="5A6072"/>
                </a:solidFill>
                <a:latin typeface="Noto Sans CJK JP"/>
                <a:ea typeface="Noto Sans CJK JP"/>
              </a:rPr>
              <a:t>問題は、係数を文字で置いた</a:t>
            </a:r>
            <a:r>
              <a:rPr lang="ja-JP" sz="1350" b="1" i="0">
                <a:solidFill>
                  <a:srgbClr val="1A2238"/>
                </a:solidFill>
                <a:latin typeface="Noto Sans CJK JP"/>
                <a:ea typeface="Noto Sans CJK JP"/>
              </a:rPr>
              <a:t>一般の5次方程式</a:t>
            </a:r>
            <a:r>
              <a:rPr lang="ja-JP" sz="1350" b="0" i="0">
                <a:solidFill>
                  <a:srgbClr val="5A6072"/>
                </a:solidFill>
                <a:latin typeface="Noto Sans CJK JP"/>
                <a:ea typeface="Noto Sans CJK JP"/>
              </a:rPr>
              <a:t>に対し、四則演算とべき根だけの統一的な公式が存在しないこと。</a:t>
            </a:r>
          </a:p>
        </p:txBody>
      </p:sp>
      <p:sp>
        <p:nvSpPr>
          <p:cNvPr id="13" name="Rectangle 12"/>
          <p:cNvSpPr/>
          <p:nvPr/>
        </p:nvSpPr>
        <p:spPr>
          <a:xfrm>
            <a:off x="640080" y="4709160"/>
            <a:ext cx="502920" cy="502920"/>
          </a:xfrm>
          <a:prstGeom prst="rect">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4709160"/>
            <a:ext cx="502920" cy="502920"/>
          </a:xfrm>
          <a:prstGeom prst="rect">
            <a:avLst/>
          </a:prstGeom>
          <a:noFill/>
        </p:spPr>
        <p:txBody>
          <a:bodyPr wrap="square" lIns="0" tIns="0" rIns="0" bIns="0" anchor="ctr">
            <a:spAutoFit/>
          </a:bodyPr>
          <a:lstStyle/>
          <a:p>
            <a:pPr algn="ctr"/>
            <a:r>
              <a:rPr lang="ja-JP" sz="2200" b="1" i="0">
                <a:solidFill>
                  <a:srgbClr val="FFFFFF"/>
                </a:solidFill>
                <a:latin typeface="Noto Sans CJK JP"/>
                <a:ea typeface="Noto Sans CJK JP"/>
              </a:rPr>
              <a:t>3</a:t>
            </a:r>
          </a:p>
        </p:txBody>
      </p:sp>
      <p:sp>
        <p:nvSpPr>
          <p:cNvPr id="15" name="TextBox 14"/>
          <p:cNvSpPr txBox="1"/>
          <p:nvPr/>
        </p:nvSpPr>
        <p:spPr>
          <a:xfrm>
            <a:off x="1325880" y="4690872"/>
            <a:ext cx="10058400" cy="411480"/>
          </a:xfrm>
          <a:prstGeom prst="rect">
            <a:avLst/>
          </a:prstGeom>
          <a:noFill/>
        </p:spPr>
        <p:txBody>
          <a:bodyPr wrap="square" lIns="0" tIns="0" rIns="0" bIns="0" anchor="ctr">
            <a:spAutoFit/>
          </a:bodyPr>
          <a:lstStyle/>
          <a:p>
            <a:pPr algn="l"/>
            <a:r>
              <a:rPr lang="ja-JP" sz="1700" b="1" i="0">
                <a:solidFill>
                  <a:srgbClr val="1A2238"/>
                </a:solidFill>
                <a:latin typeface="Noto Sans CJK JP"/>
                <a:ea typeface="Noto Sans CJK JP"/>
              </a:rPr>
              <a:t>ガロア群は、根のすべての並べ替えではない</a:t>
            </a:r>
            <a:r>
              <a:rPr lang="ja-JP" sz="1200" b="0">
                <a:solidFill>
                  <a:srgbClr val="0F9E8E"/>
                </a:solidFill>
                <a:latin typeface="Noto Sans CJK JP"/>
                <a:ea typeface="Noto Sans CJK JP"/>
              </a:rPr>
              <a:t>   （本編 → P3）</a:t>
            </a:r>
          </a:p>
        </p:txBody>
      </p:sp>
      <p:sp>
        <p:nvSpPr>
          <p:cNvPr id="16" name="TextBox 15"/>
          <p:cNvSpPr txBox="1"/>
          <p:nvPr/>
        </p:nvSpPr>
        <p:spPr>
          <a:xfrm>
            <a:off x="1325880" y="5166360"/>
            <a:ext cx="10058400" cy="1097280"/>
          </a:xfrm>
          <a:prstGeom prst="rect">
            <a:avLst/>
          </a:prstGeom>
          <a:noFill/>
        </p:spPr>
        <p:txBody>
          <a:bodyPr wrap="square" lIns="0" tIns="0" rIns="0" bIns="0">
            <a:spAutoFit/>
          </a:bodyPr>
          <a:lstStyle/>
          <a:p>
            <a:pPr algn="l">
              <a:lnSpc>
                <a:spcPct val="120000"/>
              </a:lnSpc>
            </a:pPr>
            <a:r>
              <a:rPr lang="ja-JP" sz="1350" b="0" i="0">
                <a:solidFill>
                  <a:srgbClr val="5A6072"/>
                </a:solidFill>
                <a:latin typeface="Noto Sans CJK JP"/>
                <a:ea typeface="Noto Sans CJK JP"/>
              </a:rPr>
              <a:t>ガロア群は根の全パターンの並べ替えではなく、</a:t>
            </a:r>
            <a:r>
              <a:rPr lang="ja-JP" sz="1350" b="1" i="0">
                <a:solidFill>
                  <a:srgbClr val="1A2238"/>
                </a:solidFill>
                <a:latin typeface="Noto Sans CJK JP"/>
                <a:ea typeface="Noto Sans CJK JP"/>
              </a:rPr>
              <a:t>根で作った有理式の値を保つ入れ替えだけ</a:t>
            </a:r>
            <a:r>
              <a:rPr lang="ja-JP" sz="1350" b="0" i="0">
                <a:solidFill>
                  <a:srgbClr val="5A6072"/>
                </a:solidFill>
                <a:latin typeface="Noto Sans CJK JP"/>
                <a:ea typeface="Noto Sans CJK JP"/>
              </a:rPr>
              <a:t>を集めたもの。</a:t>
            </a:r>
          </a:p>
          <a:p>
            <a:pPr algn="l">
              <a:lnSpc>
                <a:spcPct val="120000"/>
              </a:lnSpc>
            </a:pPr>
            <a:r>
              <a:rPr lang="ja-JP" sz="1350" b="0" i="0">
                <a:solidFill>
                  <a:srgbClr val="5A6072"/>
                </a:solidFill>
                <a:latin typeface="Noto Sans CJK JP"/>
                <a:ea typeface="Noto Sans CJK JP"/>
              </a:rPr>
              <a:t>有理数から見て区別できない根どうしは入れ替えられるが、和や積などの関係を壊す入れ替えは許されない。</a:t>
            </a:r>
          </a:p>
        </p:txBody>
      </p:sp>
      <p:sp>
        <p:nvSpPr>
          <p:cNvPr id="17" name="TextBox 16"/>
          <p:cNvSpPr txBox="1"/>
          <p:nvPr/>
        </p:nvSpPr>
        <p:spPr>
          <a:xfrm>
            <a:off x="11369040" y="6355080"/>
            <a:ext cx="457200" cy="274320"/>
          </a:xfrm>
          <a:prstGeom prst="rect">
            <a:avLst/>
          </a:prstGeom>
          <a:noFill/>
        </p:spPr>
        <p:txBody>
          <a:bodyPr wrap="square" lIns="0" tIns="0" rIns="0" bIns="0" anchor="t">
            <a:spAutoFit/>
          </a:bodyPr>
          <a:lstStyle/>
          <a:p>
            <a:pPr algn="r"/>
            <a:r>
              <a:rPr lang="ja-JP" sz="1100" b="0" i="0">
                <a:solidFill>
                  <a:srgbClr val="6B7180"/>
                </a:solidFill>
                <a:latin typeface="Noto Sans CJK JP"/>
                <a:ea typeface="Noto Sans CJK JP"/>
              </a:rPr>
              <a:t>17</a:t>
            </a:r>
          </a:p>
        </p:txBody>
      </p:sp>
      <p:sp>
        <p:nvSpPr>
          <p:cNvPr id="18" name="TextBox 17"/>
          <p:cNvSpPr txBox="1"/>
          <p:nvPr/>
        </p:nvSpPr>
        <p:spPr>
          <a:xfrm>
            <a:off x="457200" y="6355080"/>
            <a:ext cx="4572000" cy="274320"/>
          </a:xfrm>
          <a:prstGeom prst="rect">
            <a:avLst/>
          </a:prstGeom>
          <a:noFill/>
        </p:spPr>
        <p:txBody>
          <a:bodyPr wrap="square" lIns="0" tIns="0" rIns="0" bIns="0" anchor="t">
            <a:spAutoFit/>
          </a:bodyPr>
          <a:lstStyle/>
          <a:p>
            <a:pPr algn="l"/>
            <a:r>
              <a:rPr lang="ja-JP" sz="1000" b="0" i="0">
                <a:solidFill>
                  <a:srgbClr val="6B7180"/>
                </a:solidFill>
                <a:latin typeface="Noto Sans CJK JP"/>
                <a:ea typeface="Noto Sans CJK JP"/>
              </a:rPr>
              <a:t>5garashi.com 設計事務所</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640080" y="502920"/>
            <a:ext cx="146304" cy="146304"/>
          </a:xfrm>
          <a:prstGeom prst="ellipse">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96112" y="393192"/>
            <a:ext cx="5486400" cy="365760"/>
          </a:xfrm>
          <a:prstGeom prst="rect">
            <a:avLst/>
          </a:prstGeom>
          <a:noFill/>
        </p:spPr>
        <p:txBody>
          <a:bodyPr wrap="square" lIns="0" tIns="0" rIns="0" bIns="0" anchor="t">
            <a:spAutoFit/>
          </a:bodyPr>
          <a:lstStyle/>
          <a:p>
            <a:pPr algn="l"/>
            <a:r>
              <a:rPr lang="ja-JP" sz="1600" b="1" i="0">
                <a:solidFill>
                  <a:srgbClr val="0F9E8E"/>
                </a:solidFill>
                <a:latin typeface="Noto Sans CJK JP"/>
                <a:ea typeface="Noto Sans CJK JP"/>
              </a:rPr>
              <a:t>補論 3</a:t>
            </a:r>
          </a:p>
        </p:txBody>
      </p:sp>
      <p:sp>
        <p:nvSpPr>
          <p:cNvPr id="4" name="TextBox 3"/>
          <p:cNvSpPr txBox="1"/>
          <p:nvPr/>
        </p:nvSpPr>
        <p:spPr>
          <a:xfrm>
            <a:off x="640080" y="822960"/>
            <a:ext cx="10972800" cy="640080"/>
          </a:xfrm>
          <a:prstGeom prst="rect">
            <a:avLst/>
          </a:prstGeom>
          <a:noFill/>
        </p:spPr>
        <p:txBody>
          <a:bodyPr wrap="square" lIns="0" tIns="0" rIns="0" bIns="0" anchor="t">
            <a:spAutoFit/>
          </a:bodyPr>
          <a:lstStyle/>
          <a:p>
            <a:pPr algn="l"/>
            <a:r>
              <a:rPr lang="ja-JP" sz="2700" b="1" i="0">
                <a:solidFill>
                  <a:srgbClr val="1A2238"/>
                </a:solidFill>
                <a:latin typeface="Noto Sans CJK JP"/>
                <a:ea typeface="Noto Sans CJK JP"/>
              </a:rPr>
              <a:t>最初につまずきやすいところ(2/2)</a:t>
            </a:r>
          </a:p>
        </p:txBody>
      </p:sp>
      <p:sp>
        <p:nvSpPr>
          <p:cNvPr id="5" name="Rectangle 4"/>
          <p:cNvSpPr/>
          <p:nvPr/>
        </p:nvSpPr>
        <p:spPr>
          <a:xfrm>
            <a:off x="640080" y="1600200"/>
            <a:ext cx="502920" cy="502920"/>
          </a:xfrm>
          <a:prstGeom prst="rect">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600200"/>
            <a:ext cx="502920" cy="502920"/>
          </a:xfrm>
          <a:prstGeom prst="rect">
            <a:avLst/>
          </a:prstGeom>
          <a:noFill/>
        </p:spPr>
        <p:txBody>
          <a:bodyPr wrap="square" lIns="0" tIns="0" rIns="0" bIns="0" anchor="ctr">
            <a:spAutoFit/>
          </a:bodyPr>
          <a:lstStyle/>
          <a:p>
            <a:pPr algn="ctr"/>
            <a:r>
              <a:rPr lang="ja-JP" sz="2200" b="1" i="0">
                <a:solidFill>
                  <a:srgbClr val="FFFFFF"/>
                </a:solidFill>
                <a:latin typeface="Noto Sans CJK JP"/>
                <a:ea typeface="Noto Sans CJK JP"/>
              </a:rPr>
              <a:t>4</a:t>
            </a:r>
          </a:p>
        </p:txBody>
      </p:sp>
      <p:sp>
        <p:nvSpPr>
          <p:cNvPr id="7" name="TextBox 6"/>
          <p:cNvSpPr txBox="1"/>
          <p:nvPr/>
        </p:nvSpPr>
        <p:spPr>
          <a:xfrm>
            <a:off x="1325880" y="1581912"/>
            <a:ext cx="10058400" cy="411480"/>
          </a:xfrm>
          <a:prstGeom prst="rect">
            <a:avLst/>
          </a:prstGeom>
          <a:noFill/>
        </p:spPr>
        <p:txBody>
          <a:bodyPr wrap="square" lIns="0" tIns="0" rIns="0" bIns="0" anchor="ctr">
            <a:spAutoFit/>
          </a:bodyPr>
          <a:lstStyle/>
          <a:p>
            <a:pPr algn="l"/>
            <a:r>
              <a:rPr lang="ja-JP" sz="1700" b="1" i="0">
                <a:solidFill>
                  <a:srgbClr val="1A2238"/>
                </a:solidFill>
                <a:latin typeface="Noto Sans CJK JP"/>
                <a:ea typeface="Noto Sans CJK JP"/>
              </a:rPr>
              <a:t>群が縮小するとは、許される入れ替えが減ること</a:t>
            </a:r>
            <a:r>
              <a:rPr lang="ja-JP" sz="1200" b="0">
                <a:solidFill>
                  <a:srgbClr val="0F9E8E"/>
                </a:solidFill>
                <a:latin typeface="Noto Sans CJK JP"/>
                <a:ea typeface="Noto Sans CJK JP"/>
              </a:rPr>
              <a:t>   （本編 → P4）</a:t>
            </a:r>
          </a:p>
        </p:txBody>
      </p:sp>
      <p:sp>
        <p:nvSpPr>
          <p:cNvPr id="8" name="TextBox 7"/>
          <p:cNvSpPr txBox="1"/>
          <p:nvPr/>
        </p:nvSpPr>
        <p:spPr>
          <a:xfrm>
            <a:off x="1325880" y="2057400"/>
            <a:ext cx="10058400" cy="1097280"/>
          </a:xfrm>
          <a:prstGeom prst="rect">
            <a:avLst/>
          </a:prstGeom>
          <a:noFill/>
        </p:spPr>
        <p:txBody>
          <a:bodyPr wrap="square" lIns="0" tIns="0" rIns="0" bIns="0">
            <a:spAutoFit/>
          </a:bodyPr>
          <a:lstStyle/>
          <a:p>
            <a:pPr algn="l">
              <a:lnSpc>
                <a:spcPct val="120000"/>
              </a:lnSpc>
            </a:pPr>
            <a:r>
              <a:rPr lang="ja-JP" sz="1350" b="0" i="0">
                <a:solidFill>
                  <a:srgbClr val="5A6072"/>
                </a:solidFill>
                <a:latin typeface="Noto Sans CJK JP"/>
                <a:ea typeface="Noto Sans CJK JP"/>
              </a:rPr>
              <a:t>体に新しい元を添加すると、それまで区別できなかった数が区別できるようになる。すると許される入れ替えが減る。</a:t>
            </a:r>
          </a:p>
          <a:p>
            <a:pPr algn="l">
              <a:lnSpc>
                <a:spcPct val="120000"/>
              </a:lnSpc>
            </a:pPr>
            <a:r>
              <a:rPr lang="ja-JP" sz="1350" b="0" i="0">
                <a:solidFill>
                  <a:srgbClr val="1A2238"/>
                </a:solidFill>
                <a:latin typeface="Noto Sans CJK JP"/>
                <a:ea typeface="Noto Sans CJK JP"/>
              </a:rPr>
              <a:t>体が広がる → 知っている数が増える → 固定すべき数が増える → 許される入れ替えが減る → ガロア群が縮小する。</a:t>
            </a:r>
          </a:p>
        </p:txBody>
      </p:sp>
      <p:sp>
        <p:nvSpPr>
          <p:cNvPr id="9" name="Rectangle 8"/>
          <p:cNvSpPr/>
          <p:nvPr/>
        </p:nvSpPr>
        <p:spPr>
          <a:xfrm>
            <a:off x="640080" y="3154680"/>
            <a:ext cx="502920" cy="502920"/>
          </a:xfrm>
          <a:prstGeom prst="rect">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3154680"/>
            <a:ext cx="502920" cy="502920"/>
          </a:xfrm>
          <a:prstGeom prst="rect">
            <a:avLst/>
          </a:prstGeom>
          <a:noFill/>
        </p:spPr>
        <p:txBody>
          <a:bodyPr wrap="square" lIns="0" tIns="0" rIns="0" bIns="0" anchor="ctr">
            <a:spAutoFit/>
          </a:bodyPr>
          <a:lstStyle/>
          <a:p>
            <a:pPr algn="ctr"/>
            <a:r>
              <a:rPr lang="ja-JP" sz="2200" b="1" i="0">
                <a:solidFill>
                  <a:srgbClr val="FFFFFF"/>
                </a:solidFill>
                <a:latin typeface="Noto Sans CJK JP"/>
                <a:ea typeface="Noto Sans CJK JP"/>
              </a:rPr>
              <a:t>5</a:t>
            </a:r>
          </a:p>
        </p:txBody>
      </p:sp>
      <p:sp>
        <p:nvSpPr>
          <p:cNvPr id="11" name="TextBox 10"/>
          <p:cNvSpPr txBox="1"/>
          <p:nvPr/>
        </p:nvSpPr>
        <p:spPr>
          <a:xfrm>
            <a:off x="1325880" y="3136392"/>
            <a:ext cx="10058400" cy="411480"/>
          </a:xfrm>
          <a:prstGeom prst="rect">
            <a:avLst/>
          </a:prstGeom>
          <a:noFill/>
        </p:spPr>
        <p:txBody>
          <a:bodyPr wrap="square" lIns="0" tIns="0" rIns="0" bIns="0" anchor="ctr">
            <a:spAutoFit/>
          </a:bodyPr>
          <a:lstStyle/>
          <a:p>
            <a:pPr algn="l"/>
            <a:r>
              <a:rPr lang="ja-JP" sz="1700" b="1" i="0">
                <a:solidFill>
                  <a:srgbClr val="1A2238"/>
                </a:solidFill>
                <a:latin typeface="Noto Sans CJK JP"/>
                <a:ea typeface="Noto Sans CJK JP"/>
              </a:rPr>
              <a:t>剰余群の位数は、添加するべき根が「何乗根か」に対応する</a:t>
            </a:r>
            <a:r>
              <a:rPr lang="ja-JP" sz="1200" b="0">
                <a:solidFill>
                  <a:srgbClr val="0F9E8E"/>
                </a:solidFill>
                <a:latin typeface="Noto Sans CJK JP"/>
                <a:ea typeface="Noto Sans CJK JP"/>
              </a:rPr>
              <a:t>   （本編 → P4・補論2 P15）</a:t>
            </a:r>
          </a:p>
        </p:txBody>
      </p:sp>
      <p:sp>
        <p:nvSpPr>
          <p:cNvPr id="12" name="TextBox 11"/>
          <p:cNvSpPr txBox="1"/>
          <p:nvPr/>
        </p:nvSpPr>
        <p:spPr>
          <a:xfrm>
            <a:off x="1325880" y="3611880"/>
            <a:ext cx="10058400" cy="1097280"/>
          </a:xfrm>
          <a:prstGeom prst="rect">
            <a:avLst/>
          </a:prstGeom>
          <a:noFill/>
        </p:spPr>
        <p:txBody>
          <a:bodyPr wrap="square" lIns="0" tIns="0" rIns="0" bIns="0">
            <a:spAutoFit/>
          </a:bodyPr>
          <a:lstStyle/>
          <a:p>
            <a:pPr algn="l">
              <a:lnSpc>
                <a:spcPct val="105000"/>
              </a:lnSpc>
            </a:pPr>
            <a:r>
              <a:rPr lang="ja-JP" sz="1200">
                <a:solidFill>
                  <a:srgbClr val="1A2238"/>
                </a:solidFill>
                <a:latin typeface="Noto Sans CJK JP"/>
                <a:ea typeface="Noto Sans CJK JP"/>
              </a:rPr>
              <a:t>剰余群の位数は、べき根の共役候補の間を巡回置換で一回りして元に戻るまでの置換回数に等しい。</a:t>
            </a:r>
          </a:p>
          <a:p>
            <a:pPr>
              <a:lnSpc>
                <a:spcPct val="105000"/>
              </a:lnSpc>
            </a:pPr>
            <a:r>
              <a:rPr lang="ja-JP" sz="1200">
                <a:solidFill>
                  <a:srgbClr val="1A2238"/>
                </a:solidFill>
                <a:latin typeface="Noto Sans CJK JP"/>
                <a:ea typeface="Noto Sans CJK JP"/>
              </a:rPr>
              <a:t>平方根なら候補は √a, −√a の2通り。√a → −√a → √a と、置換2回で一周して戻る。</a:t>
            </a:r>
          </a:p>
          <a:p>
            <a:pPr>
              <a:lnSpc>
                <a:spcPct val="105000"/>
              </a:lnSpc>
            </a:pPr>
            <a:r>
              <a:rPr lang="ja-JP" sz="1200">
                <a:solidFill>
                  <a:srgbClr val="1A2238"/>
                </a:solidFill>
                <a:latin typeface="Noto Sans CJK JP"/>
                <a:ea typeface="Noto Sans CJK JP"/>
              </a:rPr>
              <a:t>立方根なら候補は ³√a, ω³√a, ω²³√a の3通り。³√a → ω³√a → ω²³√a → ³√a と、置換3回で一周して戻る。</a:t>
            </a:r>
          </a:p>
        </p:txBody>
      </p:sp>
      <p:sp>
        <p:nvSpPr>
          <p:cNvPr id="13" name="Rectangle 12"/>
          <p:cNvSpPr/>
          <p:nvPr/>
        </p:nvSpPr>
        <p:spPr>
          <a:xfrm>
            <a:off x="640080" y="4709160"/>
            <a:ext cx="502920" cy="502920"/>
          </a:xfrm>
          <a:prstGeom prst="rect">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4709160"/>
            <a:ext cx="502920" cy="502920"/>
          </a:xfrm>
          <a:prstGeom prst="rect">
            <a:avLst/>
          </a:prstGeom>
          <a:noFill/>
        </p:spPr>
        <p:txBody>
          <a:bodyPr wrap="square" lIns="0" tIns="0" rIns="0" bIns="0" anchor="ctr">
            <a:spAutoFit/>
          </a:bodyPr>
          <a:lstStyle/>
          <a:p>
            <a:pPr algn="ctr"/>
            <a:r>
              <a:rPr lang="ja-JP" sz="2200" b="1" i="0">
                <a:solidFill>
                  <a:srgbClr val="FFFFFF"/>
                </a:solidFill>
                <a:latin typeface="Noto Sans CJK JP"/>
                <a:ea typeface="Noto Sans CJK JP"/>
              </a:rPr>
              <a:t>6</a:t>
            </a:r>
          </a:p>
        </p:txBody>
      </p:sp>
      <p:sp>
        <p:nvSpPr>
          <p:cNvPr id="15" name="TextBox 14"/>
          <p:cNvSpPr txBox="1"/>
          <p:nvPr/>
        </p:nvSpPr>
        <p:spPr>
          <a:xfrm>
            <a:off x="1325880" y="4690872"/>
            <a:ext cx="10058400" cy="411480"/>
          </a:xfrm>
          <a:prstGeom prst="rect">
            <a:avLst/>
          </a:prstGeom>
          <a:noFill/>
        </p:spPr>
        <p:txBody>
          <a:bodyPr wrap="square" lIns="0" tIns="0" rIns="0" bIns="0" anchor="ctr">
            <a:spAutoFit/>
          </a:bodyPr>
          <a:lstStyle/>
          <a:p>
            <a:pPr algn="l"/>
            <a:r>
              <a:rPr lang="ja-JP" sz="1700" b="1" i="0">
                <a:solidFill>
                  <a:srgbClr val="1A2238"/>
                </a:solidFill>
                <a:latin typeface="Noto Sans CJK JP"/>
                <a:ea typeface="Noto Sans CJK JP"/>
              </a:rPr>
              <a:t>添加される元は、根そのものとは限らない</a:t>
            </a:r>
            <a:r>
              <a:rPr lang="ja-JP" sz="1200" b="0">
                <a:solidFill>
                  <a:srgbClr val="0F9E8E"/>
                </a:solidFill>
                <a:latin typeface="Noto Sans CJK JP"/>
                <a:ea typeface="Noto Sans CJK JP"/>
              </a:rPr>
              <a:t>   （補論1 P13・補論2 P15）</a:t>
            </a:r>
          </a:p>
        </p:txBody>
      </p:sp>
      <p:sp>
        <p:nvSpPr>
          <p:cNvPr id="16" name="TextBox 15"/>
          <p:cNvSpPr txBox="1"/>
          <p:nvPr/>
        </p:nvSpPr>
        <p:spPr>
          <a:xfrm>
            <a:off x="1325880" y="5166360"/>
            <a:ext cx="10058400" cy="1097280"/>
          </a:xfrm>
          <a:prstGeom prst="rect">
            <a:avLst/>
          </a:prstGeom>
          <a:noFill/>
        </p:spPr>
        <p:txBody>
          <a:bodyPr wrap="square" lIns="0" tIns="0" rIns="0" bIns="0">
            <a:spAutoFit/>
          </a:bodyPr>
          <a:lstStyle/>
          <a:p>
            <a:pPr algn="l">
              <a:lnSpc>
                <a:spcPct val="105000"/>
              </a:lnSpc>
            </a:pPr>
            <a:r>
              <a:rPr lang="ja-JP" sz="1200">
                <a:solidFill>
                  <a:srgbClr val="1A2238"/>
                </a:solidFill>
                <a:latin typeface="Noto Sans CJK JP"/>
                <a:ea typeface="Noto Sans CJK JP"/>
              </a:rPr>
              <a:t>縮小時に添加する元は、必ずしも方程式の根そのものではない。根を表すのに必要な補助的な数を先に添加することがある。</a:t>
            </a:r>
          </a:p>
          <a:p>
            <a:pPr>
              <a:lnSpc>
                <a:spcPct val="105000"/>
              </a:lnSpc>
            </a:pPr>
            <a:r>
              <a:rPr lang="ja-JP" sz="1200">
                <a:solidFill>
                  <a:srgbClr val="1A2238"/>
                </a:solidFill>
                <a:latin typeface="Noto Sans CJK JP"/>
                <a:ea typeface="Noto Sans CJK JP"/>
              </a:rPr>
              <a:t>例:2次方程式 ax²+bx+c=0 の解の公式に現れる √(b²−4ac) は、根そのものではなく根を表すために添加するべき根。</a:t>
            </a:r>
          </a:p>
          <a:p>
            <a:pPr>
              <a:lnSpc>
                <a:spcPct val="105000"/>
              </a:lnSpc>
            </a:pPr>
            <a:r>
              <a:rPr lang="ja-JP" sz="1200">
                <a:solidFill>
                  <a:srgbClr val="1A2238"/>
                </a:solidFill>
                <a:latin typeface="Noto Sans CJK JP"/>
                <a:ea typeface="Noto Sans CJK JP"/>
              </a:rPr>
              <a:t>x³−2 でも、根 α,αω,αω²(α=³√2)のうち ω は根ではないが、3根を表すには ω の添加が必要。</a:t>
            </a:r>
          </a:p>
          <a:p>
            <a:pPr>
              <a:lnSpc>
                <a:spcPct val="105000"/>
              </a:lnSpc>
            </a:pPr>
            <a:r>
              <a:rPr lang="ja-JP" sz="1200">
                <a:solidFill>
                  <a:srgbClr val="1A2238"/>
                </a:solidFill>
                <a:latin typeface="Noto Sans CJK JP"/>
                <a:ea typeface="Noto Sans CJK JP"/>
              </a:rPr>
              <a:t>べき根で解くとは、必要な数を順に添加して群を {e} まで縮小させること。</a:t>
            </a:r>
          </a:p>
        </p:txBody>
      </p:sp>
      <p:sp>
        <p:nvSpPr>
          <p:cNvPr id="17" name="TextBox 16"/>
          <p:cNvSpPr txBox="1"/>
          <p:nvPr/>
        </p:nvSpPr>
        <p:spPr>
          <a:xfrm>
            <a:off x="11369040" y="6355080"/>
            <a:ext cx="457200" cy="274320"/>
          </a:xfrm>
          <a:prstGeom prst="rect">
            <a:avLst/>
          </a:prstGeom>
          <a:noFill/>
        </p:spPr>
        <p:txBody>
          <a:bodyPr wrap="square" lIns="0" tIns="0" rIns="0" bIns="0" anchor="t">
            <a:spAutoFit/>
          </a:bodyPr>
          <a:lstStyle/>
          <a:p>
            <a:pPr algn="r"/>
            <a:r>
              <a:rPr lang="ja-JP" sz="1100" b="0" i="0">
                <a:solidFill>
                  <a:srgbClr val="6B7180"/>
                </a:solidFill>
                <a:latin typeface="Noto Sans CJK JP"/>
                <a:ea typeface="Noto Sans CJK JP"/>
              </a:rPr>
              <a:t>18</a:t>
            </a:r>
          </a:p>
        </p:txBody>
      </p:sp>
      <p:sp>
        <p:nvSpPr>
          <p:cNvPr id="18" name="TextBox 17"/>
          <p:cNvSpPr txBox="1"/>
          <p:nvPr/>
        </p:nvSpPr>
        <p:spPr>
          <a:xfrm>
            <a:off x="457200" y="6355080"/>
            <a:ext cx="4572000" cy="274320"/>
          </a:xfrm>
          <a:prstGeom prst="rect">
            <a:avLst/>
          </a:prstGeom>
          <a:noFill/>
        </p:spPr>
        <p:txBody>
          <a:bodyPr wrap="square" lIns="0" tIns="0" rIns="0" bIns="0" anchor="t">
            <a:spAutoFit/>
          </a:bodyPr>
          <a:lstStyle/>
          <a:p>
            <a:pPr algn="l"/>
            <a:r>
              <a:rPr lang="ja-JP" sz="1000" b="0" i="0">
                <a:solidFill>
                  <a:srgbClr val="6B7180"/>
                </a:solidFill>
                <a:latin typeface="Noto Sans CJK JP"/>
                <a:ea typeface="Noto Sans CJK JP"/>
              </a:rPr>
              <a:t>5garashi.com 設計事務所</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3043</Words>
  <Application>Microsoft Office PowerPoint</Application>
  <PresentationFormat>ワイド画面</PresentationFormat>
  <Paragraphs>288</Paragraphs>
  <Slides>18</Slides>
  <Notes>15</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18</vt:i4>
      </vt:variant>
    </vt:vector>
  </HeadingPairs>
  <TitlesOfParts>
    <vt:vector size="21" baseType="lpstr">
      <vt:lpstr>Noto Sans CJK JP</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ガロア理論 入門</dc:title>
  <dc:subject>PptxGenJS Presentation</dc:subject>
  <dc:creator>Galois Theory Deck</dc:creator>
  <cp:lastModifiedBy>Igarashi</cp:lastModifiedBy>
  <cp:revision>5</cp:revision>
  <dcterms:created xsi:type="dcterms:W3CDTF">2026-06-06T22:22:08Z</dcterms:created>
  <dcterms:modified xsi:type="dcterms:W3CDTF">2026-07-25T18:46:25Z</dcterms:modified>
</cp:coreProperties>
</file>