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24"/>
    <p:sldId id="270" r:id="rId16"/>
    <p:sldId id="271" r:id="rId22"/>
    <p:sldId id="272"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1" d="100"/>
          <a:sy n="71" d="100"/>
        </p:scale>
        <p:origin x="6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6.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602752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822960" y="1828800"/>
            <a:ext cx="10515600" cy="1280160"/>
          </a:xfrm>
          <a:prstGeom prst="rect">
            <a:avLst/>
          </a:prstGeom>
          <a:noFill/>
          <a:ln/>
        </p:spPr>
        <p:txBody>
          <a:bodyPr wrap="square" lIns="0" tIns="0" rIns="0" bIns="0" rtlCol="0" anchor="ctr"/>
          <a:lstStyle/>
          <a:p>
            <a:pPr marL="0" indent="0">
              <a:buNone/>
            </a:pPr>
            <a:r>
              <a:rPr lang="en-US" sz="6000" b="1" dirty="0">
                <a:solidFill>
                  <a:srgbClr val="FFFFFF"/>
                </a:solidFill>
                <a:latin typeface="Noto Sans CJK JP" pitchFamily="34" charset="0"/>
                <a:ea typeface="Noto Sans CJK JP"/>
                <a:cs typeface="Noto Sans CJK JP" pitchFamily="34" charset="-120"/>
              </a:rPr>
              <a:t>Galois Theory</a:t>
            </a:r>
            <a:endParaRPr lang="en-US" sz="6000" dirty="0"/>
          </a:p>
        </p:txBody>
      </p:sp>
      <p:sp>
        <p:nvSpPr>
          <p:cNvPr id="3" name="Text 1"/>
          <p:cNvSpPr/>
          <p:nvPr/>
        </p:nvSpPr>
        <p:spPr>
          <a:xfrm>
            <a:off x="822960" y="3154680"/>
            <a:ext cx="10515600" cy="731520"/>
          </a:xfrm>
          <a:prstGeom prst="rect">
            <a:avLst/>
          </a:prstGeom>
          <a:noFill/>
          <a:ln/>
        </p:spPr>
        <p:txBody>
          <a:bodyPr wrap="square" lIns="0" tIns="0" rIns="0" bIns="0" rtlCol="0" anchor="ctr"/>
          <a:lstStyle/>
          <a:p>
            <a:pPr marL="0" indent="0">
              <a:buNone/>
            </a:pPr>
            <a:r>
              <a:rPr lang="en-US" sz="3000" dirty="0">
                <a:solidFill>
                  <a:srgbClr val="CAD6F0"/>
                </a:solidFill>
                <a:latin typeface="Noto Sans CJK JP" pitchFamily="34" charset="0"/>
                <a:ea typeface="Noto Sans CJK JP"/>
                <a:cs typeface="Noto Sans CJK JP" pitchFamily="34" charset="-120"/>
              </a:rPr>
              <a:t>Why quintic equations have </a:t>
            </a:r>
            <a:r>
              <a:rPr lang="en-US" sz="3000" b="1" dirty="0">
                <a:solidFill>
                  <a:srgbClr val="0F9E8E"/>
                </a:solidFill>
                <a:latin typeface="Noto Sans CJK JP" pitchFamily="34" charset="0"/>
                <a:ea typeface="Noto Sans CJK JP"/>
                <a:cs typeface="Noto Sans CJK JP" pitchFamily="34" charset="-120"/>
              </a:rPr>
              <a:t>no solution formula</a:t>
            </a:r>
            <a:endParaRPr lang="en-US" sz="3000" dirty="0"/>
          </a:p>
        </p:txBody>
      </p:sp>
      <p:sp>
        <p:nvSpPr>
          <p:cNvPr id="4" name="Text 2"/>
          <p:cNvSpPr/>
          <p:nvPr/>
        </p:nvSpPr>
        <p:spPr>
          <a:xfrm>
            <a:off x="841248" y="4069080"/>
            <a:ext cx="10515600" cy="457200"/>
          </a:xfrm>
          <a:prstGeom prst="rect">
            <a:avLst/>
          </a:prstGeom>
          <a:noFill/>
          <a:ln/>
        </p:spPr>
        <p:txBody>
          <a:bodyPr wrap="square" lIns="0" tIns="0" rIns="0" bIns="0" rtlCol="0" anchor="ctr"/>
          <a:lstStyle/>
          <a:p>
            <a:pPr marL="0" indent="0">
              <a:buNone/>
            </a:pPr>
            <a:r>
              <a:rPr lang="en-US" sz="1800" i="1" dirty="0">
                <a:solidFill>
                  <a:srgbClr val="8A93A8"/>
                </a:solidFill>
                <a:latin typeface="Noto Sans CJK JP" pitchFamily="34" charset="0"/>
                <a:ea typeface="Noto Sans CJK JP"/>
                <a:cs typeface="Noto Sans CJK JP" pitchFamily="34" charset="-120"/>
              </a:rPr>
              <a:t>Measuring the solvability of equations in the language of symmetry</a:t>
            </a:r>
            <a:endParaRPr lang="en-US" sz="1800" dirty="0"/>
          </a:p>
        </p:txBody>
      </p:sp>
      <p:sp>
        <p:nvSpPr>
          <p:cNvPr id="5" name="Text 3"/>
          <p:cNvSpPr/>
          <p:nvPr/>
        </p:nvSpPr>
        <p:spPr>
          <a:xfrm>
            <a:off x="841248" y="5669280"/>
            <a:ext cx="10515600" cy="822960"/>
          </a:xfrm>
          <a:prstGeom prst="rect">
            <a:avLst/>
          </a:prstGeom>
          <a:noFill/>
          <a:ln/>
        </p:spPr>
        <p:txBody>
          <a:bodyPr wrap="square" lIns="0" tIns="0" rIns="0" bIns="0" rtlCol="0" anchor="ctr"/>
          <a:lstStyle/>
          <a:p>
            <a:pPr marL="0" indent="0">
              <a:lnSpc>
                <a:spcPct val="120000"/>
              </a:lnSpc>
              <a:buNone/>
            </a:pPr>
            <a:r>
              <a:rPr lang="en-US" sz="1500" dirty="0">
                <a:solidFill>
                  <a:srgbClr val="7A84A0"/>
                </a:solidFill>
                <a:latin typeface="Noto Sans CJK JP" pitchFamily="34" charset="0"/>
                <a:ea typeface="Noto Sans CJK JP"/>
                <a:cs typeface="Noto Sans CJK JP" pitchFamily="34" charset="-120"/>
              </a:rPr>
              <a:t>Date: June 7, 2026</a:t>
            </a:r>
            <a:endParaRPr lang="en-US" sz="1500" dirty="0"/>
          </a:p>
          <a:p>
            <a:pPr marL="0" indent="0">
              <a:lnSpc>
                <a:spcPct val="120000"/>
              </a:lnSpc>
              <a:buNone/>
            </a:pPr>
            <a:r>
              <a:rPr lang="en-US" sz="1500" dirty="0">
                <a:solidFill>
                  <a:srgbClr val="7A84A0"/>
                </a:solidFill>
                <a:latin typeface="Noto Sans CJK JP" pitchFamily="34" charset="0"/>
                <a:ea typeface="Noto Sans CJK JP"/>
                <a:cs typeface="Noto Sans CJK JP" pitchFamily="34" charset="-120"/>
              </a:rPr>
              <a:t>5garashi.com Design Office</a:t>
            </a:r>
            <a:endParaRPr lang="en-US" sz="1500" dirty="0"/>
          </a:p>
        </p:txBody>
      </p:sp>
      <p:sp>
        <p:nvSpPr>
          <p:cNvPr id="6" name="Shape 4"/>
          <p:cNvSpPr/>
          <p:nvPr/>
        </p:nvSpPr>
        <p:spPr>
          <a:xfrm>
            <a:off x="822960" y="1965960"/>
            <a:ext cx="64008" cy="960120"/>
          </a:xfrm>
          <a:prstGeom prst="rect">
            <a:avLst/>
          </a:prstGeom>
          <a:solidFill>
            <a:srgbClr val="0F9E8E"/>
          </a:solidFill>
          <a:ln/>
        </p:spPr>
        <p:txBody>
          <a:body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en-US" sz="3400" b="1" dirty="0">
                <a:solidFill>
                  <a:srgbClr val="1A2238"/>
                </a:solidFill>
                <a:latin typeface="Noto Sans CJK JP" pitchFamily="34" charset="0"/>
                <a:ea typeface="Noto Sans CJK JP"/>
                <a:cs typeface="Noto Sans CJK JP" pitchFamily="34" charset="-120"/>
              </a:rPr>
              <a:t>Goals of This Deck</a:t>
            </a:r>
            <a:endParaRPr lang="en-US" sz="3400" dirty="0"/>
          </a:p>
        </p:txBody>
      </p:sp>
      <p:sp>
        <p:nvSpPr>
          <p:cNvPr id="3" name="Shape 1"/>
          <p:cNvSpPr/>
          <p:nvPr/>
        </p:nvSpPr>
        <p:spPr>
          <a:xfrm>
            <a:off x="822960" y="1463040"/>
            <a:ext cx="566928" cy="566928"/>
          </a:xfrm>
          <a:prstGeom prst="ellipse">
            <a:avLst/>
          </a:prstGeom>
          <a:solidFill>
            <a:srgbClr val="0F9E8E"/>
          </a:solidFill>
          <a:ln/>
        </p:spPr>
        <p:txBody>
          <a:bodyPr/>
          <a:p/>
        </p:txBody>
      </p:sp>
      <p:sp>
        <p:nvSpPr>
          <p:cNvPr id="4" name="Text 2"/>
          <p:cNvSpPr/>
          <p:nvPr/>
        </p:nvSpPr>
        <p:spPr>
          <a:xfrm>
            <a:off x="822960" y="1463040"/>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Noto Sans CJK JP" pitchFamily="34" charset="0"/>
                <a:ea typeface="Noto Sans CJK JP"/>
                <a:cs typeface="Noto Sans CJK JP" pitchFamily="34" charset="-120"/>
              </a:rPr>
              <a:t>1</a:t>
            </a:r>
            <a:endParaRPr lang="en-US" sz="2600" dirty="0"/>
          </a:p>
        </p:txBody>
      </p:sp>
      <p:sp>
        <p:nvSpPr>
          <p:cNvPr id="5" name="Text 3"/>
          <p:cNvSpPr/>
          <p:nvPr/>
        </p:nvSpPr>
        <p:spPr>
          <a:xfrm>
            <a:off x="1600200" y="1444752"/>
            <a:ext cx="36576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What is a Galois group</a:t>
            </a:r>
            <a:endParaRPr lang="en-US" sz="2200" dirty="0"/>
          </a:p>
        </p:txBody>
      </p:sp>
      <p:sp>
        <p:nvSpPr>
          <p:cNvPr id="6" name="Text 4"/>
          <p:cNvSpPr/>
          <p:nvPr/>
        </p:nvSpPr>
        <p:spPr>
          <a:xfrm>
            <a:off x="5394960" y="1444752"/>
            <a:ext cx="6035040" cy="603504"/>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Capturing as a group the symmetry that preserves relations (sums, products) among roots</a:t>
            </a:r>
            <a:endParaRPr lang="en-US" sz="1700" dirty="0"/>
          </a:p>
        </p:txBody>
      </p:sp>
      <p:sp>
        <p:nvSpPr>
          <p:cNvPr id="7" name="Shape 5"/>
          <p:cNvSpPr/>
          <p:nvPr/>
        </p:nvSpPr>
        <p:spPr>
          <a:xfrm>
            <a:off x="822960" y="2542032"/>
            <a:ext cx="566928" cy="566928"/>
          </a:xfrm>
          <a:prstGeom prst="ellipse">
            <a:avLst/>
          </a:prstGeom>
          <a:solidFill>
            <a:srgbClr val="0F9E8E"/>
          </a:solidFill>
          <a:ln/>
        </p:spPr>
        <p:txBody>
          <a:bodyPr/>
          <a:p/>
        </p:txBody>
      </p:sp>
      <p:sp>
        <p:nvSpPr>
          <p:cNvPr id="8" name="Text 6"/>
          <p:cNvSpPr/>
          <p:nvPr/>
        </p:nvSpPr>
        <p:spPr>
          <a:xfrm>
            <a:off x="822960" y="2542032"/>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Noto Sans CJK JP" pitchFamily="34" charset="0"/>
                <a:ea typeface="Noto Sans CJK JP"/>
                <a:cs typeface="Noto Sans CJK JP" pitchFamily="34" charset="-120"/>
              </a:rPr>
              <a:t>2</a:t>
            </a:r>
            <a:endParaRPr lang="en-US" sz="2600" dirty="0"/>
          </a:p>
        </p:txBody>
      </p:sp>
      <p:sp>
        <p:nvSpPr>
          <p:cNvPr id="9" name="Text 7"/>
          <p:cNvSpPr/>
          <p:nvPr/>
        </p:nvSpPr>
        <p:spPr>
          <a:xfrm>
            <a:off x="1600200" y="2523744"/>
            <a:ext cx="36576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Group shrinks, field grows</a:t>
            </a:r>
            <a:endParaRPr lang="en-US" sz="2200" dirty="0"/>
          </a:p>
        </p:txBody>
      </p:sp>
      <p:sp>
        <p:nvSpPr>
          <p:cNvPr id="10" name="Text 8"/>
          <p:cNvSpPr/>
          <p:nvPr/>
        </p:nvSpPr>
        <p:spPr>
          <a:xfrm>
            <a:off x="5394960" y="2523744"/>
            <a:ext cx="6035040" cy="603504"/>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Base Q, intermediate L, splitting K correspond to groups</a:t>
            </a:r>
            <a:endParaRPr lang="en-US" sz="1700" dirty="0"/>
          </a:p>
        </p:txBody>
      </p:sp>
      <p:sp>
        <p:nvSpPr>
          <p:cNvPr id="11" name="Shape 9"/>
          <p:cNvSpPr/>
          <p:nvPr/>
        </p:nvSpPr>
        <p:spPr>
          <a:xfrm>
            <a:off x="822960" y="3621024"/>
            <a:ext cx="566928" cy="566928"/>
          </a:xfrm>
          <a:prstGeom prst="ellipse">
            <a:avLst/>
          </a:prstGeom>
          <a:solidFill>
            <a:srgbClr val="0F9E8E"/>
          </a:solidFill>
          <a:ln/>
        </p:spPr>
        <p:txBody>
          <a:bodyPr/>
          <a:p/>
        </p:txBody>
      </p:sp>
      <p:sp>
        <p:nvSpPr>
          <p:cNvPr id="12" name="Text 10"/>
          <p:cNvSpPr/>
          <p:nvPr/>
        </p:nvSpPr>
        <p:spPr>
          <a:xfrm>
            <a:off x="822960" y="3621024"/>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Noto Sans CJK JP" pitchFamily="34" charset="0"/>
                <a:ea typeface="Noto Sans CJK JP"/>
                <a:cs typeface="Noto Sans CJK JP" pitchFamily="34" charset="-120"/>
              </a:rPr>
              <a:t>3</a:t>
            </a:r>
            <a:endParaRPr lang="en-US" sz="2600" dirty="0"/>
          </a:p>
        </p:txBody>
      </p:sp>
      <p:sp>
        <p:nvSpPr>
          <p:cNvPr id="13" name="Text 11"/>
          <p:cNvSpPr/>
          <p:nvPr/>
        </p:nvSpPr>
        <p:spPr>
          <a:xfrm>
            <a:off x="1600200" y="3602736"/>
            <a:ext cx="36576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Solvability condition</a:t>
            </a:r>
            <a:endParaRPr lang="en-US" sz="2200" dirty="0"/>
          </a:p>
        </p:txBody>
      </p:sp>
      <p:sp>
        <p:nvSpPr>
          <p:cNvPr id="14" name="Text 12"/>
          <p:cNvSpPr/>
          <p:nvPr/>
        </p:nvSpPr>
        <p:spPr>
          <a:xfrm>
            <a:off x="5394960" y="3602736"/>
            <a:ext cx="6035040" cy="603504"/>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chain reaching {e} = solvable by radicals</a:t>
            </a:r>
            <a:endParaRPr lang="en-US" sz="1700" dirty="0"/>
          </a:p>
        </p:txBody>
      </p:sp>
      <p:sp>
        <p:nvSpPr>
          <p:cNvPr id="15" name="Shape 13"/>
          <p:cNvSpPr/>
          <p:nvPr/>
        </p:nvSpPr>
        <p:spPr>
          <a:xfrm>
            <a:off x="822960" y="4700016"/>
            <a:ext cx="566928" cy="566928"/>
          </a:xfrm>
          <a:prstGeom prst="ellipse">
            <a:avLst/>
          </a:prstGeom>
          <a:solidFill>
            <a:srgbClr val="0F9E8E"/>
          </a:solidFill>
          <a:ln/>
        </p:spPr>
        <p:txBody>
          <a:bodyPr/>
          <a:p/>
        </p:txBody>
      </p:sp>
      <p:sp>
        <p:nvSpPr>
          <p:cNvPr id="16" name="Text 14"/>
          <p:cNvSpPr/>
          <p:nvPr/>
        </p:nvSpPr>
        <p:spPr>
          <a:xfrm>
            <a:off x="822960" y="4700016"/>
            <a:ext cx="566928" cy="566928"/>
          </a:xfrm>
          <a:prstGeom prst="rect">
            <a:avLst/>
          </a:prstGeom>
          <a:noFill/>
          <a:ln/>
        </p:spPr>
        <p:txBody>
          <a:bodyPr wrap="square" lIns="0" tIns="0" rIns="0" bIns="0" rtlCol="0" anchor="ctr"/>
          <a:lstStyle/>
          <a:p>
            <a:pPr marL="0" indent="0" algn="ctr">
              <a:buNone/>
            </a:pPr>
            <a:r>
              <a:rPr lang="en-US" sz="2600" b="1" dirty="0">
                <a:solidFill>
                  <a:srgbClr val="FFFFFF"/>
                </a:solidFill>
                <a:latin typeface="Noto Sans CJK JP" pitchFamily="34" charset="0"/>
                <a:ea typeface="Noto Sans CJK JP"/>
                <a:cs typeface="Noto Sans CJK JP" pitchFamily="34" charset="-120"/>
              </a:rPr>
              <a:t>4</a:t>
            </a:r>
            <a:endParaRPr lang="en-US" sz="2600" dirty="0"/>
          </a:p>
        </p:txBody>
      </p:sp>
      <p:sp>
        <p:nvSpPr>
          <p:cNvPr id="17" name="Text 15"/>
          <p:cNvSpPr/>
          <p:nvPr/>
        </p:nvSpPr>
        <p:spPr>
          <a:xfrm>
            <a:off x="1600200" y="4681728"/>
            <a:ext cx="36576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The degree-5 wall</a:t>
            </a:r>
            <a:endParaRPr lang="en-US" sz="2200" dirty="0"/>
          </a:p>
        </p:txBody>
      </p:sp>
      <p:sp>
        <p:nvSpPr>
          <p:cNvPr id="18" name="Text 16"/>
          <p:cNvSpPr/>
          <p:nvPr/>
        </p:nvSpPr>
        <p:spPr>
          <a:xfrm>
            <a:off x="5394960" y="4681728"/>
            <a:ext cx="6035040" cy="603504"/>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The special nature of A₅ rules out a formula</a:t>
            </a:r>
            <a:endParaRPr lang="en-US" sz="1700" dirty="0"/>
          </a:p>
        </p:txBody>
      </p:sp>
      <p:sp>
        <p:nvSpPr>
          <p:cNvPr id="19" name="Shape 17"/>
          <p:cNvSpPr/>
          <p:nvPr/>
        </p:nvSpPr>
        <p:spPr>
          <a:xfrm>
            <a:off x="822960" y="5897880"/>
            <a:ext cx="10607040" cy="566928"/>
          </a:xfrm>
          <a:prstGeom prst="roundRect">
            <a:avLst>
              <a:gd name="adj" fmla="val 12903"/>
            </a:avLst>
          </a:prstGeom>
          <a:solidFill>
            <a:srgbClr val="F4F6FA"/>
          </a:solidFill>
          <a:ln/>
        </p:spPr>
        <p:txBody>
          <a:bodyPr/>
          <a:p/>
        </p:txBody>
      </p:sp>
      <p:sp>
        <p:nvSpPr>
          <p:cNvPr id="20" name="Shape 18"/>
          <p:cNvSpPr/>
          <p:nvPr/>
        </p:nvSpPr>
        <p:spPr>
          <a:xfrm>
            <a:off x="822960" y="5897880"/>
            <a:ext cx="73152" cy="566928"/>
          </a:xfrm>
          <a:prstGeom prst="rect">
            <a:avLst/>
          </a:prstGeom>
          <a:solidFill>
            <a:srgbClr val="E0992B"/>
          </a:solidFill>
          <a:ln/>
        </p:spPr>
        <p:txBody>
          <a:bodyPr/>
          <a:p/>
        </p:txBody>
      </p:sp>
      <p:sp>
        <p:nvSpPr>
          <p:cNvPr id="21" name="Text 19"/>
          <p:cNvSpPr/>
          <p:nvPr/>
        </p:nvSpPr>
        <p:spPr>
          <a:xfrm>
            <a:off x="1051559" y="5532120"/>
            <a:ext cx="10972799" cy="841248"/>
          </a:xfrm>
          <a:prstGeom prst="rect">
            <a:avLst/>
          </a:prstGeom>
          <a:noFill/>
          <a:ln/>
        </p:spPr>
        <p:txBody>
          <a:bodyPr wrap="square" lIns="0" tIns="0" rIns="0" bIns="0" rtlCol="0" anchor="ctr"/>
          <a:lstStyle/>
          <a:p>
            <a:pPr marL="0" indent="0">
              <a:lnSpc>
                <a:spcPct val="115000"/>
              </a:lnSpc>
              <a:buNone/>
            </a:pPr>
            <a:r>
              <a:rPr sz="1300" b="0">
                <a:solidFill>
                  <a:srgbClr val="1A2238"/>
                </a:solidFill>
                <a:latin typeface="Noto Sans CJK JP"/>
                <a:ea typeface="Noto Sans CJK JP"/>
              </a:rPr>
              <a:t>The main part is fairly abstract — reading the </a:t>
            </a:r>
            <a:r>
              <a:rPr sz="1400" b="1">
                <a:solidFill>
                  <a:srgbClr val="1A2238"/>
                </a:solidFill>
                <a:latin typeface="Noto Sans CJK JP"/>
                <a:ea typeface="Noto Sans CJK JP"/>
              </a:rPr>
              <a:t>appendix (worked examples)</a:t>
            </a:r>
            <a:r>
              <a:rPr sz="1300" b="0">
                <a:solidFill>
                  <a:srgbClr val="1A2238"/>
                </a:solidFill>
                <a:latin typeface="Noto Sans CJK JP"/>
                <a:ea typeface="Noto Sans CJK JP"/>
              </a:rPr>
              <a:t> first makes it easier to follow. The common early stumbling points are collected in </a:t>
            </a:r>
            <a:r>
              <a:rPr sz="1400" b="1">
                <a:solidFill>
                  <a:srgbClr val="0F9E8E"/>
                </a:solidFill>
                <a:latin typeface="Noto Sans CJK JP"/>
                <a:ea typeface="Noto Sans CJK JP"/>
              </a:rPr>
              <a:t>Appendix 3</a:t>
            </a:r>
            <a:r>
              <a:rPr sz="1300" b="0">
                <a:solidFill>
                  <a:srgbClr val="1A2238"/>
                </a:solidFill>
                <a:latin typeface="Noto Sans CJK JP"/>
                <a:ea typeface="Noto Sans CJK JP"/>
              </a:rPr>
              <a:t>.</a:t>
            </a:r>
            <a:endParaRPr lang="en-US" sz="2000" dirty="0"/>
          </a:p>
        </p:txBody>
      </p:sp>
      <p:sp>
        <p:nvSpPr>
          <p:cNvPr id="22" name="Text 20"/>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2</a:t>
            </a:r>
            <a:endParaRPr lang="en-US" sz="1100" dirty="0"/>
          </a:p>
        </p:txBody>
      </p:sp>
      <p:sp>
        <p:nvSpPr>
          <p:cNvPr id="23" name="Text 21"/>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STEP 1</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Galois group = permutations preserving relations (sums, products) among roots</a:t>
            </a:r>
            <a:endParaRPr lang="en-US" sz="3200" dirty="0"/>
          </a:p>
        </p:txBody>
      </p:sp>
      <p:sp>
        <p:nvSpPr>
          <p:cNvPr id="5" name="Text 3"/>
          <p:cNvSpPr/>
          <p:nvPr/>
        </p:nvSpPr>
        <p:spPr>
          <a:xfrm>
            <a:off x="640080" y="1645920"/>
            <a:ext cx="10881360" cy="777240"/>
          </a:xfrm>
          <a:prstGeom prst="rect">
            <a:avLst/>
          </a:prstGeom>
          <a:noFill/>
          <a:ln/>
        </p:spPr>
        <p:txBody>
          <a:bodyPr wrap="square" lIns="0" tIns="0" rIns="0" bIns="0" rtlCol="0" anchor="ctr"/>
          <a:lstStyle/>
          <a:p>
            <a:pPr marL="0" indent="0">
              <a:lnSpc>
                <a:spcPct val="120000"/>
              </a:lnSpc>
              <a:buNone/>
            </a:pPr>
            <a:r>
              <a:rPr lang="en-US" sz="1800" dirty="0">
                <a:solidFill>
                  <a:srgbClr val="33384A"/>
                </a:solidFill>
                <a:latin typeface="Noto Sans CJK JP" pitchFamily="34" charset="0"/>
                <a:ea typeface="Noto Sans CJK JP"/>
                <a:cs typeface="Noto Sans CJK JP" pitchFamily="34" charset="-120"/>
              </a:rPr>
              <a:t>For any rational expression r whose value built from the roots is </a:t>
            </a:r>
            <a:r>
              <a:rPr lang="en-US" sz="1800" b="1" dirty="0">
                <a:solidFill>
                  <a:srgbClr val="0F9E8E"/>
                </a:solidFill>
                <a:latin typeface="Noto Sans CJK JP" pitchFamily="34" charset="0"/>
                <a:ea typeface="Noto Sans CJK JP"/>
                <a:cs typeface="Noto Sans CJK JP" pitchFamily="34" charset="-120"/>
              </a:rPr>
              <a:t>rational</a:t>
            </a:r>
            <a:r>
              <a:rPr lang="en-US" sz="1800" dirty="0">
                <a:solidFill>
                  <a:srgbClr val="33384A"/>
                </a:solidFill>
                <a:latin typeface="Noto Sans CJK JP" pitchFamily="34" charset="0"/>
                <a:ea typeface="Noto Sans CJK JP"/>
                <a:cs typeface="Noto Sans CJK JP" pitchFamily="34" charset="-120"/>
              </a:rPr>
              <a:t>, a permutation σ of the roots keeps the value </a:t>
            </a:r>
            <a:r>
              <a:rPr lang="en-US" sz="1800" b="1" dirty="0">
                <a:solidFill>
                  <a:srgbClr val="0F9E8E"/>
                </a:solidFill>
                <a:latin typeface="Noto Sans CJK JP" pitchFamily="34" charset="0"/>
                <a:ea typeface="Noto Sans CJK JP"/>
                <a:cs typeface="Noto Sans CJK JP" pitchFamily="34" charset="-120"/>
              </a:rPr>
              <a:t>rational</a:t>
            </a:r>
            <a:r>
              <a:rPr lang="en-US" sz="1800" dirty="0">
                <a:solidFill>
                  <a:srgbClr val="33384A"/>
                </a:solidFill>
                <a:latin typeface="Noto Sans CJK JP" pitchFamily="34" charset="0"/>
                <a:ea typeface="Noto Sans CJK JP"/>
                <a:cs typeface="Noto Sans CJK JP" pitchFamily="34" charset="-120"/>
              </a:rPr>
              <a:t> — collecting all such permutations gives a group: the Galois group G.</a:t>
            </a:r>
            <a:endParaRPr lang="en-US" sz="1800" dirty="0"/>
          </a:p>
        </p:txBody>
      </p:sp>
      <p:sp>
        <p:nvSpPr>
          <p:cNvPr id="6" name="Shape 4"/>
          <p:cNvSpPr/>
          <p:nvPr/>
        </p:nvSpPr>
        <p:spPr>
          <a:xfrm>
            <a:off x="1463040" y="2468880"/>
            <a:ext cx="9235440" cy="777240"/>
          </a:xfrm>
          <a:prstGeom prst="roundRect">
            <a:avLst>
              <a:gd name="adj" fmla="val 11765"/>
            </a:avLst>
          </a:prstGeom>
          <a:solidFill>
            <a:srgbClr val="1A2238"/>
          </a:solidFill>
          <a:ln/>
        </p:spPr>
        <p:txBody>
          <a:bodyPr/>
          <a:p/>
        </p:txBody>
      </p:sp>
      <p:sp>
        <p:nvSpPr>
          <p:cNvPr id="7" name="Text 5"/>
          <p:cNvSpPr/>
          <p:nvPr/>
        </p:nvSpPr>
        <p:spPr>
          <a:xfrm>
            <a:off x="1463040" y="2468880"/>
            <a:ext cx="9235440" cy="777240"/>
          </a:xfrm>
          <a:prstGeom prst="rect">
            <a:avLst/>
          </a:prstGeom>
          <a:noFill/>
          <a:ln/>
        </p:spPr>
        <p:txBody>
          <a:bodyPr wrap="square" lIns="0" tIns="0" rIns="0" bIns="0" rtlCol="0" anchor="ctr"/>
          <a:lstStyle/>
          <a:p>
            <a:pPr marL="0" indent="0" algn="ctr">
              <a:buNone/>
            </a:pPr>
            <a:r>
              <a:rPr lang="en-US" sz="2100" dirty="0">
                <a:solidFill>
                  <a:srgbClr val="FFFFFF"/>
                </a:solidFill>
                <a:latin typeface="Noto Sans CJK JP" pitchFamily="34" charset="0"/>
                <a:ea typeface="Noto Sans CJK JP"/>
                <a:cs typeface="Noto Sans CJK JP" pitchFamily="34" charset="-120"/>
              </a:rPr>
              <a:t>∀r, ∀σ∈G :  r(α₁,…,αₙ)∈Q  ⇒  σ( r(α₁,…,αₙ) )∈Q</a:t>
            </a:r>
            <a:endParaRPr lang="en-US" sz="2100" dirty="0"/>
          </a:p>
        </p:txBody>
      </p:sp>
      <p:sp>
        <p:nvSpPr>
          <p:cNvPr id="8" name="Shape 6"/>
          <p:cNvSpPr/>
          <p:nvPr/>
        </p:nvSpPr>
        <p:spPr>
          <a:xfrm>
            <a:off x="1463040" y="3337560"/>
            <a:ext cx="54864" cy="457200"/>
          </a:xfrm>
          <a:prstGeom prst="rect">
            <a:avLst/>
          </a:prstGeom>
          <a:solidFill>
            <a:srgbClr val="E0992B"/>
          </a:solidFill>
          <a:ln/>
        </p:spPr>
        <p:txBody>
          <a:bodyPr/>
          <a:p/>
        </p:txBody>
      </p:sp>
      <p:sp>
        <p:nvSpPr>
          <p:cNvPr id="9" name="Text 7"/>
          <p:cNvSpPr/>
          <p:nvPr/>
        </p:nvSpPr>
        <p:spPr>
          <a:xfrm>
            <a:off x="1627632" y="3291840"/>
            <a:ext cx="9052560" cy="502920"/>
          </a:xfrm>
          <a:prstGeom prst="rect">
            <a:avLst/>
          </a:prstGeom>
          <a:noFill/>
          <a:ln/>
        </p:spPr>
        <p:txBody>
          <a:bodyPr wrap="square" lIns="0" tIns="0" rIns="0" bIns="0" rtlCol="0" anchor="ctr"/>
          <a:lstStyle/>
          <a:p>
            <a:pPr marL="0" indent="0">
              <a:buNone/>
            </a:pPr>
            <a:r>
              <a:rPr lang="en-US" sz="1300" i="1" dirty="0">
                <a:solidFill>
                  <a:srgbClr val="5A6072"/>
                </a:solidFill>
                <a:latin typeface="Noto Sans CJK JP" pitchFamily="34" charset="0"/>
                <a:ea typeface="Noto Sans CJK JP"/>
                <a:cs typeface="Noto Sans CJK JP" pitchFamily="34" charset="-120"/>
              </a:rPr>
              <a:t>Note: imposing this for </a:t>
            </a:r>
            <a:r>
              <a:rPr lang="en-US" sz="1300" b="1" i="1" dirty="0">
                <a:solidFill>
                  <a:srgbClr val="E0992B"/>
                </a:solidFill>
                <a:latin typeface="Noto Sans CJK JP" pitchFamily="34" charset="0"/>
                <a:ea typeface="Noto Sans CJK JP"/>
                <a:cs typeface="Noto Sans CJK JP" pitchFamily="34" charset="-120"/>
              </a:rPr>
              <a:t>every r</a:t>
            </a:r>
            <a:r>
              <a:rPr lang="en-US" sz="1300" i="1" dirty="0">
                <a:solidFill>
                  <a:srgbClr val="5A6072"/>
                </a:solidFill>
                <a:latin typeface="Noto Sans CJK JP" pitchFamily="34" charset="0"/>
                <a:ea typeface="Noto Sans CJK JP"/>
                <a:cs typeface="Noto Sans CJK JP" pitchFamily="34" charset="-120"/>
              </a:rPr>
              <a:t> yields the same group as requiring the value itself be preserved: σ( r(α₁,…,αₙ) ) = r(α₁,…,αₙ).</a:t>
            </a:r>
            <a:endParaRPr lang="en-US" sz="1300" dirty="0"/>
          </a:p>
        </p:txBody>
      </p:sp>
      <p:sp>
        <p:nvSpPr>
          <p:cNvPr id="10" name="Shape 8"/>
          <p:cNvSpPr/>
          <p:nvPr/>
        </p:nvSpPr>
        <p:spPr>
          <a:xfrm>
            <a:off x="640080" y="3950208"/>
            <a:ext cx="64008" cy="365760"/>
          </a:xfrm>
          <a:prstGeom prst="rect">
            <a:avLst/>
          </a:prstGeom>
          <a:solidFill>
            <a:srgbClr val="0F9E8E"/>
          </a:solidFill>
          <a:ln/>
        </p:spPr>
        <p:txBody>
          <a:bodyPr/>
          <a:p/>
        </p:txBody>
      </p:sp>
      <p:sp>
        <p:nvSpPr>
          <p:cNvPr id="11" name="Text 9"/>
          <p:cNvSpPr/>
          <p:nvPr/>
        </p:nvSpPr>
        <p:spPr>
          <a:xfrm>
            <a:off x="868680" y="3931920"/>
            <a:ext cx="105156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Simple examples — rationals stay fixed, roots swap</a:t>
            </a:r>
            <a:endParaRPr lang="en-US" sz="1600" dirty="0"/>
          </a:p>
        </p:txBody>
      </p:sp>
      <p:sp>
        <p:nvSpPr>
          <p:cNvPr id="12" name="Shape 10"/>
          <p:cNvSpPr/>
          <p:nvPr/>
        </p:nvSpPr>
        <p:spPr>
          <a:xfrm>
            <a:off x="640080" y="4407408"/>
            <a:ext cx="5303520" cy="2084832"/>
          </a:xfrm>
          <a:prstGeom prst="roundRect">
            <a:avLst>
              <a:gd name="adj" fmla="val 3509"/>
            </a:avLst>
          </a:prstGeom>
          <a:solidFill>
            <a:srgbClr val="F4F6FA"/>
          </a:solidFill>
          <a:ln/>
        </p:spPr>
        <p:txBody>
          <a:bodyPr/>
          <a:p/>
        </p:txBody>
      </p:sp>
      <p:sp>
        <p:nvSpPr>
          <p:cNvPr id="13" name="Text 11"/>
          <p:cNvSpPr/>
          <p:nvPr/>
        </p:nvSpPr>
        <p:spPr>
          <a:xfrm>
            <a:off x="868680" y="4526280"/>
            <a:ext cx="4846320" cy="411480"/>
          </a:xfrm>
          <a:prstGeom prst="rect">
            <a:avLst/>
          </a:prstGeom>
          <a:noFill/>
          <a:ln/>
        </p:spPr>
        <p:txBody>
          <a:bodyPr wrap="square" lIns="0" tIns="0" rIns="0" bIns="0" rtlCol="0" anchor="ctr"/>
          <a:lstStyle/>
          <a:p>
            <a:pPr marL="0" indent="0">
              <a:buNone/>
            </a:pPr>
            <a:r>
              <a:rPr lang="en-US" sz="2000" b="1" dirty="0">
                <a:solidFill>
                  <a:srgbClr val="1A2238"/>
                </a:solidFill>
                <a:latin typeface="Noto Sans CJK JP" pitchFamily="34" charset="0"/>
                <a:ea typeface="Noto Sans CJK JP"/>
                <a:cs typeface="Noto Sans CJK JP" pitchFamily="34" charset="-120"/>
              </a:rPr>
              <a:t>x³ − 1 = 0</a:t>
            </a:r>
            <a:endParaRPr lang="en-US" sz="2000" dirty="0"/>
          </a:p>
        </p:txBody>
      </p:sp>
      <p:sp>
        <p:nvSpPr>
          <p:cNvPr id="14" name="Text 12"/>
          <p:cNvSpPr/>
          <p:nvPr/>
        </p:nvSpPr>
        <p:spPr>
          <a:xfrm>
            <a:off x="868680" y="4983480"/>
            <a:ext cx="4892040" cy="1417320"/>
          </a:xfrm>
          <a:prstGeom prst="rect">
            <a:avLst/>
          </a:prstGeom>
          <a:noFill/>
          <a:ln/>
        </p:spPr>
        <p:txBody>
          <a:bodyPr wrap="square" lIns="0" tIns="0" rIns="0" bIns="0" rtlCol="0" anchor="t"/>
          <a:lstStyle/>
          <a:p>
            <a:pPr marL="0" indent="0">
              <a:lnSpc>
                <a:spcPct val="125000"/>
              </a:lnSpc>
              <a:buNone/>
            </a:pPr>
            <a:r>
              <a:rPr lang="en-US" sz="1550" dirty="0">
                <a:solidFill>
                  <a:srgbClr val="33384A"/>
                </a:solidFill>
                <a:latin typeface="Noto Sans CJK JP" pitchFamily="34" charset="0"/>
                <a:ea typeface="Noto Sans CJK JP"/>
                <a:cs typeface="Noto Sans CJK JP" pitchFamily="34" charset="-120"/>
              </a:rPr>
              <a:t>Roots: 1, ω, ω² (ω: cube root of 1).</a:t>
            </a:r>
            <a:endParaRPr lang="en-US" sz="1550" dirty="0"/>
          </a:p>
          <a:p>
            <a:pPr marL="0" indent="0">
              <a:lnSpc>
                <a:spcPct val="125000"/>
              </a:lnSpc>
              <a:buNone/>
            </a:pPr>
            <a:r>
              <a:rPr lang="en-US" sz="1550" dirty="0">
                <a:solidFill>
                  <a:srgbClr val="0F9E8E"/>
                </a:solidFill>
                <a:latin typeface="Noto Sans CJK JP" pitchFamily="34" charset="0"/>
                <a:ea typeface="Noto Sans CJK JP"/>
                <a:cs typeface="Noto Sans CJK JP" pitchFamily="34" charset="-120"/>
              </a:rPr>
              <a:t>• The rational 1 cannot move (fixed)</a:t>
            </a:r>
            <a:endParaRPr lang="en-US" sz="1550" dirty="0"/>
          </a:p>
          <a:p>
            <a:pPr marL="0" indent="0">
              <a:lnSpc>
                <a:spcPct val="125000"/>
              </a:lnSpc>
              <a:buNone/>
            </a:pPr>
            <a:r>
              <a:rPr lang="en-US" sz="1550" dirty="0">
                <a:solidFill>
                  <a:srgbClr val="33384A"/>
                </a:solidFill>
                <a:latin typeface="Noto Sans CJK JP" pitchFamily="34" charset="0"/>
                <a:ea typeface="Noto Sans CJK JP"/>
                <a:cs typeface="Noto Sans CJK JP" pitchFamily="34" charset="-120"/>
              </a:rPr>
              <a:t>• Swapping ω ↔ ω² preserves values → OK</a:t>
            </a:r>
            <a:endParaRPr lang="en-US" sz="1550" dirty="0"/>
          </a:p>
          <a:p>
            <a:pPr marL="0" indent="0">
              <a:lnSpc>
                <a:spcPct val="125000"/>
              </a:lnSpc>
              <a:buNone/>
            </a:pPr>
            <a:r>
              <a:rPr lang="en-US" sz="1550" b="1" dirty="0">
                <a:solidFill>
                  <a:srgbClr val="3457A6"/>
                </a:solidFill>
                <a:latin typeface="Noto Sans CJK JP" pitchFamily="34" charset="0"/>
                <a:ea typeface="Noto Sans CJK JP"/>
                <a:cs typeface="Noto Sans CJK JP" pitchFamily="34" charset="-120"/>
              </a:rPr>
              <a:t>Galois group = cyclic group C₂ (order 2)</a:t>
            </a:r>
            <a:endParaRPr lang="en-US" sz="1550" dirty="0"/>
          </a:p>
        </p:txBody>
      </p:sp>
      <p:sp>
        <p:nvSpPr>
          <p:cNvPr id="15" name="Shape 13"/>
          <p:cNvSpPr/>
          <p:nvPr/>
        </p:nvSpPr>
        <p:spPr>
          <a:xfrm>
            <a:off x="6217920" y="4407408"/>
            <a:ext cx="5303520" cy="2084832"/>
          </a:xfrm>
          <a:prstGeom prst="roundRect">
            <a:avLst>
              <a:gd name="adj" fmla="val 3509"/>
            </a:avLst>
          </a:prstGeom>
          <a:solidFill>
            <a:srgbClr val="F4F6FA"/>
          </a:solidFill>
          <a:ln/>
        </p:spPr>
        <p:txBody>
          <a:bodyPr/>
          <a:p/>
        </p:txBody>
      </p:sp>
      <p:sp>
        <p:nvSpPr>
          <p:cNvPr id="16" name="Text 14"/>
          <p:cNvSpPr/>
          <p:nvPr/>
        </p:nvSpPr>
        <p:spPr>
          <a:xfrm>
            <a:off x="6446520" y="4498848"/>
            <a:ext cx="4846320" cy="365760"/>
          </a:xfrm>
          <a:prstGeom prst="rect">
            <a:avLst/>
          </a:prstGeom>
          <a:noFill/>
          <a:ln/>
        </p:spPr>
        <p:txBody>
          <a:bodyPr wrap="square" lIns="0" tIns="0" rIns="0" bIns="0" rtlCol="0" anchor="ctr"/>
          <a:lstStyle/>
          <a:p>
            <a:pPr marL="0" indent="0">
              <a:buNone/>
            </a:pPr>
            <a:r>
              <a:rPr lang="en-US" sz="1900" b="1" dirty="0">
                <a:solidFill>
                  <a:srgbClr val="1A2238"/>
                </a:solidFill>
                <a:latin typeface="Noto Sans CJK JP" pitchFamily="34" charset="0"/>
                <a:ea typeface="Noto Sans CJK JP"/>
                <a:cs typeface="Noto Sans CJK JP" pitchFamily="34" charset="-120"/>
              </a:rPr>
              <a:t>x⁴ − 4x² + 1 = 0</a:t>
            </a:r>
            <a:endParaRPr lang="en-US" sz="1900" dirty="0"/>
          </a:p>
        </p:txBody>
      </p:sp>
      <p:sp>
        <p:nvSpPr>
          <p:cNvPr id="17" name="Text 15"/>
          <p:cNvSpPr/>
          <p:nvPr/>
        </p:nvSpPr>
        <p:spPr>
          <a:xfrm>
            <a:off x="6446520" y="4882896"/>
            <a:ext cx="4937760" cy="1572768"/>
          </a:xfrm>
          <a:prstGeom prst="rect">
            <a:avLst/>
          </a:prstGeom>
          <a:noFill/>
          <a:ln/>
        </p:spPr>
        <p:txBody>
          <a:bodyPr wrap="square" lIns="0" tIns="0" rIns="0" bIns="0" rtlCol="0" anchor="t"/>
          <a:lstStyle/>
          <a:p>
            <a:pPr marL="0" indent="0">
              <a:lnSpc>
                <a:spcPct val="118000"/>
              </a:lnSpc>
              <a:buNone/>
            </a:pPr>
            <a:r>
              <a:rPr lang="en-US" sz="1250" dirty="0">
                <a:solidFill>
                  <a:srgbClr val="33384A"/>
                </a:solidFill>
                <a:latin typeface="Noto Sans CJK JP" pitchFamily="34" charset="0"/>
                <a:ea typeface="Noto Sans CJK JP"/>
                <a:cs typeface="Noto Sans CJK JP" pitchFamily="34" charset="-120"/>
              </a:rPr>
              <a:t>α₁=(√6+√2)/2, α₂=(√6−√2)/2, α₃=−α₁, α₄=−α₂</a:t>
            </a:r>
            <a:endParaRPr lang="en-US" sz="1250" dirty="0"/>
          </a:p>
          <a:p>
            <a:pPr marL="0" indent="0">
              <a:lnSpc>
                <a:spcPct val="118000"/>
              </a:lnSpc>
              <a:buNone/>
            </a:pPr>
            <a:r>
              <a:rPr lang="en-US" sz="1250" dirty="0">
                <a:solidFill>
                  <a:srgbClr val="33384A"/>
                </a:solidFill>
                <a:latin typeface="Noto Sans CJK JP" pitchFamily="34" charset="0"/>
                <a:ea typeface="Noto Sans CJK JP"/>
                <a:cs typeface="Noto Sans CJK JP" pitchFamily="34" charset="-120"/>
              </a:rPr>
              <a:t>Relations: α₁·α₂ = 1, α₁+α₃ = 0 (both rational)</a:t>
            </a:r>
            <a:endParaRPr lang="en-US" sz="1250" dirty="0"/>
          </a:p>
          <a:p>
            <a:pPr marL="0" indent="0">
              <a:lnSpc>
                <a:spcPct val="118000"/>
              </a:lnSpc>
              <a:buNone/>
            </a:pPr>
            <a:r>
              <a:rPr lang="en-US" sz="1250" b="1" dirty="0">
                <a:solidFill>
                  <a:srgbClr val="33384A"/>
                </a:solidFill>
                <a:latin typeface="Noto Sans CJK JP" pitchFamily="34" charset="0"/>
                <a:ea typeface="Noto Sans CJK JP"/>
                <a:cs typeface="Noto Sans CJK JP" pitchFamily="34" charset="-120"/>
              </a:rPr>
              <a:t>Swapping only α₁↔α₂ …</a:t>
            </a:r>
            <a:endParaRPr lang="en-US" sz="1250" dirty="0"/>
          </a:p>
          <a:p>
            <a:pPr marL="0" indent="0">
              <a:lnSpc>
                <a:spcPct val="118000"/>
              </a:lnSpc>
              <a:buNone/>
            </a:pPr>
            <a:r>
              <a:rPr lang="en-US" sz="1250" dirty="0">
                <a:solidFill>
                  <a:srgbClr val="0F9E8E"/>
                </a:solidFill>
                <a:latin typeface="Noto Sans CJK JP" pitchFamily="34" charset="0"/>
                <a:ea typeface="Noto Sans CJK JP"/>
                <a:cs typeface="Noto Sans CJK JP" pitchFamily="34" charset="-120"/>
              </a:rPr>
              <a:t>• α₁·α₂ = 1 is preserved (just reordering)</a:t>
            </a:r>
            <a:endParaRPr lang="en-US" sz="1250" dirty="0"/>
          </a:p>
          <a:p>
            <a:pPr marL="0" indent="0">
              <a:lnSpc>
                <a:spcPct val="118000"/>
              </a:lnSpc>
              <a:buNone/>
            </a:pPr>
            <a:r>
              <a:rPr lang="en-US" sz="1250" dirty="0">
                <a:solidFill>
                  <a:srgbClr val="D8593A"/>
                </a:solidFill>
                <a:latin typeface="Noto Sans CJK JP" pitchFamily="34" charset="0"/>
                <a:ea typeface="Noto Sans CJK JP"/>
                <a:cs typeface="Noto Sans CJK JP" pitchFamily="34" charset="-120"/>
              </a:rPr>
              <a:t>• but α₁+α₃ = 0 becomes −√2, broken → NG</a:t>
            </a:r>
            <a:endParaRPr lang="en-US" sz="1250" dirty="0"/>
          </a:p>
          <a:p>
            <a:pPr marL="0" indent="0">
              <a:lnSpc>
                <a:spcPct val="118000"/>
              </a:lnSpc>
              <a:buNone/>
            </a:pPr>
            <a:r>
              <a:rPr lang="en-US" sz="1250" b="1" dirty="0">
                <a:solidFill>
                  <a:srgbClr val="3457A6"/>
                </a:solidFill>
                <a:latin typeface="Noto Sans CJK JP" pitchFamily="34" charset="0"/>
                <a:ea typeface="Noto Sans CJK JP"/>
                <a:cs typeface="Noto Sans CJK JP" pitchFamily="34" charset="-120"/>
              </a:rPr>
              <a:t>Swap α₃↔α₄ together with α₁↔α₂ → both preserved, OK</a:t>
            </a:r>
            <a:endParaRPr lang="en-US" sz="1250" dirty="0"/>
          </a:p>
        </p:txBody>
      </p:sp>
      <p:sp>
        <p:nvSpPr>
          <p:cNvPr id="18" name="Text 16"/>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3</a:t>
            </a:r>
            <a:endParaRPr lang="en-US" sz="1100" dirty="0"/>
          </a:p>
        </p:txBody>
      </p:sp>
      <p:sp>
        <p:nvSpPr>
          <p:cNvPr id="19" name="Text 17"/>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STEP 2</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As the Galois group shrinks, the field grows</a:t>
            </a:r>
            <a:endParaRPr lang="en-US" sz="3200" dirty="0"/>
          </a:p>
        </p:txBody>
      </p:sp>
      <p:sp>
        <p:nvSpPr>
          <p:cNvPr id="5" name="Text 3"/>
          <p:cNvSpPr/>
          <p:nvPr/>
        </p:nvSpPr>
        <p:spPr>
          <a:xfrm>
            <a:off x="640080" y="1572768"/>
            <a:ext cx="10881360" cy="1783080"/>
          </a:xfrm>
          <a:prstGeom prst="rect">
            <a:avLst/>
          </a:prstGeom>
          <a:noFill/>
          <a:ln/>
        </p:spPr>
        <p:txBody>
          <a:bodyPr wrap="square" lIns="0" tIns="0" rIns="0" bIns="0" rtlCol="0" anchor="ctr"/>
          <a:lstStyle/>
          <a:p>
            <a:pPr marL="0" indent="0">
              <a:lnSpc>
                <a:spcPct val="112000"/>
              </a:lnSpc>
              <a:buNone/>
            </a:pPr>
            <a:r>
              <a:rPr lang="en-US" sz="1450" b="1" dirty="0">
                <a:solidFill>
                  <a:srgbClr val="3457A6"/>
                </a:solidFill>
                <a:latin typeface="Noto Sans CJK JP" pitchFamily="34" charset="0"/>
                <a:ea typeface="Noto Sans CJK JP"/>
                <a:cs typeface="Noto Sans CJK JP" pitchFamily="34" charset="-120"/>
              </a:rPr>
              <a:t>Base Q ⊂ intermediate L ⊂ splitting field K.</a:t>
            </a:r>
            <a:r>
              <a:rPr lang="en-US" sz="1450" dirty="0">
                <a:solidFill>
                  <a:srgbClr val="33384A"/>
                </a:solidFill>
                <a:latin typeface="Noto Sans CJK JP" pitchFamily="34" charset="0"/>
                <a:ea typeface="Noto Sans CJK JP"/>
                <a:cs typeface="Noto Sans CJK JP" pitchFamily="34" charset="-120"/>
              </a:rPr>
              <a:t> Each intermediate L corresponds to the subgroup Gal(K/L) fixing L:</a:t>
            </a:r>
            <a:endParaRPr lang="en-US" sz="1450" dirty="0"/>
          </a:p>
          <a:p>
            <a:pPr marL="0" indent="0">
              <a:lnSpc>
                <a:spcPct val="112000"/>
              </a:lnSpc>
              <a:buNone/>
            </a:pPr>
            <a:r>
              <a:rPr lang="en-US" sz="1450" b="1" dirty="0">
                <a:solidFill>
                  <a:srgbClr val="1A2238"/>
                </a:solidFill>
                <a:latin typeface="Noto Sans CJK JP" pitchFamily="34" charset="0"/>
                <a:ea typeface="Noto Sans CJK JP"/>
                <a:cs typeface="Noto Sans CJK JP" pitchFamily="34" charset="-120"/>
              </a:rPr>
              <a:t>L ↦ Gal(K/L) = Aut(K/L) = { σ∈G : σ(x)=x (∀x∈L) }</a:t>
            </a:r>
            <a:endParaRPr lang="en-US" sz="1450" dirty="0"/>
          </a:p>
          <a:p>
            <a:pPr marL="0" indent="0">
              <a:lnSpc>
                <a:spcPct val="112000"/>
              </a:lnSpc>
              <a:buNone/>
            </a:pPr>
            <a:r>
              <a:rPr lang="en-US" sz="1450" dirty="0">
                <a:solidFill>
                  <a:srgbClr val="33384A"/>
                </a:solidFill>
                <a:latin typeface="Noto Sans CJK JP" pitchFamily="34" charset="0"/>
                <a:ea typeface="Noto Sans CJK JP"/>
                <a:cs typeface="Noto Sans CJK JP" pitchFamily="34" charset="-120"/>
              </a:rPr>
              <a:t>As the group shrinks the field grows; the elements adjoined to the field are fixed over L inside K.</a:t>
            </a:r>
            <a:endParaRPr lang="en-US" sz="1450" dirty="0"/>
          </a:p>
          <a:p>
            <a:pPr marL="0" indent="0">
              <a:lnSpc>
                <a:spcPct val="112000"/>
              </a:lnSpc>
              <a:buNone/>
            </a:pPr>
            <a:r>
              <a:rPr lang="en-US" sz="1450" dirty="0">
                <a:solidFill>
                  <a:srgbClr val="33384A"/>
                </a:solidFill>
                <a:latin typeface="Noto Sans CJK JP" pitchFamily="34" charset="0"/>
                <a:ea typeface="Noto Sans CJK JP"/>
                <a:cs typeface="Noto Sans CJK JP" pitchFamily="34" charset="-120"/>
              </a:rPr>
              <a:t>At each step the quotient is a cyclic group of order p (p prime), and the adjoined element is a p-th root of a previously known number.</a:t>
            </a:r>
            <a:endParaRPr lang="en-US" sz="1450" dirty="0"/>
          </a:p>
          <a:p>
            <a:pPr marL="0" indent="0">
              <a:lnSpc>
                <a:spcPct val="112000"/>
              </a:lnSpc>
              <a:buNone/>
            </a:pPr>
            <a:r>
              <a:rPr lang="en-US" sz="1450" dirty="0">
                <a:solidFill>
                  <a:srgbClr val="6B7180"/>
                </a:solidFill>
                <a:latin typeface="Noto Sans CJK JP" pitchFamily="34" charset="0"/>
                <a:ea typeface="Noto Sans CJK JP"/>
                <a:cs typeface="Noto Sans CJK JP" pitchFamily="34" charset="-120"/>
              </a:rPr>
              <a:t>Premise: K contains all conjugates of the adjoined elements (Galois extension). At each step, order of the quotient group = degree of that one field extension, so group shrinking and field growth match exactly.</a:t>
            </a:r>
            <a:endParaRPr lang="en-US" sz="1450" dirty="0"/>
          </a:p>
        </p:txBody>
      </p:sp>
      <p:pic>
        <p:nvPicPr>
          <p:cNvPr id="6" name="Image 0" descr="/home/claude/fig_correspondence_en.png"/>
          <p:cNvPicPr>
            <a:picLocks noChangeAspect="1"/>
          </p:cNvPicPr>
          <p:nvPr/>
        </p:nvPicPr>
        <p:blipFill>
          <a:blip r:embed="rId3"/>
          <a:stretch>
            <a:fillRect/>
          </a:stretch>
        </p:blipFill>
        <p:spPr>
          <a:xfrm>
            <a:off x="3566160" y="3401568"/>
            <a:ext cx="5029200" cy="2816352"/>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4</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0F9E8E"/>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STEP 3</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When an equation is solvable</a:t>
            </a:r>
            <a:endParaRPr lang="en-US" sz="3200" dirty="0"/>
          </a:p>
        </p:txBody>
      </p:sp>
      <p:sp>
        <p:nvSpPr>
          <p:cNvPr id="5" name="Text 3"/>
          <p:cNvSpPr/>
          <p:nvPr/>
        </p:nvSpPr>
        <p:spPr>
          <a:xfrm>
            <a:off x="640080" y="1691640"/>
            <a:ext cx="10789920" cy="457200"/>
          </a:xfrm>
          <a:prstGeom prst="rect">
            <a:avLst/>
          </a:prstGeom>
          <a:noFill/>
          <a:ln/>
        </p:spPr>
        <p:txBody>
          <a:bodyPr wrap="square" lIns="0" tIns="0" rIns="0" bIns="0" rtlCol="0" anchor="ctr"/>
          <a:lstStyle/>
          <a:p>
            <a:pPr marL="0" indent="0">
              <a:buNone/>
            </a:pPr>
            <a:r>
              <a:rPr lang="en-US" sz="1800" dirty="0">
                <a:solidFill>
                  <a:srgbClr val="33384A"/>
                </a:solidFill>
                <a:latin typeface="Noto Sans CJK JP" pitchFamily="34" charset="0"/>
                <a:ea typeface="Noto Sans CJK JP"/>
                <a:cs typeface="Noto Sans CJK JP" pitchFamily="34" charset="-120"/>
              </a:rPr>
              <a:t>An equation being solvable by radicals (the four operations and n-th roots) is the same as the Galois group shrinking in the following way:</a:t>
            </a:r>
            <a:endParaRPr lang="en-US" sz="1800" dirty="0"/>
          </a:p>
        </p:txBody>
      </p:sp>
      <p:sp>
        <p:nvSpPr>
          <p:cNvPr id="6" name="Shape 4"/>
          <p:cNvSpPr/>
          <p:nvPr/>
        </p:nvSpPr>
        <p:spPr>
          <a:xfrm>
            <a:off x="1188720" y="2286000"/>
            <a:ext cx="9784080" cy="1051560"/>
          </a:xfrm>
          <a:prstGeom prst="roundRect">
            <a:avLst>
              <a:gd name="adj" fmla="val 10435"/>
            </a:avLst>
          </a:prstGeom>
          <a:solidFill>
            <a:srgbClr val="E5F5F2"/>
          </a:solidFill>
          <a:ln w="19050">
            <a:solidFill>
              <a:srgbClr val="0F9E8E"/>
            </a:solidFill>
            <a:prstDash val="solid"/>
          </a:ln>
        </p:spPr>
        <p:txBody>
          <a:bodyPr/>
          <a:p/>
        </p:txBody>
      </p:sp>
      <p:sp>
        <p:nvSpPr>
          <p:cNvPr id="7" name="Text 5"/>
          <p:cNvSpPr/>
          <p:nvPr/>
        </p:nvSpPr>
        <p:spPr>
          <a:xfrm>
            <a:off x="1188720" y="2286000"/>
            <a:ext cx="9784080" cy="1051560"/>
          </a:xfrm>
          <a:prstGeom prst="rect">
            <a:avLst/>
          </a:prstGeom>
          <a:noFill/>
          <a:ln/>
        </p:spPr>
        <p:txBody>
          <a:bodyPr wrap="square" lIns="0" tIns="0" rIns="0" bIns="0" rtlCol="0" anchor="ctr"/>
          <a:lstStyle/>
          <a:p>
            <a:pPr marL="0" indent="0" algn="ctr">
              <a:buNone/>
            </a:pPr>
            <a:r>
              <a:rPr lang="en-US" sz="2300" b="1" dirty="0">
                <a:solidFill>
                  <a:srgbClr val="0F9E8E"/>
                </a:solidFill>
                <a:latin typeface="Noto Sans CJK JP" pitchFamily="34" charset="0"/>
                <a:ea typeface="Noto Sans CJK JP"/>
                <a:cs typeface="Noto Sans CJK JP" pitchFamily="34" charset="-120"/>
              </a:rPr>
              <a:t>the quotient at each step is cyclic</a:t>
            </a:r>
            <a:r>
              <a:rPr lang="en-US" sz="2300" dirty="0">
                <a:solidFill>
                  <a:srgbClr val="1A2238"/>
                </a:solidFill>
                <a:latin typeface="Noto Sans CJK JP" pitchFamily="34" charset="0"/>
                <a:ea typeface="Noto Sans CJK JP"/>
                <a:cs typeface="Noto Sans CJK JP" pitchFamily="34" charset="-120"/>
              </a:rPr>
              <a:t> — a chain from G down to {e}</a:t>
            </a:r>
            <a:endParaRPr lang="en-US" sz="2300" dirty="0"/>
          </a:p>
        </p:txBody>
      </p:sp>
      <p:sp>
        <p:nvSpPr>
          <p:cNvPr id="8" name="Shape 6"/>
          <p:cNvSpPr/>
          <p:nvPr/>
        </p:nvSpPr>
        <p:spPr>
          <a:xfrm>
            <a:off x="118872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p/>
        </p:txBody>
      </p:sp>
      <p:sp>
        <p:nvSpPr>
          <p:cNvPr id="9" name="Text 7"/>
          <p:cNvSpPr/>
          <p:nvPr/>
        </p:nvSpPr>
        <p:spPr>
          <a:xfrm>
            <a:off x="1188720" y="3749040"/>
            <a:ext cx="3108960" cy="457200"/>
          </a:xfrm>
          <a:prstGeom prst="rect">
            <a:avLst/>
          </a:prstGeom>
          <a:noFill/>
          <a:ln/>
        </p:spPr>
        <p:txBody>
          <a:bodyPr wrap="square" lIns="0" tIns="0" rIns="0" bIns="0" rtlCol="0" anchor="ctr"/>
          <a:lstStyle/>
          <a:p>
            <a:pPr marL="0" indent="0" algn="ctr">
              <a:buNone/>
            </a:pPr>
            <a:r>
              <a:rPr lang="en-US" sz="2100" b="1" dirty="0">
                <a:solidFill>
                  <a:srgbClr val="3457A6"/>
                </a:solidFill>
                <a:latin typeface="Noto Sans CJK JP" pitchFamily="34" charset="0"/>
                <a:ea typeface="Noto Sans CJK JP"/>
                <a:cs typeface="Noto Sans CJK JP" pitchFamily="34" charset="-120"/>
              </a:rPr>
              <a:t>shrinking chain</a:t>
            </a:r>
            <a:endParaRPr lang="en-US" sz="2100" dirty="0"/>
          </a:p>
        </p:txBody>
      </p:sp>
      <p:sp>
        <p:nvSpPr>
          <p:cNvPr id="10" name="Text 8"/>
          <p:cNvSpPr/>
          <p:nvPr/>
        </p:nvSpPr>
        <p:spPr>
          <a:xfrm>
            <a:off x="1371600" y="4251960"/>
            <a:ext cx="2743200" cy="457200"/>
          </a:xfrm>
          <a:prstGeom prst="rect">
            <a:avLst/>
          </a:prstGeom>
          <a:noFill/>
          <a:ln/>
        </p:spPr>
        <p:txBody>
          <a:bodyPr wrap="square" lIns="0" tIns="0" rIns="0" bIns="0" rtlCol="0" anchor="ctr"/>
          <a:lstStyle/>
          <a:p>
            <a:pPr marL="0" indent="0" algn="ctr">
              <a:buNone/>
            </a:pPr>
            <a:r>
              <a:rPr lang="en-US" sz="1500" dirty="0">
                <a:solidFill>
                  <a:srgbClr val="6B7180"/>
                </a:solidFill>
                <a:latin typeface="Noto Sans CJK JP" pitchFamily="34" charset="0"/>
                <a:ea typeface="Noto Sans CJK JP"/>
                <a:cs typeface="Noto Sans CJK JP" pitchFamily="34" charset="-120"/>
              </a:rPr>
              <a:t>shrink the group step by step</a:t>
            </a:r>
            <a:endParaRPr lang="en-US" sz="1500" dirty="0"/>
          </a:p>
        </p:txBody>
      </p:sp>
      <p:sp>
        <p:nvSpPr>
          <p:cNvPr id="11" name="Shape 9"/>
          <p:cNvSpPr/>
          <p:nvPr/>
        </p:nvSpPr>
        <p:spPr>
          <a:xfrm>
            <a:off x="452628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p/>
        </p:txBody>
      </p:sp>
      <p:sp>
        <p:nvSpPr>
          <p:cNvPr id="12" name="Text 10"/>
          <p:cNvSpPr/>
          <p:nvPr/>
        </p:nvSpPr>
        <p:spPr>
          <a:xfrm>
            <a:off x="4526280" y="3749040"/>
            <a:ext cx="3108960" cy="457200"/>
          </a:xfrm>
          <a:prstGeom prst="rect">
            <a:avLst/>
          </a:prstGeom>
          <a:noFill/>
          <a:ln/>
        </p:spPr>
        <p:txBody>
          <a:bodyPr wrap="square" lIns="0" tIns="0" rIns="0" bIns="0" rtlCol="0" anchor="ctr"/>
          <a:lstStyle/>
          <a:p>
            <a:pPr marL="0" indent="0" algn="ctr">
              <a:buNone/>
            </a:pPr>
            <a:r>
              <a:rPr lang="en-US" sz="2100" b="1" dirty="0">
                <a:solidFill>
                  <a:srgbClr val="3457A6"/>
                </a:solidFill>
                <a:latin typeface="Noto Sans CJK JP" pitchFamily="34" charset="0"/>
                <a:ea typeface="Noto Sans CJK JP"/>
                <a:cs typeface="Noto Sans CJK JP" pitchFamily="34" charset="-120"/>
              </a:rPr>
              <a:t>cyclic quotient</a:t>
            </a:r>
            <a:endParaRPr lang="en-US" sz="2100" dirty="0"/>
          </a:p>
        </p:txBody>
      </p:sp>
      <p:sp>
        <p:nvSpPr>
          <p:cNvPr id="13" name="Text 11"/>
          <p:cNvSpPr/>
          <p:nvPr/>
        </p:nvSpPr>
        <p:spPr>
          <a:xfrm>
            <a:off x="4709160" y="4251960"/>
            <a:ext cx="2743200" cy="457200"/>
          </a:xfrm>
          <a:prstGeom prst="rect">
            <a:avLst/>
          </a:prstGeom>
          <a:noFill/>
          <a:ln/>
        </p:spPr>
        <p:txBody>
          <a:bodyPr wrap="square" lIns="0" tIns="0" rIns="0" bIns="0" rtlCol="0" anchor="ctr"/>
          <a:lstStyle/>
          <a:p>
            <a:pPr marL="0" indent="0" algn="ctr">
              <a:buNone/>
            </a:pPr>
            <a:r>
              <a:rPr lang="en-US" sz="1500" dirty="0">
                <a:solidFill>
                  <a:srgbClr val="6B7180"/>
                </a:solidFill>
                <a:latin typeface="Noto Sans CJK JP" pitchFamily="34" charset="0"/>
                <a:ea typeface="Noto Sans CJK JP"/>
                <a:cs typeface="Noto Sans CJK JP" pitchFamily="34" charset="-120"/>
              </a:rPr>
              <a:t>each step divides cleanly</a:t>
            </a:r>
            <a:endParaRPr lang="en-US" sz="1500" dirty="0"/>
          </a:p>
        </p:txBody>
      </p:sp>
      <p:sp>
        <p:nvSpPr>
          <p:cNvPr id="14" name="Shape 12"/>
          <p:cNvSpPr/>
          <p:nvPr/>
        </p:nvSpPr>
        <p:spPr>
          <a:xfrm>
            <a:off x="7863840" y="3566160"/>
            <a:ext cx="3108960" cy="1234440"/>
          </a:xfrm>
          <a:prstGeom prst="roundRect">
            <a:avLst>
              <a:gd name="adj" fmla="val 7407"/>
            </a:avLst>
          </a:prstGeom>
          <a:solidFill>
            <a:srgbClr val="FFFFFF"/>
          </a:solidFill>
          <a:ln w="12700">
            <a:solidFill>
              <a:srgbClr val="D5DAE6"/>
            </a:solidFill>
            <a:prstDash val="solid"/>
          </a:ln>
          <a:effectLst>
            <a:outerShdw blurRad="76200" dist="25400" dir="8100000" algn="bl" rotWithShape="0">
              <a:srgbClr val="000000">
                <a:alpha val="8000"/>
              </a:srgbClr>
            </a:outerShdw>
          </a:effectLst>
        </p:spPr>
        <p:txBody>
          <a:bodyPr/>
          <a:p/>
        </p:txBody>
      </p:sp>
      <p:sp>
        <p:nvSpPr>
          <p:cNvPr id="15" name="Text 13"/>
          <p:cNvSpPr/>
          <p:nvPr/>
        </p:nvSpPr>
        <p:spPr>
          <a:xfrm>
            <a:off x="7863840" y="3749040"/>
            <a:ext cx="3108960" cy="457200"/>
          </a:xfrm>
          <a:prstGeom prst="rect">
            <a:avLst/>
          </a:prstGeom>
          <a:noFill/>
          <a:ln/>
        </p:spPr>
        <p:txBody>
          <a:bodyPr wrap="square" lIns="0" tIns="0" rIns="0" bIns="0" rtlCol="0" anchor="ctr"/>
          <a:lstStyle/>
          <a:p>
            <a:pPr marL="0" indent="0" algn="ctr">
              <a:buNone/>
            </a:pPr>
            <a:r>
              <a:rPr lang="en-US" sz="2100" b="1" dirty="0">
                <a:solidFill>
                  <a:srgbClr val="3457A6"/>
                </a:solidFill>
                <a:latin typeface="Noto Sans CJK JP" pitchFamily="34" charset="0"/>
                <a:ea typeface="Noto Sans CJK JP"/>
                <a:cs typeface="Noto Sans CJK JP" pitchFamily="34" charset="-120"/>
              </a:rPr>
              <a:t>reaching {e}</a:t>
            </a:r>
            <a:endParaRPr lang="en-US" sz="2100" dirty="0"/>
          </a:p>
        </p:txBody>
      </p:sp>
      <p:sp>
        <p:nvSpPr>
          <p:cNvPr id="16" name="Text 14"/>
          <p:cNvSpPr/>
          <p:nvPr/>
        </p:nvSpPr>
        <p:spPr>
          <a:xfrm>
            <a:off x="8046720" y="4251960"/>
            <a:ext cx="2743200" cy="457200"/>
          </a:xfrm>
          <a:prstGeom prst="rect">
            <a:avLst/>
          </a:prstGeom>
          <a:noFill/>
          <a:ln/>
        </p:spPr>
        <p:txBody>
          <a:bodyPr wrap="square" lIns="0" tIns="0" rIns="0" bIns="0" rtlCol="0" anchor="ctr"/>
          <a:lstStyle/>
          <a:p>
            <a:pPr marL="0" indent="0" algn="ctr">
              <a:buNone/>
            </a:pPr>
            <a:r>
              <a:rPr lang="en-US" sz="1500" dirty="0">
                <a:solidFill>
                  <a:srgbClr val="6B7180"/>
                </a:solidFill>
                <a:latin typeface="Noto Sans CJK JP" pitchFamily="34" charset="0"/>
                <a:ea typeface="Noto Sans CJK JP"/>
                <a:cs typeface="Noto Sans CJK JP" pitchFamily="34" charset="-120"/>
              </a:rPr>
              <a:t>down to the identity only</a:t>
            </a:r>
            <a:endParaRPr lang="en-US" sz="1500" dirty="0"/>
          </a:p>
        </p:txBody>
      </p:sp>
      <p:sp>
        <p:nvSpPr>
          <p:cNvPr id="17" name="Shape 15"/>
          <p:cNvSpPr/>
          <p:nvPr/>
        </p:nvSpPr>
        <p:spPr>
          <a:xfrm>
            <a:off x="640080" y="5074920"/>
            <a:ext cx="64008" cy="1325880"/>
          </a:xfrm>
          <a:prstGeom prst="rect">
            <a:avLst/>
          </a:prstGeom>
          <a:solidFill>
            <a:srgbClr val="E0992B"/>
          </a:solidFill>
          <a:ln/>
        </p:spPr>
        <p:txBody>
          <a:bodyPr/>
          <a:p/>
        </p:txBody>
      </p:sp>
      <p:sp>
        <p:nvSpPr>
          <p:cNvPr id="18" name="Text 16"/>
          <p:cNvSpPr/>
          <p:nvPr/>
        </p:nvSpPr>
        <p:spPr>
          <a:xfrm>
            <a:off x="868680" y="5029200"/>
            <a:ext cx="4572000" cy="320040"/>
          </a:xfrm>
          <a:prstGeom prst="rect">
            <a:avLst/>
          </a:prstGeom>
          <a:noFill/>
          <a:ln/>
        </p:spPr>
        <p:txBody>
          <a:bodyPr wrap="square" lIns="0" tIns="0" rIns="0" bIns="0" rtlCol="0" anchor="ctr"/>
          <a:lstStyle/>
          <a:p>
            <a:pPr marL="0" indent="0">
              <a:buNone/>
            </a:pPr>
            <a:r>
              <a:rPr lang="en-US" sz="1400" b="1" dirty="0">
                <a:solidFill>
                  <a:srgbClr val="E0992B"/>
                </a:solidFill>
                <a:latin typeface="Noto Sans CJK JP" pitchFamily="34" charset="0"/>
                <a:ea typeface="Noto Sans CJK JP"/>
                <a:cs typeface="Noto Sans CJK JP" pitchFamily="34" charset="-120"/>
              </a:rPr>
              <a:t>Note</a:t>
            </a:r>
            <a:endParaRPr lang="en-US" sz="1400" dirty="0"/>
          </a:p>
        </p:txBody>
      </p:sp>
      <p:sp>
        <p:nvSpPr>
          <p:cNvPr id="19" name="Text 17"/>
          <p:cNvSpPr/>
          <p:nvPr/>
        </p:nvSpPr>
        <p:spPr>
          <a:xfrm>
            <a:off x="868680" y="5394960"/>
            <a:ext cx="10607040" cy="1005840"/>
          </a:xfrm>
          <a:prstGeom prst="rect">
            <a:avLst/>
          </a:prstGeom>
          <a:noFill/>
          <a:ln/>
        </p:spPr>
        <p:txBody>
          <a:bodyPr wrap="square" lIns="0" tIns="0" rIns="0" bIns="0" rtlCol="0" anchor="ctr"/>
          <a:lstStyle/>
          <a:p>
            <a:pPr marL="0" indent="0">
              <a:lnSpc>
                <a:spcPct val="120000"/>
              </a:lnSpc>
              <a:buNone/>
            </a:pPr>
            <a:r>
              <a:rPr lang="en-US" sz="1500" dirty="0">
                <a:solidFill>
                  <a:srgbClr val="33384A"/>
                </a:solidFill>
                <a:latin typeface="Noto Sans CJK JP" pitchFamily="34" charset="0"/>
                <a:ea typeface="Noto Sans CJK JP"/>
                <a:cs typeface="Noto Sans CJK JP" pitchFamily="34" charset="-120"/>
              </a:rPr>
              <a:t>• "Each quotient is cyclic" means the same as "each step is a normal subgroup with abelian quotient (which can be refined so each quotient is cyclic)."</a:t>
            </a:r>
            <a:endParaRPr lang="en-US" sz="1500" dirty="0"/>
          </a:p>
          <a:p>
            <a:pPr marL="0" indent="0">
              <a:lnSpc>
                <a:spcPct val="120000"/>
              </a:lnSpc>
              <a:buNone/>
            </a:pPr>
            <a:r>
              <a:rPr lang="en-US" sz="1500" dirty="0">
                <a:solidFill>
                  <a:srgbClr val="33384A"/>
                </a:solidFill>
                <a:latin typeface="Noto Sans CJK JP" pitchFamily="34" charset="0"/>
                <a:ea typeface="Noto Sans CJK JP"/>
                <a:cs typeface="Noto Sans CJK JP" pitchFamily="34" charset="-120"/>
              </a:rPr>
              <a:t>• Definition of a solvable group: one that shrinks to {e} via such a chain (with abelian quotients).</a:t>
            </a:r>
            <a:endParaRPr lang="en-US" sz="1500" dirty="0"/>
          </a:p>
        </p:txBody>
      </p:sp>
      <p:sp>
        <p:nvSpPr>
          <p:cNvPr id="20" name="Text 18"/>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5</a:t>
            </a:r>
            <a:endParaRPr lang="en-US" sz="1100" dirty="0"/>
          </a:p>
        </p:txBody>
      </p:sp>
      <p:sp>
        <p:nvSpPr>
          <p:cNvPr id="21" name="Text 19"/>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3457A6"/>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3457A6"/>
                </a:solidFill>
                <a:latin typeface="Noto Sans CJK JP" pitchFamily="34" charset="0"/>
                <a:ea typeface="Noto Sans CJK JP"/>
                <a:cs typeface="Noto Sans CJK JP" pitchFamily="34" charset="-120"/>
              </a:rPr>
              <a:t>n ≤ 4</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Up to degree 4 — the chain runs all the way</a:t>
            </a:r>
            <a:endParaRPr lang="en-US" sz="3200" dirty="0"/>
          </a:p>
        </p:txBody>
      </p:sp>
      <p:sp>
        <p:nvSpPr>
          <p:cNvPr id="5" name="Text 3"/>
          <p:cNvSpPr/>
          <p:nvPr/>
        </p:nvSpPr>
        <p:spPr>
          <a:xfrm>
            <a:off x="640080" y="1783080"/>
            <a:ext cx="10789920" cy="548640"/>
          </a:xfrm>
          <a:prstGeom prst="rect">
            <a:avLst/>
          </a:prstGeom>
          <a:noFill/>
          <a:ln/>
        </p:spPr>
        <p:txBody>
          <a:bodyPr wrap="square" lIns="0" tIns="0" rIns="0" bIns="0" rtlCol="0" anchor="ctr"/>
          <a:lstStyle/>
          <a:p>
            <a:pPr marL="0" indent="0">
              <a:lnSpc>
                <a:spcPct val="115000"/>
              </a:lnSpc>
              <a:buNone/>
            </a:pPr>
            <a:r>
              <a:rPr lang="en-US" sz="1900" dirty="0">
                <a:solidFill>
                  <a:srgbClr val="33384A"/>
                </a:solidFill>
                <a:latin typeface="Noto Sans CJK JP" pitchFamily="34" charset="0"/>
                <a:ea typeface="Noto Sans CJK JP"/>
                <a:cs typeface="Noto Sans CJK JP" pitchFamily="34" charset="-120"/>
              </a:rPr>
              <a:t>S₄ has a shrinking chain whose quotients are all cyclic. So formulas exist for degree 2, 3, and 4 equations.</a:t>
            </a:r>
            <a:endParaRPr lang="en-US" sz="1900" dirty="0"/>
          </a:p>
        </p:txBody>
      </p:sp>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6</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pic>
        <p:nvPicPr>
          <p:cNvPr id="9" name="Picture 8" descr="fig_chain_en.png"/>
          <p:cNvPicPr>
            <a:picLocks noChangeAspect="1"/>
          </p:cNvPicPr>
          <p:nvPr/>
        </p:nvPicPr>
        <p:blipFill>
          <a:blip r:embed="rId4"/>
          <a:stretch>
            <a:fillRect/>
          </a:stretch>
        </p:blipFill>
        <p:spPr>
          <a:xfrm>
            <a:off x="1280160" y="2468880"/>
            <a:ext cx="9601200" cy="403250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48640"/>
            <a:ext cx="146304" cy="146304"/>
          </a:xfrm>
          <a:prstGeom prst="ellipse">
            <a:avLst/>
          </a:prstGeom>
          <a:solidFill>
            <a:srgbClr val="D8593A"/>
          </a:solidFill>
          <a:ln/>
        </p:spPr>
        <p:txBody>
          <a:bodyPr/>
          <a:p/>
        </p:txBody>
      </p:sp>
      <p:sp>
        <p:nvSpPr>
          <p:cNvPr id="3" name="Text 1"/>
          <p:cNvSpPr/>
          <p:nvPr/>
        </p:nvSpPr>
        <p:spPr>
          <a:xfrm>
            <a:off x="896112" y="438912"/>
            <a:ext cx="5486400" cy="365760"/>
          </a:xfrm>
          <a:prstGeom prst="rect">
            <a:avLst/>
          </a:prstGeom>
          <a:noFill/>
          <a:ln/>
        </p:spPr>
        <p:txBody>
          <a:bodyPr wrap="square" lIns="0" tIns="0" rIns="0" bIns="0" rtlCol="0" anchor="ctr"/>
          <a:lstStyle/>
          <a:p>
            <a:pPr marL="0" indent="0">
              <a:buNone/>
            </a:pPr>
            <a:r>
              <a:rPr lang="en-US" sz="1600" b="1" dirty="0">
                <a:solidFill>
                  <a:srgbClr val="D8593A"/>
                </a:solidFill>
                <a:latin typeface="Noto Sans CJK JP" pitchFamily="34" charset="0"/>
                <a:ea typeface="Noto Sans CJK JP"/>
                <a:cs typeface="Noto Sans CJK JP" pitchFamily="34" charset="-120"/>
              </a:rPr>
              <a:t>n ≥ 5</a:t>
            </a:r>
            <a:endParaRPr lang="en-US" sz="1600" dirty="0"/>
          </a:p>
        </p:txBody>
      </p:sp>
      <p:sp>
        <p:nvSpPr>
          <p:cNvPr id="4" name="Text 2"/>
          <p:cNvSpPr/>
          <p:nvPr/>
        </p:nvSpPr>
        <p:spPr>
          <a:xfrm>
            <a:off x="640080" y="8686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Degree 5 and up — stuck at A₅</a:t>
            </a:r>
            <a:endParaRPr lang="en-US" sz="3200" dirty="0"/>
          </a:p>
        </p:txBody>
      </p:sp>
      <p:sp>
        <p:nvSpPr>
          <p:cNvPr id="5" name="Text 3"/>
          <p:cNvSpPr/>
          <p:nvPr/>
        </p:nvSpPr>
        <p:spPr>
          <a:xfrm>
            <a:off x="640080" y="1737360"/>
            <a:ext cx="10789920" cy="868680"/>
          </a:xfrm>
          <a:prstGeom prst="rect">
            <a:avLst/>
          </a:prstGeom>
          <a:noFill/>
          <a:ln/>
        </p:spPr>
        <p:txBody>
          <a:bodyPr wrap="square" lIns="0" tIns="0" rIns="0" bIns="0" rtlCol="0" anchor="ctr"/>
          <a:lstStyle/>
          <a:p>
            <a:pPr marL="0" indent="0">
              <a:lnSpc>
                <a:spcPct val="118000"/>
              </a:lnSpc>
              <a:buNone/>
            </a:pPr>
            <a:r>
              <a:rPr sz="1600">
                <a:solidFill>
                  <a:srgbClr val="1A2238"/>
                </a:solidFill>
                <a:latin typeface="Noto Sans CJK JP"/>
                <a:ea typeface="Noto Sans CJK JP"/>
              </a:rPr>
              <a:t>A₅ is a “simple group”: the only subgroups usable to shrink A₅ one step (by taking a quotient) are {e} and A₅ itself.</a:t>
            </a:r>
            <a:endParaRPr lang="en-US" sz="1800" dirty="0"/>
          </a:p>
          <a:p>
            <a:pPr>
              <a:lnSpc>
                <a:spcPct val="118000"/>
              </a:lnSpc>
            </a:pPr>
            <a:r>
              <a:rPr sz="1500">
                <a:solidFill>
                  <a:srgbClr val="5A6072"/>
                </a:solidFill>
                <a:latin typeface="Noto Sans CJK JP"/>
                <a:ea typeface="Noto Sans CJK JP"/>
              </a:rPr>
              <a:t>A₅ does have other subgroups, but dividing by them yields no group, so they cannot be used to shrink it.</a:t>
            </a:r>
          </a:p>
        </p:txBody>
      </p:sp>
      <p:pic>
        <p:nvPicPr>
          <p:cNvPr id="6" name="Image 0" descr="/home/claude/fig_break_en.png"/>
          <p:cNvPicPr>
            <a:picLocks noChangeAspect="1"/>
          </p:cNvPicPr>
          <p:nvPr/>
        </p:nvPicPr>
        <p:blipFill>
          <a:blip r:embed="rId3"/>
          <a:stretch>
            <a:fillRect/>
          </a:stretch>
        </p:blipFill>
        <p:spPr>
          <a:xfrm>
            <a:off x="1417320" y="2331720"/>
            <a:ext cx="9326880" cy="4103827"/>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7</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en-US" sz="3400" b="1" dirty="0">
                <a:solidFill>
                  <a:srgbClr val="1A2238"/>
                </a:solidFill>
                <a:latin typeface="Noto Sans CJK JP" pitchFamily="34" charset="0"/>
                <a:ea typeface="Noto Sans CJK JP"/>
                <a:cs typeface="Noto Sans CJK JP" pitchFamily="34" charset="-120"/>
              </a:rPr>
              <a:t>Why it stops at A₅</a:t>
            </a:r>
            <a:endParaRPr lang="en-US" sz="3400" dirty="0"/>
          </a:p>
        </p:txBody>
      </p:sp>
      <p:sp>
        <p:nvSpPr>
          <p:cNvPr id="3" name="Shape 1"/>
          <p:cNvSpPr/>
          <p:nvPr/>
        </p:nvSpPr>
        <p:spPr>
          <a:xfrm>
            <a:off x="640080" y="1417320"/>
            <a:ext cx="5212080" cy="4389120"/>
          </a:xfrm>
          <a:prstGeom prst="roundRect">
            <a:avLst>
              <a:gd name="adj" fmla="val 2500"/>
            </a:avLst>
          </a:prstGeom>
          <a:solidFill>
            <a:srgbClr val="F4F6FA"/>
          </a:solidFill>
          <a:ln/>
        </p:spPr>
        <p:txBody>
          <a:bodyPr/>
          <a:p/>
        </p:txBody>
      </p:sp>
      <p:sp>
        <p:nvSpPr>
          <p:cNvPr id="4" name="Text 2"/>
          <p:cNvSpPr/>
          <p:nvPr/>
        </p:nvSpPr>
        <p:spPr>
          <a:xfrm>
            <a:off x="914400" y="1645920"/>
            <a:ext cx="4663440" cy="457200"/>
          </a:xfrm>
          <a:prstGeom prst="rect">
            <a:avLst/>
          </a:prstGeom>
          <a:noFill/>
          <a:ln/>
        </p:spPr>
        <p:txBody>
          <a:bodyPr wrap="square" lIns="0" tIns="0" rIns="0" bIns="0" rtlCol="0" anchor="ctr"/>
          <a:lstStyle/>
          <a:p>
            <a:pPr marL="0" indent="0">
              <a:buNone/>
            </a:pPr>
            <a:r>
              <a:rPr lang="en-US" sz="2000" b="1" dirty="0">
                <a:solidFill>
                  <a:srgbClr val="3457A6"/>
                </a:solidFill>
                <a:latin typeface="Noto Sans CJK JP" pitchFamily="34" charset="0"/>
                <a:ea typeface="Noto Sans CJK JP"/>
                <a:cs typeface="Noto Sans CJK JP" pitchFamily="34" charset="-120"/>
              </a:rPr>
              <a:t>Image: an indivisible number</a:t>
            </a:r>
            <a:endParaRPr lang="en-US" sz="2000" dirty="0"/>
          </a:p>
        </p:txBody>
      </p:sp>
      <p:sp>
        <p:nvSpPr>
          <p:cNvPr id="5" name="Text 3"/>
          <p:cNvSpPr/>
          <p:nvPr/>
        </p:nvSpPr>
        <p:spPr>
          <a:xfrm>
            <a:off x="914400" y="2194560"/>
            <a:ext cx="4663440" cy="3383280"/>
          </a:xfrm>
          <a:prstGeom prst="rect">
            <a:avLst/>
          </a:prstGeom>
          <a:noFill/>
          <a:ln/>
        </p:spPr>
        <p:txBody>
          <a:bodyPr wrap="square" lIns="0" tIns="0" rIns="0" bIns="0" rtlCol="0" anchor="t"/>
          <a:lstStyle/>
          <a:p>
            <a:pPr marL="0" indent="0">
              <a:lnSpc>
                <a:spcPct val="115000"/>
              </a:lnSpc>
              <a:buNone/>
            </a:pPr>
            <a:r>
              <a:rPr lang="en-US" sz="1800" b="1" dirty="0">
                <a:solidFill>
                  <a:srgbClr val="1A2238"/>
                </a:solidFill>
                <a:latin typeface="Noto Sans CJK JP" pitchFamily="34" charset="0"/>
                <a:ea typeface="Noto Sans CJK JP"/>
                <a:cs typeface="Noto Sans CJK JP" pitchFamily="34" charset="-120"/>
              </a:rPr>
              <a:t>A prime</a:t>
            </a:r>
            <a:r>
              <a:rPr lang="en-US" sz="1800" dirty="0">
                <a:solidFill>
                  <a:srgbClr val="33384A"/>
                </a:solidFill>
                <a:latin typeface="Noto Sans CJK JP" pitchFamily="34" charset="0"/>
                <a:ea typeface="Noto Sans CJK JP"/>
                <a:cs typeface="Noto Sans CJK JP" pitchFamily="34" charset="-120"/>
              </a:rPr>
              <a:t> is divisible only by 1 and itself.</a:t>
            </a:r>
            <a:endParaRPr lang="en-US" sz="1800" dirty="0"/>
          </a:p>
          <a:p>
            <a:pPr marL="0" indent="0">
              <a:lnSpc>
                <a:spcPct val="115000"/>
              </a:lnSpc>
              <a:buNone/>
            </a:pPr>
            <a:endParaRPr lang="en-US" sz="1800" dirty="0"/>
          </a:p>
          <a:p>
            <a:pPr marL="0" indent="0">
              <a:lnSpc>
                <a:spcPct val="115000"/>
              </a:lnSpc>
              <a:buNone/>
            </a:pPr>
            <a:r>
              <a:rPr lang="en-US" sz="1800" b="1" dirty="0">
                <a:solidFill>
                  <a:srgbClr val="D8593A"/>
                </a:solidFill>
                <a:latin typeface="Noto Sans CJK JP" pitchFamily="34" charset="0"/>
                <a:ea typeface="Noto Sans CJK JP"/>
                <a:cs typeface="Noto Sans CJK JP" pitchFamily="34" charset="-120"/>
              </a:rPr>
              <a:t>A simple group</a:t>
            </a:r>
            <a:endParaRPr lang="en-US" sz="1800" dirty="0"/>
          </a:p>
          <a:p>
            <a:pPr marL="0" indent="0">
              <a:lnSpc>
                <a:spcPct val="115000"/>
              </a:lnSpc>
              <a:buNone/>
            </a:pPr>
            <a:r>
              <a:rPr lang="en-US" sz="1800" dirty="0">
                <a:solidFill>
                  <a:srgbClr val="33384A"/>
                </a:solidFill>
                <a:latin typeface="Noto Sans CJK JP" pitchFamily="34" charset="0"/>
                <a:ea typeface="Noto Sans CJK JP"/>
                <a:cs typeface="Noto Sans CJK JP" pitchFamily="34" charset="-120"/>
              </a:rPr>
              <a:t> is similar: the smallest unit, divisible only by {e} and itself.</a:t>
            </a:r>
            <a:endParaRPr lang="en-US" sz="1800" dirty="0"/>
          </a:p>
          <a:p>
            <a:pPr marL="0" indent="0">
              <a:lnSpc>
                <a:spcPct val="115000"/>
              </a:lnSpc>
              <a:buNone/>
            </a:pPr>
            <a:endParaRPr lang="en-US" sz="1800" dirty="0"/>
          </a:p>
          <a:p>
            <a:pPr marL="0" indent="0">
              <a:lnSpc>
                <a:spcPct val="115000"/>
              </a:lnSpc>
              <a:buNone/>
            </a:pPr>
            <a:r>
              <a:rPr lang="en-US" sz="1800" dirty="0">
                <a:solidFill>
                  <a:srgbClr val="33384A"/>
                </a:solidFill>
                <a:latin typeface="Noto Sans CJK JP" pitchFamily="34" charset="0"/>
                <a:ea typeface="Noto Sans CJK JP"/>
                <a:cs typeface="Noto Sans CJK JP" pitchFamily="34" charset="-120"/>
              </a:rPr>
              <a:t>A₅ (n≥5) is </a:t>
            </a:r>
            <a:endParaRPr lang="en-US" sz="1800" dirty="0"/>
          </a:p>
          <a:p>
            <a:pPr marL="0" indent="0">
              <a:lnSpc>
                <a:spcPct val="115000"/>
              </a:lnSpc>
              <a:buNone/>
            </a:pPr>
            <a:r>
              <a:rPr lang="en-US" sz="1800" b="1" dirty="0">
                <a:solidFill>
                  <a:srgbClr val="D8593A"/>
                </a:solidFill>
                <a:latin typeface="Noto Sans CJK JP" pitchFamily="34" charset="0"/>
                <a:ea typeface="Noto Sans CJK JP"/>
                <a:cs typeface="Noto Sans CJK JP" pitchFamily="34" charset="-120"/>
              </a:rPr>
              <a:t>an indivisible block that is not even cyclic</a:t>
            </a:r>
            <a:r>
              <a:rPr lang="en-US" sz="1800" dirty="0">
                <a:solidFill>
                  <a:srgbClr val="33384A"/>
                </a:solidFill>
                <a:latin typeface="Noto Sans CJK JP" pitchFamily="34" charset="0"/>
                <a:ea typeface="Noto Sans CJK JP"/>
                <a:cs typeface="Noto Sans CJK JP" pitchFamily="34" charset="-120"/>
              </a:rPr>
              <a:t>. So it cannot in principle be split into cyclic steps.</a:t>
            </a:r>
            <a:endParaRPr lang="en-US" sz="1800" dirty="0"/>
          </a:p>
        </p:txBody>
      </p:sp>
      <p:sp>
        <p:nvSpPr>
          <p:cNvPr id="6" name="Shape 4"/>
          <p:cNvSpPr/>
          <p:nvPr/>
        </p:nvSpPr>
        <p:spPr>
          <a:xfrm>
            <a:off x="6309360" y="1417320"/>
            <a:ext cx="5212080" cy="4389120"/>
          </a:xfrm>
          <a:prstGeom prst="roundRect">
            <a:avLst>
              <a:gd name="adj" fmla="val 2500"/>
            </a:avLst>
          </a:prstGeom>
          <a:solidFill>
            <a:srgbClr val="FFFFFF"/>
          </a:solidFill>
          <a:ln w="12700">
            <a:solidFill>
              <a:srgbClr val="D5DAE6"/>
            </a:solidFill>
            <a:prstDash val="solid"/>
          </a:ln>
        </p:spPr>
        <p:txBody>
          <a:bodyPr/>
          <a:p/>
        </p:txBody>
      </p:sp>
      <p:sp>
        <p:nvSpPr>
          <p:cNvPr id="7" name="Text 5"/>
          <p:cNvSpPr/>
          <p:nvPr/>
        </p:nvSpPr>
        <p:spPr>
          <a:xfrm>
            <a:off x="6583680" y="1645920"/>
            <a:ext cx="4663440" cy="457200"/>
          </a:xfrm>
          <a:prstGeom prst="rect">
            <a:avLst/>
          </a:prstGeom>
          <a:noFill/>
          <a:ln/>
        </p:spPr>
        <p:txBody>
          <a:bodyPr wrap="square" lIns="0" tIns="0" rIns="0" bIns="0" rtlCol="0" anchor="ctr"/>
          <a:lstStyle/>
          <a:p>
            <a:pPr marL="0" indent="0">
              <a:buNone/>
            </a:pPr>
            <a:r>
              <a:rPr lang="en-US" sz="2000" b="1" dirty="0">
                <a:solidFill>
                  <a:srgbClr val="3457A6"/>
                </a:solidFill>
                <a:latin typeface="Noto Sans CJK JP" pitchFamily="34" charset="0"/>
                <a:ea typeface="Noto Sans CJK JP"/>
                <a:cs typeface="Noto Sans CJK JP" pitchFamily="34" charset="-120"/>
              </a:rPr>
              <a:t>Two options to shrink A₅</a:t>
            </a:r>
            <a:endParaRPr lang="en-US" sz="2000" dirty="0"/>
          </a:p>
        </p:txBody>
      </p:sp>
      <p:sp>
        <p:nvSpPr>
          <p:cNvPr id="8" name="Shape 6"/>
          <p:cNvSpPr/>
          <p:nvPr/>
        </p:nvSpPr>
        <p:spPr>
          <a:xfrm>
            <a:off x="6583680" y="2880360"/>
            <a:ext cx="4663440" cy="960120"/>
          </a:xfrm>
          <a:prstGeom prst="roundRect">
            <a:avLst>
              <a:gd name="adj" fmla="val 5000"/>
            </a:avLst>
          </a:prstGeom>
          <a:solidFill>
            <a:srgbClr val="FBEEEA"/>
          </a:solidFill>
          <a:ln/>
        </p:spPr>
        <p:txBody>
          <a:bodyPr/>
          <a:p/>
        </p:txBody>
      </p:sp>
      <p:sp>
        <p:nvSpPr>
          <p:cNvPr id="9" name="Text 7"/>
          <p:cNvSpPr/>
          <p:nvPr/>
        </p:nvSpPr>
        <p:spPr>
          <a:xfrm>
            <a:off x="6812280" y="2971800"/>
            <a:ext cx="4297680" cy="457200"/>
          </a:xfrm>
          <a:prstGeom prst="rect">
            <a:avLst/>
          </a:prstGeom>
          <a:noFill/>
          <a:ln/>
        </p:spPr>
        <p:txBody>
          <a:bodyPr wrap="square" lIns="36576" tIns="36576" rIns="36576" bIns="36576" rtlCol="0" anchor="t"/>
          <a:lstStyle/>
          <a:p>
            <a:pPr marL="0" indent="0">
              <a:buNone/>
            </a:pPr>
            <a:r>
              <a:rPr sz="1400" b="0" lang="en-US">
                <a:solidFill>
                  <a:srgbClr val="1A2238"/>
                </a:solidFill>
                <a:latin typeface="Noto Sans CJK JP"/>
                <a:ea typeface="Noto Sans CJK JP"/>
              </a:rPr>
              <a:t>Group after = {e}  →  quotient </a:t>
            </a:r>
            <a:r>
              <a:rPr sz="1400" b="1" lang="en-US">
                <a:solidFill>
                  <a:srgbClr val="D8593A"/>
                </a:solidFill>
                <a:latin typeface="Noto Sans CJK JP"/>
                <a:ea typeface="Noto Sans CJK JP"/>
              </a:rPr>
              <a:t>A₅/{e} = A₅</a:t>
            </a:r>
            <a:endParaRPr lang="en-US" sz="1800" dirty="0"/>
          </a:p>
        </p:txBody>
      </p:sp>
      <p:sp>
        <p:nvSpPr>
          <p:cNvPr id="10" name="Text 8"/>
          <p:cNvSpPr/>
          <p:nvPr/>
        </p:nvSpPr>
        <p:spPr>
          <a:xfrm>
            <a:off x="6812280" y="3401568"/>
            <a:ext cx="4206240" cy="384048"/>
          </a:xfrm>
          <a:prstGeom prst="rect">
            <a:avLst/>
          </a:prstGeom>
          <a:noFill/>
          <a:ln/>
        </p:spPr>
        <p:txBody>
          <a:bodyPr wrap="square" lIns="36576" tIns="36576" rIns="36576" bIns="36576" rtlCol="0" anchor="t"/>
          <a:lstStyle/>
          <a:p>
            <a:pPr marL="0" indent="0">
              <a:buNone/>
            </a:pPr>
            <a:r>
              <a:rPr sz="1300" b="0" lang="en-US">
                <a:solidFill>
                  <a:srgbClr val="6B7180"/>
                </a:solidFill>
                <a:latin typeface="Noto Sans CJK JP"/>
                <a:ea typeface="Noto Sans CJK JP"/>
              </a:rPr>
              <a:t>But A₅ is non-abelian, so it is not cyclic.</a:t>
            </a:r>
            <a:endParaRPr lang="en-US" sz="1500" dirty="0"/>
          </a:p>
        </p:txBody>
      </p:sp>
      <p:sp>
        <p:nvSpPr>
          <p:cNvPr id="11" name="Shape 9"/>
          <p:cNvSpPr/>
          <p:nvPr/>
        </p:nvSpPr>
        <p:spPr>
          <a:xfrm>
            <a:off x="6583680" y="4023360"/>
            <a:ext cx="4663440" cy="1325880"/>
          </a:xfrm>
          <a:prstGeom prst="roundRect">
            <a:avLst>
              <a:gd name="adj" fmla="val 5000"/>
            </a:avLst>
          </a:prstGeom>
          <a:solidFill>
            <a:srgbClr val="FBEEEA"/>
          </a:solidFill>
          <a:ln/>
        </p:spPr>
        <p:txBody>
          <a:bodyPr/>
          <a:p/>
        </p:txBody>
      </p:sp>
      <p:sp>
        <p:nvSpPr>
          <p:cNvPr id="12" name="Text 10"/>
          <p:cNvSpPr/>
          <p:nvPr/>
        </p:nvSpPr>
        <p:spPr>
          <a:xfrm>
            <a:off x="6812280" y="4114800"/>
            <a:ext cx="4297680" cy="457200"/>
          </a:xfrm>
          <a:prstGeom prst="rect">
            <a:avLst/>
          </a:prstGeom>
          <a:noFill/>
          <a:ln/>
        </p:spPr>
        <p:txBody>
          <a:bodyPr wrap="square" lIns="36576" tIns="36576" rIns="36576" bIns="36576" rtlCol="0" anchor="t"/>
          <a:lstStyle/>
          <a:p>
            <a:pPr marL="0" indent="0">
              <a:buNone/>
            </a:pPr>
            <a:r>
              <a:rPr sz="1400" b="0" lang="en-US">
                <a:solidFill>
                  <a:srgbClr val="1A2238"/>
                </a:solidFill>
                <a:latin typeface="Noto Sans CJK JP"/>
                <a:ea typeface="Noto Sans CJK JP"/>
              </a:rPr>
              <a:t>Group after = A₅ itself  →  quotient </a:t>
            </a:r>
            <a:r>
              <a:rPr sz="1400" b="1" lang="en-US">
                <a:solidFill>
                  <a:srgbClr val="D8593A"/>
                </a:solidFill>
                <a:latin typeface="Noto Sans CJK JP"/>
                <a:ea typeface="Noto Sans CJK JP"/>
              </a:rPr>
              <a:t>A₅/A₅ = {e}</a:t>
            </a:r>
            <a:endParaRPr lang="en-US" sz="1800" dirty="0"/>
          </a:p>
        </p:txBody>
      </p:sp>
      <p:sp>
        <p:nvSpPr>
          <p:cNvPr id="13" name="Text 11"/>
          <p:cNvSpPr/>
          <p:nvPr/>
        </p:nvSpPr>
        <p:spPr>
          <a:xfrm>
            <a:off x="6812280" y="4553712"/>
            <a:ext cx="4206240" cy="731520"/>
          </a:xfrm>
          <a:prstGeom prst="rect">
            <a:avLst/>
          </a:prstGeom>
          <a:noFill/>
          <a:ln/>
        </p:spPr>
        <p:txBody>
          <a:bodyPr wrap="square" lIns="36576" tIns="36576" rIns="36576" bIns="36576" rtlCol="0" anchor="t"/>
          <a:lstStyle/>
          <a:p>
            <a:pPr marL="0" indent="0">
              <a:buNone/>
            </a:pPr>
            <a:r>
              <a:rPr sz="1300" b="0" lang="en-US">
                <a:solidFill>
                  <a:srgbClr val="6B7180"/>
                </a:solidFill>
                <a:latin typeface="Noto Sans CJK JP"/>
                <a:ea typeface="Noto Sans CJK JP"/>
              </a:rPr>
              <a:t>This quotient is the trivial (cyclic) group, but it just goes A₅ → A₅, so nothing shrinks.</a:t>
            </a:r>
            <a:endParaRPr lang="en-US" sz="1500" dirty="0"/>
          </a:p>
        </p:txBody>
      </p:sp>
      <p:sp>
        <p:nvSpPr>
          <p:cNvPr id="14" name="Text 12"/>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8</a:t>
            </a:r>
            <a:endParaRPr lang="en-US" sz="1100" dirty="0"/>
          </a:p>
        </p:txBody>
      </p:sp>
      <p:sp>
        <p:nvSpPr>
          <p:cNvPr id="15" name="Text 13"/>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
        <p:nvSpPr>
          <p:cNvPr id="16" name="TextBox 15"/>
          <p:cNvSpPr txBox="1"/>
          <p:nvPr/>
        </p:nvSpPr>
        <p:spPr>
          <a:xfrm>
            <a:off x="6693408" y="2103120"/>
            <a:ext cx="4553712" cy="384048"/>
          </a:xfrm>
          <a:prstGeom prst="rect">
            <a:avLst/>
          </a:prstGeom>
          <a:noFill/>
        </p:spPr>
        <p:txBody>
          <a:bodyPr wrap="square" anchor="t" lIns="36576" rIns="36576" tIns="36576" bIns="36576">
            <a:spAutoFit/>
          </a:bodyPr>
          <a:lstStyle/>
          <a:p>
            <a:r>
              <a:rPr sz="1400" b="1" lang="en-US">
                <a:solidFill>
                  <a:srgbClr val="1A2238"/>
                </a:solidFill>
                <a:latin typeface="Noto Sans CJK JP"/>
                <a:ea typeface="Noto Sans CJK JP"/>
              </a:rPr>
              <a:t>group before / group after = </a:t>
            </a:r>
            <a:r>
              <a:rPr sz="1400" b="1" lang="en-US">
                <a:solidFill>
                  <a:srgbClr val="0F9E8E"/>
                </a:solidFill>
                <a:latin typeface="Noto Sans CJK JP"/>
                <a:ea typeface="Noto Sans CJK JP"/>
              </a:rPr>
              <a:t>quotient (factor group)</a:t>
            </a:r>
          </a:p>
        </p:txBody>
      </p:sp>
      <p:sp>
        <p:nvSpPr>
          <p:cNvPr id="17" name="TextBox 16"/>
          <p:cNvSpPr txBox="1"/>
          <p:nvPr/>
        </p:nvSpPr>
        <p:spPr>
          <a:xfrm>
            <a:off x="6693408" y="2487168"/>
            <a:ext cx="4553712" cy="384048"/>
          </a:xfrm>
          <a:prstGeom prst="rect">
            <a:avLst/>
          </a:prstGeom>
          <a:noFill/>
        </p:spPr>
        <p:txBody>
          <a:bodyPr wrap="square" anchor="t" lIns="36576" rIns="36576" tIns="36576" bIns="36576">
            <a:spAutoFit/>
          </a:bodyPr>
          <a:lstStyle/>
          <a:p>
            <a:r>
              <a:rPr sz="1300" b="0" lang="en-US">
                <a:solidFill>
                  <a:srgbClr val="1A2238"/>
                </a:solidFill>
                <a:latin typeface="Noto Sans CJK JP"/>
                <a:ea typeface="Noto Sans CJK JP"/>
              </a:rPr>
              <a:t>The only usable “after” groups for A₅ are </a:t>
            </a:r>
            <a:r>
              <a:rPr sz="1300" b="1" lang="en-US">
                <a:solidFill>
                  <a:srgbClr val="1A2238"/>
                </a:solidFill>
                <a:latin typeface="Noto Sans CJK JP"/>
                <a:ea typeface="Noto Sans CJK JP"/>
              </a:rPr>
              <a:t>{e} and A₅ itself</a:t>
            </a:r>
            <a:r>
              <a:rPr sz="1300" b="0" lang="en-US">
                <a:solidFill>
                  <a:srgbClr val="1A2238"/>
                </a:solidFill>
                <a:latin typeface="Noto Sans CJK JP"/>
                <a:ea typeface="Noto Sans CJK JP"/>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822960" y="640080"/>
            <a:ext cx="10058400" cy="731520"/>
          </a:xfrm>
          <a:prstGeom prst="rect">
            <a:avLst/>
          </a:prstGeom>
          <a:noFill/>
          <a:ln/>
        </p:spPr>
        <p:txBody>
          <a:bodyPr wrap="square" lIns="0" tIns="0" rIns="0" bIns="0" rtlCol="0" anchor="ctr"/>
          <a:lstStyle/>
          <a:p>
            <a:pPr marL="0" indent="0">
              <a:buNone/>
            </a:pPr>
            <a:r>
              <a:rPr lang="en-US" sz="2800" b="1" dirty="0">
                <a:solidFill>
                  <a:srgbClr val="0F9E8E"/>
                </a:solidFill>
                <a:latin typeface="Noto Sans CJK JP" pitchFamily="34" charset="0"/>
                <a:ea typeface="Noto Sans CJK JP"/>
                <a:cs typeface="Noto Sans CJK JP" pitchFamily="34" charset="-120"/>
              </a:rPr>
              <a:t>Conclusion</a:t>
            </a:r>
            <a:endParaRPr lang="en-US" sz="2800" dirty="0"/>
          </a:p>
        </p:txBody>
      </p:sp>
      <p:sp>
        <p:nvSpPr>
          <p:cNvPr id="3" name="Text 1"/>
          <p:cNvSpPr/>
          <p:nvPr/>
        </p:nvSpPr>
        <p:spPr>
          <a:xfrm>
            <a:off x="822960" y="1600200"/>
            <a:ext cx="2743200" cy="548640"/>
          </a:xfrm>
          <a:prstGeom prst="rect">
            <a:avLst/>
          </a:prstGeom>
          <a:noFill/>
          <a:ln/>
        </p:spPr>
        <p:txBody>
          <a:bodyPr wrap="square" lIns="0" tIns="0" rIns="0" bIns="0" rtlCol="0" anchor="ctr"/>
          <a:lstStyle/>
          <a:p>
            <a:pPr marL="0" indent="0">
              <a:buNone/>
            </a:pPr>
            <a:r>
              <a:rPr lang="en-US" sz="3000" b="1" dirty="0">
                <a:solidFill>
                  <a:srgbClr val="FFFFFF"/>
                </a:solidFill>
                <a:latin typeface="Noto Sans CJK JP" pitchFamily="34" charset="0"/>
                <a:ea typeface="Noto Sans CJK JP"/>
                <a:cs typeface="Noto Sans CJK JP" pitchFamily="34" charset="-120"/>
              </a:rPr>
              <a:t>n ≤ 4</a:t>
            </a:r>
            <a:endParaRPr lang="en-US" sz="3000" dirty="0"/>
          </a:p>
        </p:txBody>
      </p:sp>
      <p:sp>
        <p:nvSpPr>
          <p:cNvPr id="4" name="Text 2"/>
          <p:cNvSpPr/>
          <p:nvPr/>
        </p:nvSpPr>
        <p:spPr>
          <a:xfrm>
            <a:off x="822960" y="2194560"/>
            <a:ext cx="10515600" cy="548640"/>
          </a:xfrm>
          <a:prstGeom prst="rect">
            <a:avLst/>
          </a:prstGeom>
          <a:noFill/>
          <a:ln/>
        </p:spPr>
        <p:txBody>
          <a:bodyPr wrap="square" lIns="0" tIns="0" rIns="0" bIns="0" rtlCol="0" anchor="ctr"/>
          <a:lstStyle/>
          <a:p>
            <a:pPr marL="0" indent="0">
              <a:buNone/>
            </a:pPr>
            <a:r>
              <a:rPr lang="en-US" sz="2200" dirty="0">
                <a:solidFill>
                  <a:srgbClr val="CAD6F0"/>
                </a:solidFill>
                <a:latin typeface="Noto Sans CJK JP" pitchFamily="34" charset="0"/>
                <a:ea typeface="Noto Sans CJK JP"/>
                <a:cs typeface="Noto Sans CJK JP" pitchFamily="34" charset="-120"/>
              </a:rPr>
              <a:t>the chain reaches {e}  →  a solution formula exists</a:t>
            </a:r>
            <a:endParaRPr lang="en-US" sz="2200" dirty="0"/>
          </a:p>
        </p:txBody>
      </p:sp>
      <p:sp>
        <p:nvSpPr>
          <p:cNvPr id="5" name="Shape 3"/>
          <p:cNvSpPr/>
          <p:nvPr/>
        </p:nvSpPr>
        <p:spPr>
          <a:xfrm>
            <a:off x="822960" y="3063240"/>
            <a:ext cx="10515600" cy="0"/>
          </a:xfrm>
          <a:prstGeom prst="line">
            <a:avLst/>
          </a:prstGeom>
          <a:noFill/>
          <a:ln w="12700">
            <a:solidFill>
              <a:srgbClr val="3A4660"/>
            </a:solidFill>
            <a:prstDash val="solid"/>
          </a:ln>
        </p:spPr>
        <p:txBody>
          <a:bodyPr/>
          <a:p/>
        </p:txBody>
      </p:sp>
      <p:sp>
        <p:nvSpPr>
          <p:cNvPr id="6" name="Text 4"/>
          <p:cNvSpPr/>
          <p:nvPr/>
        </p:nvSpPr>
        <p:spPr>
          <a:xfrm>
            <a:off x="822960" y="3383280"/>
            <a:ext cx="2743200" cy="548640"/>
          </a:xfrm>
          <a:prstGeom prst="rect">
            <a:avLst/>
          </a:prstGeom>
          <a:noFill/>
          <a:ln/>
        </p:spPr>
        <p:txBody>
          <a:bodyPr wrap="square" lIns="0" tIns="0" rIns="0" bIns="0" rtlCol="0" anchor="ctr"/>
          <a:lstStyle/>
          <a:p>
            <a:pPr marL="0" indent="0">
              <a:buNone/>
            </a:pPr>
            <a:r>
              <a:rPr lang="en-US" sz="3000" b="1" dirty="0">
                <a:solidFill>
                  <a:srgbClr val="D8593A"/>
                </a:solidFill>
                <a:latin typeface="Noto Sans CJK JP" pitchFamily="34" charset="0"/>
                <a:ea typeface="Noto Sans CJK JP"/>
                <a:cs typeface="Noto Sans CJK JP" pitchFamily="34" charset="-120"/>
              </a:rPr>
              <a:t>n ≥ 5</a:t>
            </a:r>
            <a:endParaRPr lang="en-US" sz="3000" dirty="0"/>
          </a:p>
        </p:txBody>
      </p:sp>
      <p:sp>
        <p:nvSpPr>
          <p:cNvPr id="7" name="Text 5"/>
          <p:cNvSpPr/>
          <p:nvPr/>
        </p:nvSpPr>
        <p:spPr>
          <a:xfrm>
            <a:off x="822960" y="3977640"/>
            <a:ext cx="10607040" cy="1280160"/>
          </a:xfrm>
          <a:prstGeom prst="rect">
            <a:avLst/>
          </a:prstGeom>
          <a:noFill/>
          <a:ln/>
        </p:spPr>
        <p:txBody>
          <a:bodyPr wrap="square" lIns="0" tIns="0" rIns="0" bIns="0" rtlCol="0" anchor="ctr"/>
          <a:lstStyle/>
          <a:p>
            <a:pPr marL="0" indent="0">
              <a:lnSpc>
                <a:spcPct val="130000"/>
              </a:lnSpc>
              <a:buNone/>
            </a:pPr>
            <a:r>
              <a:rPr lang="en-US" sz="2200" dirty="0">
                <a:solidFill>
                  <a:srgbClr val="CAD6F0"/>
                </a:solidFill>
                <a:latin typeface="Noto Sans CJK JP" pitchFamily="34" charset="0"/>
                <a:ea typeface="Noto Sans CJK JP"/>
                <a:cs typeface="Noto Sans CJK JP" pitchFamily="34" charset="-120"/>
              </a:rPr>
              <a:t>Aₙ becomes simple and non-abelian, so no step can shrink Sₙ further.</a:t>
            </a:r>
            <a:endParaRPr lang="en-US" sz="2200" dirty="0"/>
          </a:p>
          <a:p>
            <a:pPr marL="0" indent="0">
              <a:lnSpc>
                <a:spcPct val="130000"/>
              </a:lnSpc>
              <a:buNone/>
            </a:pPr>
            <a:r>
              <a:rPr lang="en-US" sz="2200" dirty="0">
                <a:solidFill>
                  <a:srgbClr val="CAD6F0"/>
                </a:solidFill>
                <a:latin typeface="Noto Sans CJK JP" pitchFamily="34" charset="0"/>
                <a:ea typeface="Noto Sans CJK JP"/>
                <a:cs typeface="Noto Sans CJK JP" pitchFamily="34" charset="-120"/>
              </a:rPr>
              <a:t>The chain stops partway and never reaches {e}  →  </a:t>
            </a:r>
            <a:r>
              <a:rPr lang="en-US" sz="2200" b="1" dirty="0">
                <a:solidFill>
                  <a:srgbClr val="D8593A"/>
                </a:solidFill>
                <a:latin typeface="Noto Sans CJK JP" pitchFamily="34" charset="0"/>
                <a:ea typeface="Noto Sans CJK JP"/>
                <a:cs typeface="Noto Sans CJK JP" pitchFamily="34" charset="-120"/>
              </a:rPr>
              <a:t>no solution formula exists</a:t>
            </a:r>
            <a:endParaRPr lang="en-US" sz="2200" dirty="0"/>
          </a:p>
        </p:txBody>
      </p:sp>
      <p:sp>
        <p:nvSpPr>
          <p:cNvPr id="8" name="Shape 6"/>
          <p:cNvSpPr/>
          <p:nvPr/>
        </p:nvSpPr>
        <p:spPr>
          <a:xfrm>
            <a:off x="822960" y="5486400"/>
            <a:ext cx="10515600" cy="868680"/>
          </a:xfrm>
          <a:prstGeom prst="roundRect">
            <a:avLst>
              <a:gd name="adj" fmla="val 10526"/>
            </a:avLst>
          </a:prstGeom>
          <a:solidFill>
            <a:srgbClr val="232C49"/>
          </a:solidFill>
          <a:ln/>
        </p:spPr>
        <p:txBody>
          <a:bodyPr/>
          <a:p/>
        </p:txBody>
      </p:sp>
      <p:sp>
        <p:nvSpPr>
          <p:cNvPr id="9" name="Text 7"/>
          <p:cNvSpPr/>
          <p:nvPr/>
        </p:nvSpPr>
        <p:spPr>
          <a:xfrm>
            <a:off x="1005840" y="5486400"/>
            <a:ext cx="10149840" cy="868680"/>
          </a:xfrm>
          <a:prstGeom prst="rect">
            <a:avLst/>
          </a:prstGeom>
          <a:noFill/>
          <a:ln/>
        </p:spPr>
        <p:txBody>
          <a:bodyPr wrap="square" lIns="0" tIns="0" rIns="0" bIns="0" rtlCol="0" anchor="ctr"/>
          <a:lstStyle/>
          <a:p>
            <a:pPr marL="0" indent="0">
              <a:buNone/>
            </a:pPr>
            <a:r>
              <a:rPr lang="en-US" sz="1700" i="1" dirty="0">
                <a:solidFill>
                  <a:srgbClr val="9FB0D6"/>
                </a:solidFill>
                <a:latin typeface="Noto Sans CJK JP" pitchFamily="34" charset="0"/>
                <a:ea typeface="Noto Sans CJK JP"/>
                <a:cs typeface="Noto Sans CJK JP" pitchFamily="34" charset="-120"/>
              </a:rPr>
              <a:t>Abel–Ruffini theorem: no general formula using the four operations and radicals exists for equations of degree 5 or higher.</a:t>
            </a:r>
            <a:endParaRPr lang="en-US" sz="1700" dirty="0"/>
          </a:p>
        </p:txBody>
      </p:sp>
      <p:sp>
        <p:nvSpPr>
          <p:cNvPr id="10" name="Text 8"/>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8A93A8"/>
                </a:solidFill>
                <a:latin typeface="Noto Sans CJK JP" pitchFamily="34" charset="0"/>
                <a:ea typeface="Noto Sans CJK JP"/>
                <a:cs typeface="Noto Sans CJK JP" pitchFamily="34" charset="-120"/>
              </a:rPr>
              <a:t>9</a:t>
            </a:r>
            <a:endParaRPr lang="en-US" sz="1100" dirty="0"/>
          </a:p>
        </p:txBody>
      </p:sp>
      <p:sp>
        <p:nvSpPr>
          <p:cNvPr id="11" name="Text 9"/>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8A93A8"/>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972800" cy="731520"/>
          </a:xfrm>
          <a:prstGeom prst="rect">
            <a:avLst/>
          </a:prstGeom>
          <a:noFill/>
          <a:ln/>
        </p:spPr>
        <p:txBody>
          <a:bodyPr wrap="square" lIns="0" tIns="0" rIns="0" bIns="0" rtlCol="0" anchor="ctr"/>
          <a:lstStyle/>
          <a:p>
            <a:pPr marL="0" indent="0">
              <a:buNone/>
            </a:pPr>
            <a:r>
              <a:rPr lang="en-US" sz="3200" b="1" dirty="0">
                <a:solidFill>
                  <a:srgbClr val="1A2238"/>
                </a:solidFill>
                <a:latin typeface="Noto Sans CJK JP" pitchFamily="34" charset="0"/>
                <a:ea typeface="Noto Sans CJK JP"/>
                <a:cs typeface="Noto Sans CJK JP" pitchFamily="34" charset="-120"/>
              </a:rPr>
              <a:t>The skeleton of the argument and the pillars of Galois theory</a:t>
            </a:r>
            <a:endParaRPr lang="en-US" sz="3200" dirty="0"/>
          </a:p>
        </p:txBody>
      </p:sp>
      <p:sp>
        <p:nvSpPr>
          <p:cNvPr id="46" name="Text 4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10</a:t>
            </a:r>
            <a:endParaRPr lang="en-US" sz="1100" dirty="0"/>
          </a:p>
        </p:txBody>
      </p:sp>
      <p:sp>
        <p:nvSpPr>
          <p:cNvPr id="47" name="Text 4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graphicFrame>
        <p:nvGraphicFramePr>
          <p:cNvPr id="48" name="Table 47"/>
          <p:cNvGraphicFramePr>
            <a:graphicFrameLocks noGrp="1"/>
          </p:cNvGraphicFramePr>
          <p:nvPr/>
        </p:nvGraphicFramePr>
        <p:xfrm>
          <a:off x="640080" y="1691640"/>
          <a:ext cx="10881360" cy="3657600"/>
        </p:xfrm>
        <a:graphic>
          <a:graphicData uri="http://schemas.openxmlformats.org/drawingml/2006/table">
            <a:tbl>
              <a:tblPr firstRow="1">
                <a:tableStyleId>{5C22544A-7EE6-4342-B048-85BDC9FD1C3A}</a:tableStyleId>
              </a:tblPr>
              <a:tblGrid>
                <a:gridCol w="3246120"/>
                <a:gridCol w="5669280"/>
                <a:gridCol w="1965960"/>
              </a:tblGrid>
              <a:tr h="457200">
                <a:tc>
                  <a:txBody>
                    <a:bodyPr wrap="square"/>
                    <a:lstStyle/>
                    <a:p>
                      <a:pPr algn="l">
                        <a:lnSpc>
                          <a:spcPct val="105000"/>
                        </a:lnSpc>
                      </a:pPr>
                      <a:r>
                        <a:rPr sz="1500" b="1">
                          <a:solidFill>
                            <a:srgbClr val="FFFFFF"/>
                          </a:solidFill>
                          <a:latin typeface="Noto Sans CJK JP"/>
                          <a:ea typeface="Noto Sans CJK JP"/>
                        </a:rPr>
                        <a:t>Argument block</a:t>
                      </a:r>
                    </a:p>
                  </a:txBody>
                  <a:tcPr anchor="ctr" marL="109728" marR="73152" marT="36576" marB="36576">
                    <a:solidFill>
                      <a:srgbClr val="3457A6"/>
                    </a:solidFill>
                  </a:tcPr>
                </a:tc>
                <a:tc>
                  <a:txBody>
                    <a:bodyPr wrap="square"/>
                    <a:lstStyle/>
                    <a:p>
                      <a:pPr algn="l">
                        <a:lnSpc>
                          <a:spcPct val="105000"/>
                        </a:lnSpc>
                      </a:pPr>
                      <a:r>
                        <a:rPr sz="1500" b="1">
                          <a:solidFill>
                            <a:srgbClr val="FFFFFF"/>
                          </a:solidFill>
                          <a:latin typeface="Noto Sans CJK JP"/>
                          <a:ea typeface="Noto Sans CJK JP"/>
                        </a:rPr>
                        <a:t>Corresponding pillar</a:t>
                      </a:r>
                    </a:p>
                  </a:txBody>
                  <a:tcPr anchor="ctr" marL="109728" marR="73152" marT="36576" marB="36576">
                    <a:solidFill>
                      <a:srgbClr val="3457A6"/>
                    </a:solidFill>
                  </a:tcPr>
                </a:tc>
                <a:tc>
                  <a:txBody>
                    <a:bodyPr wrap="square"/>
                    <a:lstStyle/>
                    <a:p>
                      <a:pPr algn="l">
                        <a:lnSpc>
                          <a:spcPct val="105000"/>
                        </a:lnSpc>
                      </a:pPr>
                      <a:r>
                        <a:rPr sz="1500" b="1">
                          <a:solidFill>
                            <a:srgbClr val="FFFFFF"/>
                          </a:solidFill>
                          <a:latin typeface="Noto Sans CJK JP"/>
                          <a:ea typeface="Noto Sans CJK JP"/>
                        </a:rPr>
                        <a:t>Page</a:t>
                      </a:r>
                    </a:p>
                  </a:txBody>
                  <a:tcPr anchor="ctr" marL="109728" marR="73152" marT="36576" marB="36576">
                    <a:solidFill>
                      <a:srgbClr val="3457A6"/>
                    </a:solidFill>
                  </a:tcPr>
                </a:tc>
              </a:tr>
              <a:tr h="548640">
                <a:tc>
                  <a:txBody>
                    <a:bodyPr wrap="square"/>
                    <a:lstStyle/>
                    <a:p>
                      <a:pPr algn="l">
                        <a:lnSpc>
                          <a:spcPct val="105000"/>
                        </a:lnSpc>
                      </a:pPr>
                      <a:r>
                        <a:rPr sz="1350" b="1">
                          <a:solidFill>
                            <a:srgbClr val="1A2238"/>
                          </a:solidFill>
                          <a:latin typeface="Noto Sans CJK JP"/>
                          <a:ea typeface="Noto Sans CJK JP"/>
                        </a:rPr>
                        <a:t>Characterizing the Galois group</a:t>
                      </a:r>
                    </a:p>
                  </a:txBody>
                  <a:tcPr anchor="ctr" marL="109728" marR="73152" marT="36576" marB="36576">
                    <a:solidFill>
                      <a:srgbClr val="ECEFF7"/>
                    </a:solidFill>
                  </a:tcPr>
                </a:tc>
                <a:tc>
                  <a:txBody>
                    <a:bodyPr wrap="square"/>
                    <a:lstStyle/>
                    <a:p>
                      <a:pPr algn="l">
                        <a:lnSpc>
                          <a:spcPct val="105000"/>
                        </a:lnSpc>
                      </a:pPr>
                      <a:r>
                        <a:rPr sz="1350" b="0">
                          <a:solidFill>
                            <a:srgbClr val="1A2238"/>
                          </a:solidFill>
                          <a:latin typeface="Noto Sans CJK JP"/>
                          <a:ea typeface="Noto Sans CJK JP"/>
                        </a:rPr>
                        <a:t>permutation = automorphism;  the whole set = the Galois group</a:t>
                      </a:r>
                    </a:p>
                  </a:txBody>
                  <a:tcPr anchor="ctr" marL="109728" marR="73152" marT="36576" marB="36576">
                    <a:solidFill>
                      <a:srgbClr val="ECEFF7"/>
                    </a:solidFill>
                  </a:tcPr>
                </a:tc>
                <a:tc>
                  <a:txBody>
                    <a:bodyPr wrap="square"/>
                    <a:lstStyle/>
                    <a:p>
                      <a:pPr algn="l">
                        <a:lnSpc>
                          <a:spcPct val="105000"/>
                        </a:lnSpc>
                      </a:pPr>
                      <a:r>
                        <a:rPr sz="1350" b="0">
                          <a:solidFill>
                            <a:srgbClr val="5A6072"/>
                          </a:solidFill>
                          <a:latin typeface="Noto Sans CJK JP"/>
                          <a:ea typeface="Noto Sans CJK JP"/>
                        </a:rPr>
                        <a:t>P3</a:t>
                      </a:r>
                    </a:p>
                  </a:txBody>
                  <a:tcPr anchor="ctr" marL="109728" marR="73152" marT="36576" marB="36576">
                    <a:solidFill>
                      <a:srgbClr val="ECEFF7"/>
                    </a:solidFill>
                  </a:tcPr>
                </a:tc>
              </a:tr>
              <a:tr h="1554480">
                <a:tc>
                  <a:txBody>
                    <a:bodyPr wrap="square"/>
                    <a:lstStyle/>
                    <a:p>
                      <a:pPr algn="l">
                        <a:lnSpc>
                          <a:spcPct val="105000"/>
                        </a:lnSpc>
                      </a:pPr>
                      <a:r>
                        <a:rPr sz="1350" b="1">
                          <a:solidFill>
                            <a:srgbClr val="1A2238"/>
                          </a:solidFill>
                          <a:latin typeface="Noto Sans CJK JP"/>
                          <a:ea typeface="Noto Sans CJK JP"/>
                        </a:rPr>
                        <a:t>Group shrinks, field grows</a:t>
                      </a:r>
                    </a:p>
                  </a:txBody>
                  <a:tcPr anchor="ctr" marL="109728" marR="73152" marT="36576" marB="36576">
                    <a:solidFill>
                      <a:srgbClr val="FFFFFF"/>
                    </a:solidFill>
                  </a:tcPr>
                </a:tc>
                <a:tc>
                  <a:txBody>
                    <a:bodyPr wrap="square"/>
                    <a:lstStyle/>
                    <a:p>
                      <a:pPr algn="l">
                        <a:lnSpc>
                          <a:spcPct val="105000"/>
                        </a:lnSpc>
                      </a:pPr>
                      <a:r>
                        <a:rPr sz="1200" b="0">
                          <a:solidFill>
                            <a:srgbClr val="5A6072"/>
                          </a:solidFill>
                          <a:latin typeface="Noto Sans CJK JP"/>
                          <a:ea typeface="Noto Sans CJK JP"/>
                        </a:rPr>
                        <a:t>field → group correspondence</a:t>
                      </a:r>
                    </a:p>
                    <a:p>
                      <a:pPr algn="l">
                        <a:lnSpc>
                          <a:spcPct val="105000"/>
                        </a:lnSpc>
                      </a:pPr>
                      <a:r>
                        <a:rPr sz="1200" b="0">
                          <a:solidFill>
                            <a:srgbClr val="5A6072"/>
                          </a:solidFill>
                          <a:latin typeface="Noto Sans CJK JP"/>
                          <a:ea typeface="Noto Sans CJK JP"/>
                        </a:rPr>
                        <a:t>Galois extension (field containing all conjugates of the adjoined elements)</a:t>
                      </a:r>
                    </a:p>
                    <a:p>
                      <a:pPr algn="l">
                        <a:lnSpc>
                          <a:spcPct val="105000"/>
                        </a:lnSpc>
                      </a:pPr>
                      <a:r>
                        <a:rPr sz="1200" b="0">
                          <a:solidFill>
                            <a:srgbClr val="5A6072"/>
                          </a:solidFill>
                          <a:latin typeface="Noto Sans CJK JP"/>
                          <a:ea typeface="Noto Sans CJK JP"/>
                        </a:rPr>
                        <a:t>order = degree links group and field</a:t>
                      </a:r>
                    </a:p>
                    <a:p>
                      <a:pPr algn="l">
                        <a:lnSpc>
                          <a:spcPct val="105000"/>
                        </a:lnSpc>
                      </a:pPr>
                      <a:r>
                        <a:rPr sz="1200" b="0">
                          <a:solidFill>
                            <a:srgbClr val="5A6072"/>
                          </a:solidFill>
                          <a:latin typeface="Noto Sans CJK JP"/>
                          <a:ea typeface="Noto Sans CJK JP"/>
                        </a:rPr>
                        <a:t>cyclic extension = adjoining a radical</a:t>
                      </a:r>
                    </a:p>
                  </a:txBody>
                  <a:tcPr anchor="ctr" marL="109728" marR="73152" marT="36576" marB="36576">
                    <a:solidFill>
                      <a:srgbClr val="FFFFFF"/>
                    </a:solidFill>
                  </a:tcPr>
                </a:tc>
                <a:tc>
                  <a:txBody>
                    <a:bodyPr wrap="square"/>
                    <a:lstStyle/>
                    <a:p>
                      <a:pPr algn="l">
                        <a:lnSpc>
                          <a:spcPct val="105000"/>
                        </a:lnSpc>
                      </a:pPr>
                      <a:r>
                        <a:rPr sz="1350" b="0">
                          <a:solidFill>
                            <a:srgbClr val="5A6072"/>
                          </a:solidFill>
                          <a:latin typeface="Noto Sans CJK JP"/>
                          <a:ea typeface="Noto Sans CJK JP"/>
                        </a:rPr>
                        <a:t>P4</a:t>
                      </a:r>
                    </a:p>
                  </a:txBody>
                  <a:tcPr anchor="ctr" marL="109728" marR="73152" marT="36576" marB="36576">
                    <a:solidFill>
                      <a:srgbClr val="FFFFFF"/>
                    </a:solidFill>
                  </a:tcPr>
                </a:tc>
              </a:tr>
              <a:tr h="548640">
                <a:tc>
                  <a:txBody>
                    <a:bodyPr wrap="square"/>
                    <a:lstStyle/>
                    <a:p>
                      <a:pPr algn="l">
                        <a:lnSpc>
                          <a:spcPct val="105000"/>
                        </a:lnSpc>
                      </a:pPr>
                      <a:r>
                        <a:rPr sz="1350" b="1">
                          <a:solidFill>
                            <a:srgbClr val="1A2238"/>
                          </a:solidFill>
                          <a:latin typeface="Noto Sans CJK JP"/>
                          <a:ea typeface="Noto Sans CJK JP"/>
                        </a:rPr>
                        <a:t>Solvability (shrinking chain)</a:t>
                      </a:r>
                    </a:p>
                  </a:txBody>
                  <a:tcPr anchor="ctr" marL="109728" marR="73152" marT="36576" marB="36576">
                    <a:solidFill>
                      <a:srgbClr val="ECEFF7"/>
                    </a:solidFill>
                  </a:tcPr>
                </a:tc>
                <a:tc>
                  <a:txBody>
                    <a:bodyPr wrap="square"/>
                    <a:lstStyle/>
                    <a:p>
                      <a:pPr algn="l">
                        <a:lnSpc>
                          <a:spcPct val="105000"/>
                        </a:lnSpc>
                      </a:pPr>
                      <a:r>
                        <a:rPr sz="1350" b="0">
                          <a:solidFill>
                            <a:srgbClr val="1A2238"/>
                          </a:solidFill>
                          <a:latin typeface="Noto Sans CJK JP"/>
                          <a:ea typeface="Noto Sans CJK JP"/>
                        </a:rPr>
                        <a:t>solvable group ⟺ solvable by radicals</a:t>
                      </a:r>
                    </a:p>
                  </a:txBody>
                  <a:tcPr anchor="ctr" marL="109728" marR="73152" marT="36576" marB="36576">
                    <a:solidFill>
                      <a:srgbClr val="ECEFF7"/>
                    </a:solidFill>
                  </a:tcPr>
                </a:tc>
                <a:tc>
                  <a:txBody>
                    <a:bodyPr wrap="square"/>
                    <a:lstStyle/>
                    <a:p>
                      <a:pPr algn="l">
                        <a:lnSpc>
                          <a:spcPct val="105000"/>
                        </a:lnSpc>
                      </a:pPr>
                      <a:r>
                        <a:rPr sz="1350" b="0">
                          <a:solidFill>
                            <a:srgbClr val="5A6072"/>
                          </a:solidFill>
                          <a:latin typeface="Noto Sans CJK JP"/>
                          <a:ea typeface="Noto Sans CJK JP"/>
                        </a:rPr>
                        <a:t>P5</a:t>
                      </a:r>
                    </a:p>
                  </a:txBody>
                  <a:tcPr anchor="ctr" marL="109728" marR="73152" marT="36576" marB="36576">
                    <a:solidFill>
                      <a:srgbClr val="ECEFF7"/>
                    </a:solidFill>
                  </a:tcPr>
                </a:tc>
              </a:tr>
              <a:tr h="548640">
                <a:tc>
                  <a:txBody>
                    <a:bodyPr wrap="square"/>
                    <a:lstStyle/>
                    <a:p>
                      <a:pPr algn="l">
                        <a:lnSpc>
                          <a:spcPct val="105000"/>
                        </a:lnSpc>
                      </a:pPr>
                      <a:r>
                        <a:rPr sz="1350" b="1">
                          <a:solidFill>
                            <a:srgbClr val="1A2238"/>
                          </a:solidFill>
                          <a:latin typeface="Noto Sans CJK JP"/>
                          <a:ea typeface="Noto Sans CJK JP"/>
                        </a:rPr>
                        <a:t>Conclusion (breaks at A₅)</a:t>
                      </a:r>
                    </a:p>
                  </a:txBody>
                  <a:tcPr anchor="ctr" marL="109728" marR="73152" marT="36576" marB="36576">
                    <a:solidFill>
                      <a:srgbClr val="FFFFFF"/>
                    </a:solidFill>
                  </a:tcPr>
                </a:tc>
                <a:tc>
                  <a:txBody>
                    <a:bodyPr wrap="square"/>
                    <a:lstStyle/>
                    <a:p>
                      <a:pPr algn="l">
                        <a:lnSpc>
                          <a:spcPct val="105000"/>
                        </a:lnSpc>
                      </a:pPr>
                      <a:r>
                        <a:rPr sz="1350" b="0">
                          <a:solidFill>
                            <a:srgbClr val="1A2238"/>
                          </a:solidFill>
                          <a:latin typeface="Noto Sans CJK JP"/>
                          <a:ea typeface="Noto Sans CJK JP"/>
                        </a:rPr>
                        <a:t>simplicity of A₅ → unsolvable</a:t>
                      </a:r>
                    </a:p>
                  </a:txBody>
                  <a:tcPr anchor="ctr" marL="109728" marR="73152" marT="36576" marB="36576">
                    <a:solidFill>
                      <a:srgbClr val="FFFFFF"/>
                    </a:solidFill>
                  </a:tcPr>
                </a:tc>
                <a:tc>
                  <a:txBody>
                    <a:bodyPr wrap="square"/>
                    <a:lstStyle/>
                    <a:p>
                      <a:pPr algn="l">
                        <a:lnSpc>
                          <a:spcPct val="105000"/>
                        </a:lnSpc>
                      </a:pPr>
                      <a:r>
                        <a:rPr sz="1350" b="0">
                          <a:solidFill>
                            <a:srgbClr val="5A6072"/>
                          </a:solidFill>
                          <a:latin typeface="Noto Sans CJK JP"/>
                          <a:ea typeface="Noto Sans CJK JP"/>
                        </a:rPr>
                        <a:t>P7–9</a:t>
                      </a:r>
                    </a:p>
                  </a:txBody>
                  <a:tcPr anchor="ctr" marL="109728" marR="73152" marT="36576" marB="36576">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972800" cy="731520"/>
          </a:xfrm>
          <a:prstGeom prst="rect">
            <a:avLst/>
          </a:prstGeom>
          <a:noFill/>
          <a:ln/>
        </p:spPr>
        <p:txBody>
          <a:bodyPr wrap="square" lIns="0" tIns="0" rIns="0" bIns="0" rtlCol="0" anchor="ctr"/>
          <a:lstStyle/>
          <a:p>
            <a:pPr marL="0" indent="0">
              <a:buNone/>
            </a:pPr>
            <a:r>
              <a:rPr lang="en-US" sz="3400" b="1" dirty="0">
                <a:solidFill>
                  <a:srgbClr val="1A2238"/>
                </a:solidFill>
                <a:latin typeface="Noto Sans CJK JP" pitchFamily="34" charset="0"/>
                <a:ea typeface="Noto Sans CJK JP"/>
                <a:cs typeface="Noto Sans CJK JP" pitchFamily="34" charset="-120"/>
              </a:rPr>
              <a:t>One-page recap</a:t>
            </a:r>
            <a:endParaRPr lang="en-US" sz="3400" dirty="0"/>
          </a:p>
        </p:txBody>
      </p:sp>
      <p:sp>
        <p:nvSpPr>
          <p:cNvPr id="3" name="Shape 1"/>
          <p:cNvSpPr/>
          <p:nvPr/>
        </p:nvSpPr>
        <p:spPr>
          <a:xfrm>
            <a:off x="822960" y="1508760"/>
            <a:ext cx="82296" cy="960120"/>
          </a:xfrm>
          <a:prstGeom prst="rect">
            <a:avLst/>
          </a:prstGeom>
          <a:solidFill>
            <a:srgbClr val="0F9E8E"/>
          </a:solidFill>
          <a:ln/>
        </p:spPr>
        <p:txBody>
          <a:bodyPr/>
          <a:p/>
        </p:txBody>
      </p:sp>
      <p:sp>
        <p:nvSpPr>
          <p:cNvPr id="4" name="Text 2"/>
          <p:cNvSpPr/>
          <p:nvPr/>
        </p:nvSpPr>
        <p:spPr>
          <a:xfrm>
            <a:off x="1097280" y="1508760"/>
            <a:ext cx="100584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Capture symmetry as a group</a:t>
            </a:r>
            <a:endParaRPr lang="en-US" sz="2200" dirty="0"/>
          </a:p>
        </p:txBody>
      </p:sp>
      <p:sp>
        <p:nvSpPr>
          <p:cNvPr id="5" name="Text 3"/>
          <p:cNvSpPr/>
          <p:nvPr/>
        </p:nvSpPr>
        <p:spPr>
          <a:xfrm>
            <a:off x="1097280" y="1965960"/>
            <a:ext cx="10058400" cy="457200"/>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the Galois group = permutations preserving the value of rational expressions built from the roots</a:t>
            </a:r>
            <a:endParaRPr lang="en-US" sz="1700" dirty="0"/>
          </a:p>
        </p:txBody>
      </p:sp>
      <p:sp>
        <p:nvSpPr>
          <p:cNvPr id="6" name="Shape 4"/>
          <p:cNvSpPr/>
          <p:nvPr/>
        </p:nvSpPr>
        <p:spPr>
          <a:xfrm>
            <a:off x="822960" y="2651760"/>
            <a:ext cx="82296" cy="960120"/>
          </a:xfrm>
          <a:prstGeom prst="rect">
            <a:avLst/>
          </a:prstGeom>
          <a:solidFill>
            <a:srgbClr val="0F9E8E"/>
          </a:solidFill>
          <a:ln/>
        </p:spPr>
        <p:txBody>
          <a:bodyPr/>
          <a:p/>
        </p:txBody>
      </p:sp>
      <p:sp>
        <p:nvSpPr>
          <p:cNvPr id="7" name="Text 5"/>
          <p:cNvSpPr/>
          <p:nvPr/>
        </p:nvSpPr>
        <p:spPr>
          <a:xfrm>
            <a:off x="1097280" y="2651760"/>
            <a:ext cx="100584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Field and group correspond inversely</a:t>
            </a:r>
            <a:endParaRPr lang="en-US" sz="2200" dirty="0"/>
          </a:p>
        </p:txBody>
      </p:sp>
      <p:sp>
        <p:nvSpPr>
          <p:cNvPr id="8" name="Text 6"/>
          <p:cNvSpPr/>
          <p:nvPr/>
        </p:nvSpPr>
        <p:spPr>
          <a:xfrm>
            <a:off x="1097280" y="3108960"/>
            <a:ext cx="10058400" cy="457200"/>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the larger the field, the smaller the group</a:t>
            </a:r>
            <a:endParaRPr lang="en-US" sz="1700" dirty="0"/>
          </a:p>
        </p:txBody>
      </p:sp>
      <p:sp>
        <p:nvSpPr>
          <p:cNvPr id="9" name="Shape 7"/>
          <p:cNvSpPr/>
          <p:nvPr/>
        </p:nvSpPr>
        <p:spPr>
          <a:xfrm>
            <a:off x="822960" y="3794760"/>
            <a:ext cx="82296" cy="960120"/>
          </a:xfrm>
          <a:prstGeom prst="rect">
            <a:avLst/>
          </a:prstGeom>
          <a:solidFill>
            <a:srgbClr val="0F9E8E"/>
          </a:solidFill>
          <a:ln/>
        </p:spPr>
        <p:txBody>
          <a:bodyPr/>
          <a:p/>
        </p:txBody>
      </p:sp>
      <p:sp>
        <p:nvSpPr>
          <p:cNvPr id="10" name="Text 8"/>
          <p:cNvSpPr/>
          <p:nvPr/>
        </p:nvSpPr>
        <p:spPr>
          <a:xfrm>
            <a:off x="1097280" y="3794760"/>
            <a:ext cx="100584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Solvable = the chain reaches {e}</a:t>
            </a:r>
            <a:endParaRPr lang="en-US" sz="2200" dirty="0"/>
          </a:p>
        </p:txBody>
      </p:sp>
      <p:sp>
        <p:nvSpPr>
          <p:cNvPr id="11" name="Text 9"/>
          <p:cNvSpPr/>
          <p:nvPr/>
        </p:nvSpPr>
        <p:spPr>
          <a:xfrm>
            <a:off x="1097280" y="4251960"/>
            <a:ext cx="10058400" cy="457200"/>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can it shrink to {e} with cyclic quotients at each step</a:t>
            </a:r>
            <a:endParaRPr lang="en-US" sz="1700" dirty="0"/>
          </a:p>
        </p:txBody>
      </p:sp>
      <p:sp>
        <p:nvSpPr>
          <p:cNvPr id="12" name="Shape 10"/>
          <p:cNvSpPr/>
          <p:nvPr/>
        </p:nvSpPr>
        <p:spPr>
          <a:xfrm>
            <a:off x="822960" y="4937760"/>
            <a:ext cx="82296" cy="960120"/>
          </a:xfrm>
          <a:prstGeom prst="rect">
            <a:avLst/>
          </a:prstGeom>
          <a:solidFill>
            <a:srgbClr val="D8593A"/>
          </a:solidFill>
          <a:ln/>
        </p:spPr>
        <p:txBody>
          <a:bodyPr/>
          <a:p/>
        </p:txBody>
      </p:sp>
      <p:sp>
        <p:nvSpPr>
          <p:cNvPr id="13" name="Text 11"/>
          <p:cNvSpPr/>
          <p:nvPr/>
        </p:nvSpPr>
        <p:spPr>
          <a:xfrm>
            <a:off x="1097280" y="4937760"/>
            <a:ext cx="10058400" cy="457200"/>
          </a:xfrm>
          <a:prstGeom prst="rect">
            <a:avLst/>
          </a:prstGeom>
          <a:noFill/>
          <a:ln/>
        </p:spPr>
        <p:txBody>
          <a:bodyPr wrap="square" lIns="0" tIns="0" rIns="0" bIns="0" rtlCol="0" anchor="ctr"/>
          <a:lstStyle/>
          <a:p>
            <a:pPr marL="0" indent="0">
              <a:buNone/>
            </a:pPr>
            <a:r>
              <a:rPr lang="en-US" sz="2200" b="1" dirty="0">
                <a:solidFill>
                  <a:srgbClr val="1A2238"/>
                </a:solidFill>
                <a:latin typeface="Noto Sans CJK JP" pitchFamily="34" charset="0"/>
                <a:ea typeface="Noto Sans CJK JP"/>
                <a:cs typeface="Noto Sans CJK JP" pitchFamily="34" charset="-120"/>
              </a:rPr>
              <a:t>The degree-5 wall is A₅</a:t>
            </a:r>
            <a:endParaRPr lang="en-US" sz="2200" dirty="0"/>
          </a:p>
        </p:txBody>
      </p:sp>
      <p:sp>
        <p:nvSpPr>
          <p:cNvPr id="14" name="Text 12"/>
          <p:cNvSpPr/>
          <p:nvPr/>
        </p:nvSpPr>
        <p:spPr>
          <a:xfrm>
            <a:off x="1097280" y="5394960"/>
            <a:ext cx="10058400" cy="457200"/>
          </a:xfrm>
          <a:prstGeom prst="rect">
            <a:avLst/>
          </a:prstGeom>
          <a:noFill/>
          <a:ln/>
        </p:spPr>
        <p:txBody>
          <a:bodyPr wrap="square" lIns="0" tIns="0" rIns="0" bIns="0" rtlCol="0" anchor="ctr"/>
          <a:lstStyle/>
          <a:p>
            <a:pPr marL="0" indent="0">
              <a:buNone/>
            </a:pPr>
            <a:r>
              <a:rPr lang="en-US" sz="1700" dirty="0">
                <a:solidFill>
                  <a:srgbClr val="6B7180"/>
                </a:solidFill>
                <a:latin typeface="Noto Sans CJK JP" pitchFamily="34" charset="0"/>
                <a:ea typeface="Noto Sans CJK JP"/>
                <a:cs typeface="Noto Sans CJK JP" pitchFamily="34" charset="-120"/>
              </a:rPr>
              <a:t>simple and non-abelian, so the chain breaks</a:t>
            </a:r>
            <a:endParaRPr lang="en-US" sz="1700" dirty="0"/>
          </a:p>
        </p:txBody>
      </p:sp>
      <p:sp>
        <p:nvSpPr>
          <p:cNvPr id="15" name="Text 13"/>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11</a:t>
            </a:r>
            <a:endParaRPr lang="en-US" sz="1100" dirty="0"/>
          </a:p>
        </p:txBody>
      </p:sp>
      <p:sp>
        <p:nvSpPr>
          <p:cNvPr id="16" name="Text 14"/>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238"/>
        </a:solidFill>
        <a:effectLst/>
      </p:bgPr>
    </p:bg>
    <p:spTree>
      <p:nvGrpSpPr>
        <p:cNvPr id="1" name=""/>
        <p:cNvGrpSpPr/>
        <p:nvPr/>
      </p:nvGrpSpPr>
      <p:grpSpPr>
        <a:xfrm>
          <a:off x="0" y="0"/>
          <a:ext cx="0" cy="0"/>
          <a:chOff x="0" y="0"/>
          <a:chExt cx="0" cy="0"/>
        </a:xfrm>
      </p:grpSpPr>
      <p:sp>
        <p:nvSpPr>
          <p:cNvPr id="2" name="Text 0"/>
          <p:cNvSpPr/>
          <p:nvPr/>
        </p:nvSpPr>
        <p:spPr>
          <a:xfrm>
            <a:off x="1005840" y="2331720"/>
            <a:ext cx="10515600" cy="548640"/>
          </a:xfrm>
          <a:prstGeom prst="rect">
            <a:avLst/>
          </a:prstGeom>
          <a:noFill/>
          <a:ln/>
        </p:spPr>
        <p:txBody>
          <a:bodyPr wrap="square" lIns="0" tIns="0" rIns="0" bIns="0" rtlCol="0" anchor="ctr"/>
          <a:lstStyle/>
          <a:p>
            <a:pPr marL="0" indent="0">
              <a:buNone/>
            </a:pPr>
            <a:r>
              <a:rPr lang="en-US" sz="2200" b="1" dirty="0">
                <a:solidFill>
                  <a:srgbClr val="0F9E8E"/>
                </a:solidFill>
                <a:latin typeface="Noto Sans CJK JP" pitchFamily="34" charset="0"/>
                <a:ea typeface="Noto Sans CJK JP"/>
                <a:cs typeface="Noto Sans CJK JP" pitchFamily="34" charset="-120"/>
              </a:rPr>
              <a:t>Appendix</a:t>
            </a:r>
            <a:endParaRPr lang="en-US" sz="2200" dirty="0"/>
          </a:p>
        </p:txBody>
      </p:sp>
      <p:sp>
        <p:nvSpPr>
          <p:cNvPr id="3" name="Text 1"/>
          <p:cNvSpPr/>
          <p:nvPr/>
        </p:nvSpPr>
        <p:spPr>
          <a:xfrm>
            <a:off x="1005840" y="2880360"/>
            <a:ext cx="10515600" cy="914400"/>
          </a:xfrm>
          <a:prstGeom prst="rect">
            <a:avLst/>
          </a:prstGeom>
          <a:noFill/>
          <a:ln/>
        </p:spPr>
        <p:txBody>
          <a:bodyPr wrap="square" lIns="0" tIns="0" rIns="0" bIns="0" rtlCol="0" anchor="ctr"/>
          <a:lstStyle/>
          <a:p>
            <a:pPr marL="0" indent="0">
              <a:buNone/>
            </a:pPr>
            <a:r>
              <a:rPr lang="en-US" sz="3800" b="1" dirty="0">
                <a:solidFill>
                  <a:srgbClr val="FFFFFF"/>
                </a:solidFill>
                <a:latin typeface="Noto Sans CJK JP" pitchFamily="34" charset="0"/>
                <a:ea typeface="Noto Sans CJK JP"/>
                <a:cs typeface="Noto Sans CJK JP" pitchFamily="34" charset="-120"/>
              </a:rPr>
              <a:t>What it means to solve an equation with radicals and arithmetic</a:t>
            </a:r>
            <a:endParaRPr lang="en-US" sz="3800" dirty="0"/>
          </a:p>
        </p:txBody>
      </p:sp>
      <p:sp>
        <p:nvSpPr>
          <p:cNvPr id="4" name="Text 2"/>
          <p:cNvSpPr/>
          <p:nvPr/>
        </p:nvSpPr>
        <p:spPr>
          <a:xfrm>
            <a:off x="1024128" y="3931920"/>
            <a:ext cx="10515600" cy="457200"/>
          </a:xfrm>
          <a:prstGeom prst="rect">
            <a:avLst/>
          </a:prstGeom>
          <a:noFill/>
          <a:ln/>
        </p:spPr>
        <p:txBody>
          <a:bodyPr wrap="square" lIns="0" tIns="0" rIns="0" bIns="0" rtlCol="0" anchor="ctr"/>
          <a:lstStyle/>
          <a:p>
            <a:pPr marL="0" indent="0">
              <a:buNone/>
            </a:pPr>
            <a:r>
              <a:rPr lang="en-US" sz="1800" i="1" dirty="0">
                <a:solidFill>
                  <a:srgbClr val="8A93A8"/>
                </a:solidFill>
                <a:latin typeface="Noto Sans CJK JP" pitchFamily="34" charset="0"/>
                <a:ea typeface="Noto Sans CJK JP"/>
                <a:cs typeface="Noto Sans CJK JP" pitchFamily="34" charset="-120"/>
              </a:rPr>
              <a:t>Group shrinking and field growth, through a concrete example</a:t>
            </a:r>
            <a:endParaRPr lang="en-US" sz="1800" dirty="0"/>
          </a:p>
        </p:txBody>
      </p:sp>
      <p:sp>
        <p:nvSpPr>
          <p:cNvPr id="5" name="Shape 3"/>
          <p:cNvSpPr/>
          <p:nvPr/>
        </p:nvSpPr>
        <p:spPr>
          <a:xfrm>
            <a:off x="822960" y="2377440"/>
            <a:ext cx="64008" cy="457200"/>
          </a:xfrm>
          <a:prstGeom prst="rect">
            <a:avLst/>
          </a:prstGeom>
          <a:solidFill>
            <a:srgbClr val="0F9E8E"/>
          </a:solidFill>
          <a:ln/>
        </p:spPr>
        <p:txBody>
          <a:bodyPr/>
          <a:p/>
        </p:txBody>
      </p:sp>
      <p:sp>
        <p:nvSpPr>
          <p:cNvPr id="6"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8A93A8"/>
                </a:solidFill>
                <a:latin typeface="Noto Sans CJK JP" pitchFamily="34" charset="0"/>
                <a:ea typeface="Noto Sans CJK JP"/>
                <a:cs typeface="Noto Sans CJK JP" pitchFamily="34" charset="-120"/>
              </a:rPr>
              <a:t>12</a:t>
            </a:r>
            <a:endParaRPr lang="en-US" sz="1100" dirty="0"/>
          </a:p>
        </p:txBody>
      </p:sp>
      <p:sp>
        <p:nvSpPr>
          <p:cNvPr id="7"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8A93A8"/>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Appendix 1</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en-US" sz="3000" b="1" dirty="0">
                <a:solidFill>
                  <a:srgbClr val="1A2238"/>
                </a:solidFill>
                <a:latin typeface="Noto Sans CJK JP" pitchFamily="34" charset="0"/>
                <a:ea typeface="Noto Sans CJK JP"/>
                <a:cs typeface="Noto Sans CJK JP" pitchFamily="34" charset="-120"/>
              </a:rPr>
              <a:t>Solving equations by defining new roots</a:t>
            </a:r>
            <a:endParaRPr lang="en-US" sz="3000" dirty="0"/>
          </a:p>
        </p:txBody>
      </p:sp>
      <p:sp>
        <p:nvSpPr>
          <p:cNvPr id="5" name="Text 3"/>
          <p:cNvSpPr/>
          <p:nvPr/>
        </p:nvSpPr>
        <p:spPr>
          <a:xfrm>
            <a:off x="640080" y="1508760"/>
            <a:ext cx="10881360" cy="1371600"/>
          </a:xfrm>
          <a:prstGeom prst="rect">
            <a:avLst/>
          </a:prstGeom>
          <a:noFill/>
          <a:ln/>
        </p:spPr>
        <p:txBody>
          <a:bodyPr wrap="square" lIns="0" tIns="0" rIns="0" bIns="0" rtlCol="0" anchor="ctr"/>
          <a:lstStyle/>
          <a:p>
            <a:pPr marL="0" indent="0">
              <a:lnSpc>
                <a:spcPct val="125000"/>
              </a:lnSpc>
              <a:buNone/>
            </a:pPr>
            <a:r>
              <a:rPr lang="en-US" sz="1500" dirty="0">
                <a:solidFill>
                  <a:srgbClr val="33384A"/>
                </a:solidFill>
                <a:latin typeface="Noto Sans CJK JP" pitchFamily="34" charset="0"/>
                <a:ea typeface="Noto Sans CJK JP"/>
                <a:cs typeface="Noto Sans CJK JP" pitchFamily="34" charset="-120"/>
              </a:rPr>
              <a:t>In the rationals (field Q), the roots √2, −√2 of x²−2=0 do not exist. To solve it we must define (adjoin) √2.</a:t>
            </a:r>
            <a:endParaRPr lang="en-US" sz="1500" dirty="0"/>
          </a:p>
          <a:p>
            <a:pPr marL="0" indent="0">
              <a:lnSpc>
                <a:spcPct val="125000"/>
              </a:lnSpc>
              <a:buNone/>
            </a:pPr>
            <a:r>
              <a:rPr lang="en-US" sz="1500" dirty="0">
                <a:solidFill>
                  <a:srgbClr val="33384A"/>
                </a:solidFill>
                <a:latin typeface="Noto Sans CJK JP" pitchFamily="34" charset="0"/>
                <a:ea typeface="Noto Sans CJK JP"/>
                <a:cs typeface="Noto Sans CJK JP" pitchFamily="34" charset="-120"/>
              </a:rPr>
              <a:t>Adjoining √2 lets us write (x−√2)(x+√2)=0, fixing the roots. Over Q we know there are two roots but cannot tell their values apart: √2 and −√2 are indistinguishable from Q. So they can be swapped without Q noticing. All such swaps form the Galois group.</a:t>
            </a:r>
            <a:endParaRPr lang="en-US" sz="1500" dirty="0"/>
          </a:p>
        </p:txBody>
      </p:sp>
      <p:sp>
        <p:nvSpPr>
          <p:cNvPr id="6" name="Shape 4"/>
          <p:cNvSpPr/>
          <p:nvPr/>
        </p:nvSpPr>
        <p:spPr>
          <a:xfrm>
            <a:off x="640080" y="3063240"/>
            <a:ext cx="10881360" cy="960120"/>
          </a:xfrm>
          <a:prstGeom prst="roundRect">
            <a:avLst>
              <a:gd name="adj" fmla="val 7619"/>
            </a:avLst>
          </a:prstGeom>
          <a:solidFill>
            <a:srgbClr val="F4F6FA"/>
          </a:solidFill>
          <a:ln/>
        </p:spPr>
        <p:txBody>
          <a:bodyPr/>
          <a:p/>
        </p:txBody>
      </p:sp>
      <p:sp>
        <p:nvSpPr>
          <p:cNvPr id="7" name="Text 5"/>
          <p:cNvSpPr/>
          <p:nvPr/>
        </p:nvSpPr>
        <p:spPr>
          <a:xfrm>
            <a:off x="868680" y="3136392"/>
            <a:ext cx="2468880" cy="822960"/>
          </a:xfrm>
          <a:prstGeom prst="rect">
            <a:avLst/>
          </a:prstGeom>
          <a:noFill/>
          <a:ln/>
        </p:spPr>
        <p:txBody>
          <a:bodyPr wrap="square" lIns="0" tIns="0" rIns="0" bIns="0" rtlCol="0" anchor="ctr"/>
          <a:lstStyle/>
          <a:p>
            <a:pPr marL="0" indent="0">
              <a:buNone/>
            </a:pPr>
            <a:r>
              <a:rPr lang="en-US" sz="1800" b="1" dirty="0">
                <a:solidFill>
                  <a:srgbClr val="1A2238"/>
                </a:solidFill>
                <a:latin typeface="Noto Sans CJK JP" pitchFamily="34" charset="0"/>
                <a:ea typeface="Noto Sans CJK JP"/>
                <a:cs typeface="Noto Sans CJK JP" pitchFamily="34" charset="-120"/>
              </a:rPr>
              <a:t>x² − 2 = 0</a:t>
            </a:r>
            <a:endParaRPr lang="en-US" sz="1800" dirty="0"/>
          </a:p>
        </p:txBody>
      </p:sp>
      <p:sp>
        <p:nvSpPr>
          <p:cNvPr id="8" name="Text 6"/>
          <p:cNvSpPr/>
          <p:nvPr/>
        </p:nvSpPr>
        <p:spPr>
          <a:xfrm>
            <a:off x="3200400" y="3136392"/>
            <a:ext cx="2743200" cy="822960"/>
          </a:xfrm>
          <a:prstGeom prst="rect">
            <a:avLst/>
          </a:prstGeom>
          <a:noFill/>
          <a:ln/>
        </p:spPr>
        <p:txBody>
          <a:bodyPr wrap="square" lIns="0" tIns="0" rIns="0" bIns="0" rtlCol="0" anchor="ctr"/>
          <a:lstStyle/>
          <a:p>
            <a:pPr marL="0" indent="0">
              <a:buNone/>
            </a:pPr>
            <a:r>
              <a:rPr lang="en-US" sz="1400" dirty="0">
                <a:solidFill>
                  <a:srgbClr val="33384A"/>
                </a:solidFill>
                <a:latin typeface="Noto Sans CJK JP" pitchFamily="34" charset="0"/>
                <a:ea typeface="Noto Sans CJK JP"/>
                <a:cs typeface="Noto Sans CJK JP" pitchFamily="34" charset="-120"/>
              </a:rPr>
              <a:t>roots: √2, −√2</a:t>
            </a:r>
            <a:endParaRPr lang="en-US" sz="1400" dirty="0"/>
          </a:p>
        </p:txBody>
      </p:sp>
      <p:sp>
        <p:nvSpPr>
          <p:cNvPr id="9" name="Text 7"/>
          <p:cNvSpPr/>
          <p:nvPr/>
        </p:nvSpPr>
        <p:spPr>
          <a:xfrm>
            <a:off x="5943600" y="3136392"/>
            <a:ext cx="2926080" cy="822960"/>
          </a:xfrm>
          <a:prstGeom prst="rect">
            <a:avLst/>
          </a:prstGeom>
          <a:noFill/>
          <a:ln/>
        </p:spPr>
        <p:txBody>
          <a:bodyPr wrap="square" lIns="0" tIns="0" rIns="0" bIns="0" rtlCol="0" anchor="ctr"/>
          <a:lstStyle/>
          <a:p>
            <a:pPr marL="0" indent="0">
              <a:buNone/>
            </a:pPr>
            <a:r>
              <a:rPr lang="en-US" sz="1400" b="1" dirty="0">
                <a:solidFill>
                  <a:srgbClr val="3457A6"/>
                </a:solidFill>
                <a:latin typeface="Noto Sans CJK JP" pitchFamily="34" charset="0"/>
                <a:ea typeface="Noto Sans CJK JP"/>
                <a:cs typeface="Noto Sans CJK JP" pitchFamily="34" charset="-120"/>
              </a:rPr>
              <a:t>Gal(K/Q) = { e, (1 2) }</a:t>
            </a:r>
            <a:endParaRPr lang="en-US" sz="1400" dirty="0"/>
          </a:p>
        </p:txBody>
      </p:sp>
      <p:sp>
        <p:nvSpPr>
          <p:cNvPr id="10" name="Text 8"/>
          <p:cNvSpPr/>
          <p:nvPr/>
        </p:nvSpPr>
        <p:spPr>
          <a:xfrm>
            <a:off x="8869680" y="3136392"/>
            <a:ext cx="2468880" cy="822960"/>
          </a:xfrm>
          <a:prstGeom prst="rect">
            <a:avLst/>
          </a:prstGeom>
          <a:noFill/>
          <a:ln/>
        </p:spPr>
        <p:txBody>
          <a:bodyPr wrap="square" lIns="0" tIns="0" rIns="0" bIns="0" rtlCol="0" anchor="ctr"/>
          <a:lstStyle/>
          <a:p>
            <a:pPr marL="0" indent="0">
              <a:buNone/>
            </a:pPr>
            <a:r>
              <a:rPr lang="en-US" sz="1150" dirty="0">
                <a:solidFill>
                  <a:srgbClr val="6B7180"/>
                </a:solidFill>
                <a:latin typeface="Noto Sans CJK JP" pitchFamily="34" charset="0"/>
                <a:ea typeface="Noto Sans CJK JP"/>
                <a:cs typeface="Noto Sans CJK JP" pitchFamily="34" charset="-120"/>
              </a:rPr>
              <a:t>order-2 group swapping √2 and −√2. K=Q(√2).</a:t>
            </a:r>
            <a:endParaRPr lang="en-US" sz="1150" dirty="0"/>
          </a:p>
        </p:txBody>
      </p:sp>
      <p:sp>
        <p:nvSpPr>
          <p:cNvPr id="11" name="Shape 9"/>
          <p:cNvSpPr/>
          <p:nvPr/>
        </p:nvSpPr>
        <p:spPr>
          <a:xfrm>
            <a:off x="640080" y="4114800"/>
            <a:ext cx="10881360" cy="960120"/>
          </a:xfrm>
          <a:prstGeom prst="roundRect">
            <a:avLst>
              <a:gd name="adj" fmla="val 7619"/>
            </a:avLst>
          </a:prstGeom>
          <a:solidFill>
            <a:srgbClr val="F4F6FA"/>
          </a:solidFill>
          <a:ln/>
        </p:spPr>
        <p:txBody>
          <a:bodyPr/>
          <a:p/>
        </p:txBody>
      </p:sp>
      <p:sp>
        <p:nvSpPr>
          <p:cNvPr id="12" name="Text 10"/>
          <p:cNvSpPr/>
          <p:nvPr/>
        </p:nvSpPr>
        <p:spPr>
          <a:xfrm>
            <a:off x="868680" y="4187952"/>
            <a:ext cx="2468880" cy="822960"/>
          </a:xfrm>
          <a:prstGeom prst="rect">
            <a:avLst/>
          </a:prstGeom>
          <a:noFill/>
          <a:ln/>
        </p:spPr>
        <p:txBody>
          <a:bodyPr wrap="square" lIns="0" tIns="0" rIns="0" bIns="0" rtlCol="0" anchor="ctr"/>
          <a:lstStyle/>
          <a:p>
            <a:pPr marL="0" indent="0">
              <a:buNone/>
            </a:pPr>
            <a:r>
              <a:rPr lang="en-US" sz="1800" b="1" dirty="0">
                <a:solidFill>
                  <a:srgbClr val="1A2238"/>
                </a:solidFill>
                <a:latin typeface="Noto Sans CJK JP" pitchFamily="34" charset="0"/>
                <a:ea typeface="Noto Sans CJK JP"/>
                <a:cs typeface="Noto Sans CJK JP" pitchFamily="34" charset="-120"/>
              </a:rPr>
              <a:t>x³ − 1 = 0</a:t>
            </a:r>
            <a:endParaRPr lang="en-US" sz="1800" dirty="0"/>
          </a:p>
        </p:txBody>
      </p:sp>
      <p:sp>
        <p:nvSpPr>
          <p:cNvPr id="13" name="Text 11"/>
          <p:cNvSpPr/>
          <p:nvPr/>
        </p:nvSpPr>
        <p:spPr>
          <a:xfrm>
            <a:off x="3200400" y="4187952"/>
            <a:ext cx="2743200" cy="822960"/>
          </a:xfrm>
          <a:prstGeom prst="rect">
            <a:avLst/>
          </a:prstGeom>
          <a:noFill/>
          <a:ln/>
        </p:spPr>
        <p:txBody>
          <a:bodyPr wrap="square" lIns="0" tIns="0" rIns="0" bIns="0" rtlCol="0" anchor="ctr"/>
          <a:lstStyle/>
          <a:p>
            <a:pPr marL="0" indent="0">
              <a:buNone/>
            </a:pPr>
            <a:r>
              <a:rPr lang="en-US" sz="1400" dirty="0">
                <a:solidFill>
                  <a:srgbClr val="33384A"/>
                </a:solidFill>
                <a:latin typeface="Noto Sans CJK JP" pitchFamily="34" charset="0"/>
                <a:ea typeface="Noto Sans CJK JP"/>
                <a:cs typeface="Noto Sans CJK JP" pitchFamily="34" charset="-120"/>
              </a:rPr>
              <a:t>roots: 1, ω, ω²</a:t>
            </a:r>
            <a:endParaRPr lang="en-US" sz="1400" dirty="0"/>
          </a:p>
        </p:txBody>
      </p:sp>
      <p:sp>
        <p:nvSpPr>
          <p:cNvPr id="14" name="Text 12"/>
          <p:cNvSpPr/>
          <p:nvPr/>
        </p:nvSpPr>
        <p:spPr>
          <a:xfrm>
            <a:off x="5943600" y="4187952"/>
            <a:ext cx="2926080" cy="822960"/>
          </a:xfrm>
          <a:prstGeom prst="rect">
            <a:avLst/>
          </a:prstGeom>
          <a:noFill/>
          <a:ln/>
        </p:spPr>
        <p:txBody>
          <a:bodyPr wrap="square" lIns="0" tIns="0" rIns="0" bIns="0" rtlCol="0" anchor="ctr"/>
          <a:lstStyle/>
          <a:p>
            <a:pPr marL="0" indent="0">
              <a:buNone/>
            </a:pPr>
            <a:r>
              <a:rPr lang="en-US" sz="1400" b="1" dirty="0">
                <a:solidFill>
                  <a:srgbClr val="3457A6"/>
                </a:solidFill>
                <a:latin typeface="Noto Sans CJK JP" pitchFamily="34" charset="0"/>
                <a:ea typeface="Noto Sans CJK JP"/>
                <a:cs typeface="Noto Sans CJK JP" pitchFamily="34" charset="-120"/>
              </a:rPr>
              <a:t>Gal(K/Q) = { e, (ω ω²) }</a:t>
            </a:r>
            <a:endParaRPr lang="en-US" sz="1400" dirty="0"/>
          </a:p>
        </p:txBody>
      </p:sp>
      <p:sp>
        <p:nvSpPr>
          <p:cNvPr id="15" name="Text 13"/>
          <p:cNvSpPr/>
          <p:nvPr/>
        </p:nvSpPr>
        <p:spPr>
          <a:xfrm>
            <a:off x="8869680" y="4187952"/>
            <a:ext cx="2468880" cy="822960"/>
          </a:xfrm>
          <a:prstGeom prst="rect">
            <a:avLst/>
          </a:prstGeom>
          <a:noFill/>
          <a:ln/>
        </p:spPr>
        <p:txBody>
          <a:bodyPr wrap="square" lIns="0" tIns="0" rIns="0" bIns="0" rtlCol="0" anchor="ctr"/>
          <a:lstStyle/>
          <a:p>
            <a:pPr marL="0" indent="0">
              <a:buNone/>
            </a:pPr>
            <a:r>
              <a:rPr lang="en-US" sz="1150" dirty="0">
                <a:solidFill>
                  <a:srgbClr val="6B7180"/>
                </a:solidFill>
                <a:latin typeface="Noto Sans CJK JP" pitchFamily="34" charset="0"/>
                <a:ea typeface="Noto Sans CJK JP"/>
                <a:cs typeface="Noto Sans CJK JP" pitchFamily="34" charset="-120"/>
              </a:rPr>
              <a:t>1 is known; the unknowns ω, ω² give order 2.</a:t>
            </a:r>
            <a:endParaRPr lang="en-US" sz="1150" dirty="0"/>
          </a:p>
        </p:txBody>
      </p:sp>
      <p:sp>
        <p:nvSpPr>
          <p:cNvPr id="16" name="Shape 14"/>
          <p:cNvSpPr/>
          <p:nvPr/>
        </p:nvSpPr>
        <p:spPr>
          <a:xfrm>
            <a:off x="640080" y="5166360"/>
            <a:ext cx="10881360" cy="960120"/>
          </a:xfrm>
          <a:prstGeom prst="roundRect">
            <a:avLst>
              <a:gd name="adj" fmla="val 7619"/>
            </a:avLst>
          </a:prstGeom>
          <a:solidFill>
            <a:srgbClr val="F4F6FA"/>
          </a:solidFill>
          <a:ln/>
        </p:spPr>
        <p:txBody>
          <a:bodyPr/>
          <a:p/>
        </p:txBody>
      </p:sp>
      <p:sp>
        <p:nvSpPr>
          <p:cNvPr id="17" name="Text 15"/>
          <p:cNvSpPr/>
          <p:nvPr/>
        </p:nvSpPr>
        <p:spPr>
          <a:xfrm>
            <a:off x="868680" y="5239512"/>
            <a:ext cx="2468880" cy="822960"/>
          </a:xfrm>
          <a:prstGeom prst="rect">
            <a:avLst/>
          </a:prstGeom>
          <a:noFill/>
          <a:ln/>
        </p:spPr>
        <p:txBody>
          <a:bodyPr wrap="square" lIns="0" tIns="0" rIns="0" bIns="0" rtlCol="0" anchor="ctr"/>
          <a:lstStyle/>
          <a:p>
            <a:pPr marL="0" indent="0">
              <a:buNone/>
            </a:pPr>
            <a:r>
              <a:rPr lang="en-US" sz="1800" b="1" dirty="0">
                <a:solidFill>
                  <a:srgbClr val="1A2238"/>
                </a:solidFill>
                <a:latin typeface="Noto Sans CJK JP" pitchFamily="34" charset="0"/>
                <a:ea typeface="Noto Sans CJK JP"/>
                <a:cs typeface="Noto Sans CJK JP" pitchFamily="34" charset="-120"/>
              </a:rPr>
              <a:t>x³ − 2 = 0</a:t>
            </a:r>
            <a:endParaRPr lang="en-US" sz="1800" dirty="0"/>
          </a:p>
        </p:txBody>
      </p:sp>
      <p:sp>
        <p:nvSpPr>
          <p:cNvPr id="18" name="Text 16"/>
          <p:cNvSpPr/>
          <p:nvPr/>
        </p:nvSpPr>
        <p:spPr>
          <a:xfrm>
            <a:off x="3200400" y="5239512"/>
            <a:ext cx="2743200" cy="822960"/>
          </a:xfrm>
          <a:prstGeom prst="rect">
            <a:avLst/>
          </a:prstGeom>
          <a:noFill/>
          <a:ln/>
        </p:spPr>
        <p:txBody>
          <a:bodyPr wrap="square" lIns="0" tIns="0" rIns="0" bIns="0" rtlCol="0" anchor="ctr"/>
          <a:lstStyle/>
          <a:p>
            <a:pPr marL="0" indent="0">
              <a:buNone/>
            </a:pPr>
            <a:r>
              <a:rPr lang="en-US" sz="1400" dirty="0">
                <a:solidFill>
                  <a:srgbClr val="33384A"/>
                </a:solidFill>
                <a:latin typeface="Noto Sans CJK JP" pitchFamily="34" charset="0"/>
                <a:ea typeface="Noto Sans CJK JP"/>
                <a:cs typeface="Noto Sans CJK JP" pitchFamily="34" charset="-120"/>
              </a:rPr>
              <a:t>roots: α, αω, αω² (α=³√2)</a:t>
            </a:r>
            <a:endParaRPr lang="en-US" sz="1400" dirty="0"/>
          </a:p>
        </p:txBody>
      </p:sp>
      <p:sp>
        <p:nvSpPr>
          <p:cNvPr id="19" name="Text 17"/>
          <p:cNvSpPr/>
          <p:nvPr/>
        </p:nvSpPr>
        <p:spPr>
          <a:xfrm>
            <a:off x="5943600" y="5239512"/>
            <a:ext cx="2926080" cy="822960"/>
          </a:xfrm>
          <a:prstGeom prst="rect">
            <a:avLst/>
          </a:prstGeom>
          <a:noFill/>
          <a:ln/>
        </p:spPr>
        <p:txBody>
          <a:bodyPr wrap="square" lIns="0" tIns="0" rIns="0" bIns="0" rtlCol="0" anchor="ctr"/>
          <a:lstStyle/>
          <a:p>
            <a:pPr marL="0" indent="0">
              <a:buNone/>
            </a:pPr>
            <a:r>
              <a:rPr lang="en-US" sz="1400" b="1" dirty="0">
                <a:solidFill>
                  <a:srgbClr val="3457A6"/>
                </a:solidFill>
                <a:latin typeface="Noto Sans CJK JP" pitchFamily="34" charset="0"/>
                <a:ea typeface="Noto Sans CJK JP"/>
                <a:cs typeface="Noto Sans CJK JP" pitchFamily="34" charset="-120"/>
              </a:rPr>
              <a:t>Gal(K/Q) = S₃</a:t>
            </a:r>
            <a:endParaRPr lang="en-US" sz="1400" dirty="0"/>
          </a:p>
        </p:txBody>
      </p:sp>
      <p:sp>
        <p:nvSpPr>
          <p:cNvPr id="20" name="Text 18"/>
          <p:cNvSpPr/>
          <p:nvPr/>
        </p:nvSpPr>
        <p:spPr>
          <a:xfrm>
            <a:off x="8869680" y="5239512"/>
            <a:ext cx="2468880" cy="822960"/>
          </a:xfrm>
          <a:prstGeom prst="rect">
            <a:avLst/>
          </a:prstGeom>
          <a:noFill/>
          <a:ln/>
        </p:spPr>
        <p:txBody>
          <a:bodyPr wrap="square" lIns="0" tIns="0" rIns="0" bIns="0" rtlCol="0" anchor="ctr"/>
          <a:lstStyle/>
          <a:p>
            <a:pPr marL="0" indent="0">
              <a:buNone/>
            </a:pPr>
            <a:r>
              <a:rPr lang="en-US" sz="1150" dirty="0">
                <a:solidFill>
                  <a:srgbClr val="6B7180"/>
                </a:solidFill>
                <a:latin typeface="Noto Sans CJK JP" pitchFamily="34" charset="0"/>
                <a:ea typeface="Noto Sans CJK JP"/>
                <a:cs typeface="Noto Sans CJK JP" pitchFamily="34" charset="-120"/>
              </a:rPr>
              <a:t>adjoin two things: ω (contains imaginary √−3) and a cube root.</a:t>
            </a:r>
            <a:endParaRPr lang="en-US" sz="1150" dirty="0"/>
          </a:p>
        </p:txBody>
      </p:sp>
      <p:sp>
        <p:nvSpPr>
          <p:cNvPr id="21" name="Text 19"/>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13</a:t>
            </a:r>
            <a:endParaRPr lang="en-US" sz="1100" dirty="0"/>
          </a:p>
        </p:txBody>
      </p:sp>
      <p:sp>
        <p:nvSpPr>
          <p:cNvPr id="22" name="Text 20"/>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Appendix 2</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en-US" sz="2700" b="1" dirty="0">
                <a:solidFill>
                  <a:srgbClr val="1A2238"/>
                </a:solidFill>
                <a:latin typeface="Noto Sans CJK JP" pitchFamily="34" charset="0"/>
                <a:ea typeface="Noto Sans CJK JP"/>
                <a:cs typeface="Noto Sans CJK JP" pitchFamily="34" charset="-120"/>
              </a:rPr>
              <a:t>Image: one turn — the group shrinks and the field grows</a:t>
            </a:r>
            <a:endParaRPr lang="en-US" sz="2700" dirty="0"/>
          </a:p>
        </p:txBody>
      </p:sp>
      <p:sp>
        <p:nvSpPr>
          <p:cNvPr id="5" name="Text 3"/>
          <p:cNvSpPr/>
          <p:nvPr/>
        </p:nvSpPr>
        <p:spPr>
          <a:xfrm>
            <a:off x="640080" y="1481328"/>
            <a:ext cx="10881360" cy="457200"/>
          </a:xfrm>
          <a:prstGeom prst="rect">
            <a:avLst/>
          </a:prstGeom>
          <a:noFill/>
          <a:ln/>
        </p:spPr>
        <p:txBody>
          <a:bodyPr wrap="square" lIns="0" tIns="0" rIns="0" bIns="0" rtlCol="0" anchor="ctr"/>
          <a:lstStyle/>
          <a:p>
            <a:pPr marL="0" indent="0">
              <a:buNone/>
            </a:pPr>
            <a:r>
              <a:rPr lang="en-US" sz="1500" dirty="0">
                <a:solidFill>
                  <a:srgbClr val="6B7180"/>
                </a:solidFill>
                <a:latin typeface="Noto Sans CJK JP" pitchFamily="34" charset="0"/>
                <a:ea typeface="Noto Sans CJK JP"/>
                <a:cs typeface="Noto Sans CJK JP" pitchFamily="34" charset="-120"/>
              </a:rPr>
              <a:t>The order of the quotient equals the number of permutation steps needed to cycle once through the radical’s conjugate candidates and return — i.e. the figure’s number of “parts.”</a:t>
            </a:r>
            <a:endParaRPr lang="en-US" sz="1500" dirty="0"/>
          </a:p>
        </p:txBody>
      </p:sp>
      <p:pic>
        <p:nvPicPr>
          <p:cNvPr id="6" name="Image 0" descr="/home/claude/fig_rotation_en.png"/>
          <p:cNvPicPr>
            <a:picLocks noChangeAspect="1"/>
          </p:cNvPicPr>
          <p:nvPr/>
        </p:nvPicPr>
        <p:blipFill>
          <a:blip r:embed="rId3"/>
          <a:stretch>
            <a:fillRect/>
          </a:stretch>
        </p:blipFill>
        <p:spPr>
          <a:xfrm>
            <a:off x="2331720" y="1965960"/>
            <a:ext cx="7498080" cy="4199744"/>
          </a:xfrm>
          <a:prstGeom prst="rect">
            <a:avLst/>
          </a:prstGeom>
        </p:spPr>
      </p:pic>
      <p:sp>
        <p:nvSpPr>
          <p:cNvPr id="7" name="Text 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14</a:t>
            </a:r>
            <a:endParaRPr lang="en-US" sz="1100" dirty="0"/>
          </a:p>
        </p:txBody>
      </p:sp>
      <p:sp>
        <p:nvSpPr>
          <p:cNvPr id="8" name="Text 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40080" y="502920"/>
            <a:ext cx="146304" cy="146304"/>
          </a:xfrm>
          <a:prstGeom prst="ellipse">
            <a:avLst/>
          </a:prstGeom>
          <a:solidFill>
            <a:srgbClr val="0F9E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93192"/>
            <a:ext cx="5486400" cy="365760"/>
          </a:xfrm>
          <a:prstGeom prst="rect">
            <a:avLst/>
          </a:prstGeom>
          <a:noFill/>
        </p:spPr>
        <p:txBody>
          <a:bodyPr wrap="square" lIns="0" rIns="0" tIns="0" bIns="0" anchor="ctr">
            <a:spAutoFit/>
          </a:bodyPr>
          <a:lstStyle/>
          <a:p>
            <a:pPr algn="l"/>
            <a:r>
              <a:rPr sz="1600" b="1" i="0">
                <a:solidFill>
                  <a:srgbClr val="0F9E8E"/>
                </a:solidFill>
                <a:latin typeface="Noto Sans CJK JP"/>
              </a:rPr>
              <a:t>Appendix 2</a:t>
            </a:r>
          </a:p>
        </p:txBody>
      </p:sp>
      <p:sp>
        <p:nvSpPr>
          <p:cNvPr id="4" name="TextBox 3"/>
          <p:cNvSpPr txBox="1"/>
          <p:nvPr/>
        </p:nvSpPr>
        <p:spPr>
          <a:xfrm>
            <a:off x="640080" y="822960"/>
            <a:ext cx="10972800" cy="460000"/>
          </a:xfrm>
          <a:prstGeom prst="rect">
            <a:avLst/>
          </a:prstGeom>
          <a:noFill/>
        </p:spPr>
        <p:txBody>
          <a:bodyPr wrap="square" lIns="0" rIns="0" tIns="0" bIns="0" anchor="ctr">
            <a:spAutoFit/>
          </a:bodyPr>
          <a:lstStyle/>
          <a:p>
            <a:pPr algn="l"/>
            <a:r>
              <a:rPr sz="1750" b="1" i="0">
                <a:solidFill>
                  <a:srgbClr val="1A2238"/>
                </a:solidFill>
                <a:latin typeface="Noto Sans CJK JP"/>
              </a:rPr>
              <a:t>The Adjoined Element's Conjugates and the Cyclic Quotient's Generator Correspond</a:t>
            </a:r>
          </a:p>
        </p:txBody>
      </p:sp>
      <p:sp>
        <p:nvSpPr>
          <p:cNvPr id="5" name="TextBox 4"/>
          <p:cNvSpPr txBox="1"/>
          <p:nvPr/>
        </p:nvSpPr>
        <p:spPr>
          <a:xfrm>
            <a:off x="640080" y="1310000"/>
            <a:ext cx="10972800" cy="230000"/>
          </a:xfrm>
          <a:prstGeom prst="rect">
            <a:avLst/>
          </a:prstGeom>
          <a:noFill/>
        </p:spPr>
        <p:txBody>
          <a:bodyPr wrap="square" lIns="0" rIns="0" tIns="0" bIns="0" anchor="ctr">
            <a:spAutoFit/>
          </a:bodyPr>
          <a:lstStyle/>
          <a:p>
            <a:pPr algn="r"/>
            <a:r>
              <a:rPr sz="1050" b="0" i="0">
                <a:solidFill>
                  <a:srgbClr val="6B7180"/>
                </a:solidFill>
                <a:latin typeface="Noto Sans CJK JP"/>
              </a:rPr>
              <a:t>* Assumes a single-step radical extension (adjoining one radical extends the field by one step)</a:t>
            </a:r>
          </a:p>
        </p:txBody>
      </p:sp>
      <p:sp>
        <p:nvSpPr>
          <p:cNvPr id="6" name="Rounded Rectangle 5"/>
          <p:cNvSpPr/>
          <p:nvPr/>
        </p:nvSpPr>
        <p:spPr>
          <a:xfrm>
            <a:off x="640080" y="1560000"/>
            <a:ext cx="10972800" cy="520000"/>
          </a:xfrm>
          <a:prstGeom prst="roundRect">
            <a:avLst>
              <a:gd name="adj" fmla="val 14000"/>
            </a:avLst>
          </a:prstGeom>
          <a:solidFill>
            <a:srgbClr val="E5F5F2"/>
          </a:solidFill>
          <a:ln w="127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square" lIns="180000" rIns="180000" tIns="30000" bIns="30000"/>
          <a:lstStyle/>
          <a:p>
            <a:pPr algn="l"/>
            <a:r>
              <a:rPr sz="1200" b="1" i="0">
                <a:solidFill>
                  <a:srgbClr val="33384A"/>
                </a:solidFill>
                <a:latin typeface="Noto Sans CJK JP"/>
              </a:rPr>
              <a:t>Assume: L = M(α),  αⁿ ∈ M,  ζₙ ∈ M</a:t>
            </a:r>
          </a:p>
          <a:p>
            <a:pPr algn="l"/>
            <a:r>
              <a:rPr sz="1200" b="1" i="0">
                <a:solidFill>
                  <a:srgbClr val="3457A6"/>
                </a:solidFill>
                <a:latin typeface="Noto Sans CJK JP"/>
              </a:rPr>
              <a:t>Then Gal(L/M) is the cyclic group Cₙ, with generator σ satisfying σ(α) = ζₙα</a:t>
            </a:r>
          </a:p>
        </p:txBody>
      </p:sp>
      <p:sp>
        <p:nvSpPr>
          <p:cNvPr id="7" name="Rounded Rectangle 6"/>
          <p:cNvSpPr/>
          <p:nvPr/>
        </p:nvSpPr>
        <p:spPr>
          <a:xfrm>
            <a:off x="640080" y="2170000"/>
            <a:ext cx="3000000" cy="3300000"/>
          </a:xfrm>
          <a:prstGeom prst="roundRect">
            <a:avLst>
              <a:gd name="adj" fmla="val 5000"/>
            </a:avLst>
          </a:prstGeom>
          <a:solidFill>
            <a:srgbClr val="FFFFFF"/>
          </a:solidFill>
          <a:ln w="12700">
            <a:solidFill>
              <a:srgbClr val="0F9E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740080" y="2170000"/>
            <a:ext cx="3000000" cy="3300000"/>
          </a:xfrm>
          <a:prstGeom prst="roundRect">
            <a:avLst>
              <a:gd name="adj" fmla="val 5000"/>
            </a:avLst>
          </a:prstGeom>
          <a:solidFill>
            <a:srgbClr val="FFFFFF"/>
          </a:solidFill>
          <a:ln w="12700">
            <a:solidFill>
              <a:srgbClr val="0F9E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840080" y="2170000"/>
            <a:ext cx="2772800" cy="3300000"/>
          </a:xfrm>
          <a:prstGeom prst="roundRect">
            <a:avLst>
              <a:gd name="adj" fmla="val 5000"/>
            </a:avLst>
          </a:prstGeom>
          <a:solidFill>
            <a:srgbClr val="FFFFFF"/>
          </a:solidFill>
          <a:ln w="12700">
            <a:solidFill>
              <a:srgbClr val="0F9E8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080" y="2260000"/>
            <a:ext cx="2800000" cy="300000"/>
          </a:xfrm>
          <a:prstGeom prst="rect">
            <a:avLst/>
          </a:prstGeom>
          <a:noFill/>
        </p:spPr>
        <p:txBody>
          <a:bodyPr wrap="square" lIns="0" rIns="0" tIns="0" bIns="0" anchor="t">
            <a:spAutoFit/>
          </a:bodyPr>
          <a:lstStyle/>
          <a:p>
            <a:pPr algn="ctr"/>
            <a:r>
              <a:rPr sz="1250" b="1" i="0">
                <a:solidFill>
                  <a:srgbClr val="1A2238"/>
                </a:solidFill>
                <a:latin typeface="Noto Sans CJK JP"/>
              </a:rPr>
              <a:t>Rotation of the Conjugates</a:t>
            </a:r>
          </a:p>
        </p:txBody>
      </p:sp>
      <p:cxnSp>
        <p:nvCxnSpPr>
          <p:cNvPr id="11" name="Connector 10"/>
          <p:cNvCxnSpPr/>
          <p:nvPr/>
        </p:nvCxnSpPr>
        <p:spPr>
          <a:xfrm>
            <a:off x="2291366" y="2999915"/>
            <a:ext cx="439251" cy="319135"/>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415648" y="2970491"/>
            <a:ext cx="320000" cy="200000"/>
          </a:xfrm>
          <a:prstGeom prst="rect">
            <a:avLst/>
          </a:prstGeom>
          <a:noFill/>
        </p:spPr>
        <p:txBody>
          <a:bodyPr wrap="square" lIns="0" rIns="0" tIns="0" bIns="0" anchor="t">
            <a:spAutoFit/>
          </a:bodyPr>
          <a:lstStyle/>
          <a:p>
            <a:pPr algn="ctr"/>
            <a:r>
              <a:rPr sz="850" b="1" i="0">
                <a:solidFill>
                  <a:srgbClr val="0F9E8E"/>
                </a:solidFill>
                <a:latin typeface="Noto Sans CJK JP"/>
              </a:rPr>
              <a:t>σ</a:t>
            </a:r>
          </a:p>
        </p:txBody>
      </p:sp>
      <p:cxnSp>
        <p:nvCxnSpPr>
          <p:cNvPr id="13" name="Connector 12"/>
          <p:cNvCxnSpPr/>
          <p:nvPr/>
        </p:nvCxnSpPr>
        <p:spPr>
          <a:xfrm flipH="1">
            <a:off x="2656338" y="3606814"/>
            <a:ext cx="167779" cy="516371"/>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684844" y="3798991"/>
            <a:ext cx="320000" cy="200000"/>
          </a:xfrm>
          <a:prstGeom prst="rect">
            <a:avLst/>
          </a:prstGeom>
          <a:noFill/>
        </p:spPr>
        <p:txBody>
          <a:bodyPr wrap="square" lIns="0" rIns="0" tIns="0" bIns="0" anchor="t">
            <a:spAutoFit/>
          </a:bodyPr>
          <a:lstStyle/>
          <a:p>
            <a:pPr algn="ctr"/>
            <a:r>
              <a:rPr sz="850" b="1" i="0">
                <a:solidFill>
                  <a:srgbClr val="0F9E8E"/>
                </a:solidFill>
                <a:latin typeface="Noto Sans CJK JP"/>
              </a:rPr>
              <a:t>σ</a:t>
            </a:r>
          </a:p>
        </p:txBody>
      </p:sp>
      <p:cxnSp>
        <p:nvCxnSpPr>
          <p:cNvPr id="15" name="Connector 14"/>
          <p:cNvCxnSpPr/>
          <p:nvPr/>
        </p:nvCxnSpPr>
        <p:spPr>
          <a:xfrm flipH="1">
            <a:off x="1868607" y="4301033"/>
            <a:ext cx="542945" cy="0"/>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980080" y="4311033"/>
            <a:ext cx="320000" cy="200000"/>
          </a:xfrm>
          <a:prstGeom prst="rect">
            <a:avLst/>
          </a:prstGeom>
          <a:noFill/>
        </p:spPr>
        <p:txBody>
          <a:bodyPr wrap="square" lIns="0" rIns="0" tIns="0" bIns="0" anchor="t">
            <a:spAutoFit/>
          </a:bodyPr>
          <a:lstStyle/>
          <a:p>
            <a:pPr algn="ctr"/>
            <a:r>
              <a:rPr sz="850" b="1" i="0">
                <a:solidFill>
                  <a:srgbClr val="0F9E8E"/>
                </a:solidFill>
                <a:latin typeface="Noto Sans CJK JP"/>
              </a:rPr>
              <a:t>σ</a:t>
            </a:r>
          </a:p>
        </p:txBody>
      </p:sp>
      <p:cxnSp>
        <p:nvCxnSpPr>
          <p:cNvPr id="17" name="Connector 16"/>
          <p:cNvCxnSpPr/>
          <p:nvPr/>
        </p:nvCxnSpPr>
        <p:spPr>
          <a:xfrm flipH="1" flipV="1">
            <a:off x="1456042" y="3606814"/>
            <a:ext cx="167779" cy="516371"/>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275315" y="3798991"/>
            <a:ext cx="320000" cy="200000"/>
          </a:xfrm>
          <a:prstGeom prst="rect">
            <a:avLst/>
          </a:prstGeom>
          <a:noFill/>
        </p:spPr>
        <p:txBody>
          <a:bodyPr wrap="square" lIns="0" rIns="0" tIns="0" bIns="0" anchor="t">
            <a:spAutoFit/>
          </a:bodyPr>
          <a:lstStyle/>
          <a:p>
            <a:pPr algn="ctr"/>
            <a:r>
              <a:rPr sz="850" b="1" i="0">
                <a:solidFill>
                  <a:srgbClr val="0F9E8E"/>
                </a:solidFill>
                <a:latin typeface="Noto Sans CJK JP"/>
              </a:rPr>
              <a:t>σ</a:t>
            </a:r>
          </a:p>
        </p:txBody>
      </p:sp>
      <p:cxnSp>
        <p:nvCxnSpPr>
          <p:cNvPr id="19" name="Connector 18"/>
          <p:cNvCxnSpPr/>
          <p:nvPr/>
        </p:nvCxnSpPr>
        <p:spPr>
          <a:xfrm flipV="1">
            <a:off x="1549542" y="2999915"/>
            <a:ext cx="439251" cy="319135"/>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44511" y="2970491"/>
            <a:ext cx="320000" cy="200000"/>
          </a:xfrm>
          <a:prstGeom prst="rect">
            <a:avLst/>
          </a:prstGeom>
          <a:noFill/>
        </p:spPr>
        <p:txBody>
          <a:bodyPr wrap="square" lIns="0" rIns="0" tIns="0" bIns="0" anchor="t">
            <a:spAutoFit/>
          </a:bodyPr>
          <a:lstStyle/>
          <a:p>
            <a:pPr algn="ctr"/>
            <a:r>
              <a:rPr sz="850" b="1" i="0">
                <a:solidFill>
                  <a:srgbClr val="0F9E8E"/>
                </a:solidFill>
                <a:latin typeface="Noto Sans CJK JP"/>
              </a:rPr>
              <a:t>σ</a:t>
            </a:r>
          </a:p>
        </p:txBody>
      </p:sp>
      <p:sp>
        <p:nvSpPr>
          <p:cNvPr id="21" name="Oval 20"/>
          <p:cNvSpPr/>
          <p:nvPr/>
        </p:nvSpPr>
        <p:spPr>
          <a:xfrm>
            <a:off x="1965080" y="2715000"/>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α</a:t>
            </a:r>
          </a:p>
        </p:txBody>
      </p:sp>
      <p:sp>
        <p:nvSpPr>
          <p:cNvPr id="22" name="Oval 21"/>
          <p:cNvSpPr/>
          <p:nvPr/>
        </p:nvSpPr>
        <p:spPr>
          <a:xfrm>
            <a:off x="2706904" y="3253966"/>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ζα</a:t>
            </a:r>
          </a:p>
        </p:txBody>
      </p:sp>
      <p:sp>
        <p:nvSpPr>
          <p:cNvPr id="23" name="Oval 22"/>
          <p:cNvSpPr/>
          <p:nvPr/>
        </p:nvSpPr>
        <p:spPr>
          <a:xfrm>
            <a:off x="2423552" y="4126033"/>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ζ²α</a:t>
            </a:r>
          </a:p>
        </p:txBody>
      </p:sp>
      <p:sp>
        <p:nvSpPr>
          <p:cNvPr id="24" name="Oval 23"/>
          <p:cNvSpPr/>
          <p:nvPr/>
        </p:nvSpPr>
        <p:spPr>
          <a:xfrm>
            <a:off x="1506607" y="4126033"/>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a:t>
            </a:r>
          </a:p>
        </p:txBody>
      </p:sp>
      <p:sp>
        <p:nvSpPr>
          <p:cNvPr id="25" name="Oval 24"/>
          <p:cNvSpPr/>
          <p:nvPr/>
        </p:nvSpPr>
        <p:spPr>
          <a:xfrm>
            <a:off x="1223255" y="3253966"/>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ζⁿ⁻¹α</a:t>
            </a:r>
          </a:p>
        </p:txBody>
      </p:sp>
      <p:sp>
        <p:nvSpPr>
          <p:cNvPr id="26" name="TextBox 25"/>
          <p:cNvSpPr txBox="1"/>
          <p:nvPr/>
        </p:nvSpPr>
        <p:spPr>
          <a:xfrm>
            <a:off x="710080" y="4670000"/>
            <a:ext cx="2860000" cy="780000"/>
          </a:xfrm>
          <a:prstGeom prst="rect">
            <a:avLst/>
          </a:prstGeom>
          <a:noFill/>
        </p:spPr>
        <p:txBody>
          <a:bodyPr wrap="square" lIns="0" rIns="0" tIns="0" bIns="0" anchor="t">
            <a:spAutoFit/>
          </a:bodyPr>
          <a:lstStyle/>
          <a:p>
            <a:pPr algn="ctr">
              <a:lnSpc>
                <a:spcPct val="112000"/>
              </a:lnSpc>
            </a:pPr>
            <a:r>
              <a:rPr sz="950" b="1" i="0">
                <a:solidFill>
                  <a:srgbClr val="3457A6"/>
                </a:solidFill>
                <a:latin typeface="Noto Sans CJK JP"/>
              </a:rPr>
              <a:t>The generator σ advances one step at a time</a:t>
            </a:r>
          </a:p>
          <a:p>
            <a:pPr algn="ctr">
              <a:lnSpc>
                <a:spcPct val="112000"/>
              </a:lnSpc>
            </a:pPr>
            <a:r>
              <a:rPr sz="1050" b="1" i="0">
                <a:solidFill>
                  <a:srgbClr val="3457A6"/>
                </a:solidFill>
                <a:latin typeface="Noto Sans CJK JP"/>
              </a:rPr>
              <a:t>σ(ζᵏα) = ζᵏ⁺¹α</a:t>
            </a:r>
          </a:p>
          <a:p>
            <a:pPr algn="ctr">
              <a:lnSpc>
                <a:spcPct val="112000"/>
              </a:lnSpc>
            </a:pPr>
            <a:r>
              <a:rPr sz="900" b="0" i="0">
                <a:solidFill>
                  <a:srgbClr val="6B7180"/>
                </a:solidFill>
                <a:latin typeface="Noto Sans CJK JP"/>
              </a:rPr>
              <a:t>(indices computed mod n)</a:t>
            </a:r>
          </a:p>
        </p:txBody>
      </p:sp>
      <p:sp>
        <p:nvSpPr>
          <p:cNvPr id="27" name="Left-Right Arrow 26"/>
          <p:cNvSpPr/>
          <p:nvPr/>
        </p:nvSpPr>
        <p:spPr>
          <a:xfrm>
            <a:off x="3740080" y="2383215"/>
            <a:ext cx="1900000" cy="699840"/>
          </a:xfrm>
          <a:prstGeom prst="leftRightArrow">
            <a:avLst/>
          </a:prstGeom>
          <a:solidFill>
            <a:srgbClr val="3457A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i="0">
                <a:solidFill>
                  <a:srgbClr val="FFFFFF"/>
                </a:solidFill>
                <a:latin typeface="Noto Sans CJK JP"/>
              </a:rPr>
              <a:t>1-to-1</a:t>
            </a:r>
          </a:p>
        </p:txBody>
      </p:sp>
      <p:sp>
        <p:nvSpPr>
          <p:cNvPr id="28" name="TextBox 27"/>
          <p:cNvSpPr txBox="1"/>
          <p:nvPr/>
        </p:nvSpPr>
        <p:spPr>
          <a:xfrm>
            <a:off x="3740080" y="3245715"/>
            <a:ext cx="1900000" cy="500000"/>
          </a:xfrm>
          <a:prstGeom prst="rect">
            <a:avLst/>
          </a:prstGeom>
          <a:noFill/>
        </p:spPr>
        <p:txBody>
          <a:bodyPr wrap="square" lIns="0" rIns="0" tIns="0" bIns="0" anchor="t">
            <a:spAutoFit/>
          </a:bodyPr>
          <a:lstStyle/>
          <a:p>
            <a:pPr algn="ctr">
              <a:lnSpc>
                <a:spcPct val="112000"/>
              </a:lnSpc>
            </a:pPr>
            <a:r>
              <a:rPr sz="1000" b="1" i="0">
                <a:solidFill>
                  <a:srgbClr val="1A2238"/>
                </a:solidFill>
                <a:latin typeface="Noto Sans CJK JP"/>
              </a:rPr>
              <a:t>Each coset gᵏH corresponds to the</a:t>
            </a:r>
          </a:p>
          <a:p>
            <a:pPr algn="ctr">
              <a:lnSpc>
                <a:spcPct val="112000"/>
              </a:lnSpc>
            </a:pPr>
            <a:r>
              <a:rPr sz="1000" b="1" i="0">
                <a:solidFill>
                  <a:srgbClr val="1A2238"/>
                </a:solidFill>
                <a:latin typeface="Noto Sans CJK JP"/>
              </a:rPr>
              <a:t>action sending α to ζᵏα</a:t>
            </a:r>
          </a:p>
        </p:txBody>
      </p:sp>
      <p:graphicFrame>
        <p:nvGraphicFramePr>
          <p:cNvPr id="29" name="Table 28"/>
          <p:cNvGraphicFramePr>
            <a:graphicFrameLocks noGrp="1"/>
          </p:cNvGraphicFramePr>
          <p:nvPr/>
        </p:nvGraphicFramePr>
        <p:xfrm>
          <a:off x="3790080" y="3786140"/>
          <a:ext cx="1800000" cy="1350000"/>
        </p:xfrm>
        <a:graphic>
          <a:graphicData uri="http://schemas.openxmlformats.org/drawingml/2006/table">
            <a:tbl>
              <a:tblPr firstRow="1" bandRow="1">
                <a:tableStyleId>{5C22544A-7EE6-4342-B048-85BDC9FD1C3A}</a:tableStyleId>
              </a:tblPr>
              <a:tblGrid>
                <a:gridCol w="756000"/>
                <a:gridCol w="288000"/>
                <a:gridCol w="756000"/>
              </a:tblGrid>
              <a:tr h="270000">
                <a:tc>
                  <a:txBody>
                    <a:bodyPr/>
                    <a:lstStyle/>
                    <a:p>
                      <a:pPr algn="ctr"/>
                      <a:r>
                        <a:rPr sz="1050" b="1" i="0">
                          <a:solidFill>
                            <a:srgbClr val="1A2238"/>
                          </a:solidFill>
                          <a:latin typeface="Noto Sans CJK JP"/>
                        </a:rPr>
                        <a:t>α</a:t>
                      </a:r>
                    </a:p>
                  </a:txBody>
                  <a:tcPr marL="0" marR="0" marT="0" marB="0" anchor="ctr">
                    <a:solidFill>
                      <a:srgbClr val="FFFFFF"/>
                    </a:solidFill>
                  </a:tcPr>
                </a:tc>
                <a:tc>
                  <a:txBody>
                    <a:bodyPr/>
                    <a:lstStyle/>
                    <a:p>
                      <a:pPr algn="ctr"/>
                      <a:r>
                        <a:rPr sz="1050" b="0" i="0">
                          <a:solidFill>
                            <a:srgbClr val="0F9E8E"/>
                          </a:solidFill>
                          <a:latin typeface="Noto Sans CJK JP"/>
                        </a:rPr>
                        <a:t>&lt;-&gt;</a:t>
                      </a:r>
                    </a:p>
                  </a:txBody>
                  <a:tcPr marL="0" marR="0" marT="0" marB="0" anchor="ctr">
                    <a:solidFill>
                      <a:srgbClr val="FFFFFF"/>
                    </a:solidFill>
                  </a:tcPr>
                </a:tc>
                <a:tc>
                  <a:txBody>
                    <a:bodyPr/>
                    <a:lstStyle/>
                    <a:p>
                      <a:pPr algn="ctr"/>
                      <a:r>
                        <a:rPr sz="1050" b="1" i="0">
                          <a:solidFill>
                            <a:srgbClr val="1A2238"/>
                          </a:solidFill>
                          <a:latin typeface="Noto Sans CJK JP"/>
                        </a:rPr>
                        <a:t>H</a:t>
                      </a:r>
                    </a:p>
                  </a:txBody>
                  <a:tcPr marL="0" marR="0" marT="0" marB="0" anchor="ctr">
                    <a:solidFill>
                      <a:srgbClr val="FFFFFF"/>
                    </a:solidFill>
                  </a:tcPr>
                </a:tc>
              </a:tr>
              <a:tr h="270000">
                <a:tc>
                  <a:txBody>
                    <a:bodyPr/>
                    <a:lstStyle/>
                    <a:p>
                      <a:pPr algn="ctr"/>
                      <a:r>
                        <a:rPr sz="1050" b="1" i="0">
                          <a:solidFill>
                            <a:srgbClr val="1A2238"/>
                          </a:solidFill>
                          <a:latin typeface="Noto Sans CJK JP"/>
                        </a:rPr>
                        <a:t>ζα</a:t>
                      </a:r>
                    </a:p>
                  </a:txBody>
                  <a:tcPr marL="0" marR="0" marT="0" marB="0" anchor="ctr">
                    <a:solidFill>
                      <a:srgbClr val="FFFFFF"/>
                    </a:solidFill>
                  </a:tcPr>
                </a:tc>
                <a:tc>
                  <a:txBody>
                    <a:bodyPr/>
                    <a:lstStyle/>
                    <a:p>
                      <a:pPr algn="ctr"/>
                      <a:r>
                        <a:rPr sz="1050" b="0" i="0">
                          <a:solidFill>
                            <a:srgbClr val="0F9E8E"/>
                          </a:solidFill>
                          <a:latin typeface="Noto Sans CJK JP"/>
                        </a:rPr>
                        <a:t>&lt;-&gt;</a:t>
                      </a:r>
                    </a:p>
                  </a:txBody>
                  <a:tcPr marL="0" marR="0" marT="0" marB="0" anchor="ctr">
                    <a:solidFill>
                      <a:srgbClr val="FFFFFF"/>
                    </a:solidFill>
                  </a:tcPr>
                </a:tc>
                <a:tc>
                  <a:txBody>
                    <a:bodyPr/>
                    <a:lstStyle/>
                    <a:p>
                      <a:pPr algn="ctr"/>
                      <a:r>
                        <a:rPr sz="1050" b="1" i="0">
                          <a:solidFill>
                            <a:srgbClr val="1A2238"/>
                          </a:solidFill>
                          <a:latin typeface="Noto Sans CJK JP"/>
                        </a:rPr>
                        <a:t>gH</a:t>
                      </a:r>
                    </a:p>
                  </a:txBody>
                  <a:tcPr marL="0" marR="0" marT="0" marB="0" anchor="ctr">
                    <a:solidFill>
                      <a:srgbClr val="FFFFFF"/>
                    </a:solidFill>
                  </a:tcPr>
                </a:tc>
              </a:tr>
              <a:tr h="270000">
                <a:tc>
                  <a:txBody>
                    <a:bodyPr/>
                    <a:lstStyle/>
                    <a:p>
                      <a:pPr algn="ctr"/>
                      <a:r>
                        <a:rPr sz="1050" b="1" i="0">
                          <a:solidFill>
                            <a:srgbClr val="1A2238"/>
                          </a:solidFill>
                          <a:latin typeface="Noto Sans CJK JP"/>
                        </a:rPr>
                        <a:t>ζ²α</a:t>
                      </a:r>
                    </a:p>
                  </a:txBody>
                  <a:tcPr marL="0" marR="0" marT="0" marB="0" anchor="ctr">
                    <a:solidFill>
                      <a:srgbClr val="FFFFFF"/>
                    </a:solidFill>
                  </a:tcPr>
                </a:tc>
                <a:tc>
                  <a:txBody>
                    <a:bodyPr/>
                    <a:lstStyle/>
                    <a:p>
                      <a:pPr algn="ctr"/>
                      <a:r>
                        <a:rPr sz="1050" b="0" i="0">
                          <a:solidFill>
                            <a:srgbClr val="0F9E8E"/>
                          </a:solidFill>
                          <a:latin typeface="Noto Sans CJK JP"/>
                        </a:rPr>
                        <a:t>&lt;-&gt;</a:t>
                      </a:r>
                    </a:p>
                  </a:txBody>
                  <a:tcPr marL="0" marR="0" marT="0" marB="0" anchor="ctr">
                    <a:solidFill>
                      <a:srgbClr val="FFFFFF"/>
                    </a:solidFill>
                  </a:tcPr>
                </a:tc>
                <a:tc>
                  <a:txBody>
                    <a:bodyPr/>
                    <a:lstStyle/>
                    <a:p>
                      <a:pPr algn="ctr"/>
                      <a:r>
                        <a:rPr sz="1050" b="1" i="0">
                          <a:solidFill>
                            <a:srgbClr val="1A2238"/>
                          </a:solidFill>
                          <a:latin typeface="Noto Sans CJK JP"/>
                        </a:rPr>
                        <a:t>g²H</a:t>
                      </a:r>
                    </a:p>
                  </a:txBody>
                  <a:tcPr marL="0" marR="0" marT="0" marB="0" anchor="ctr">
                    <a:solidFill>
                      <a:srgbClr val="FFFFFF"/>
                    </a:solidFill>
                  </a:tcPr>
                </a:tc>
              </a:tr>
              <a:tr h="270000">
                <a:tc>
                  <a:txBody>
                    <a:bodyPr/>
                    <a:lstStyle/>
                    <a:p>
                      <a:pPr algn="ctr"/>
                      <a:r>
                        <a:rPr sz="1050" b="1" i="0">
                          <a:solidFill>
                            <a:srgbClr val="1A2238"/>
                          </a:solidFill>
                          <a:latin typeface="Noto Sans CJK JP"/>
                        </a:rPr>
                        <a:t>⋮</a:t>
                      </a:r>
                    </a:p>
                  </a:txBody>
                  <a:tcPr marL="0" marR="0" marT="0" marB="0" anchor="ctr">
                    <a:solidFill>
                      <a:srgbClr val="FFFFFF"/>
                    </a:solidFill>
                  </a:tcPr>
                </a:tc>
                <a:tc>
                  <a:txBody>
                    <a:bodyPr/>
                    <a:lstStyle/>
                    <a:p>
                      <a:pPr algn="ctr"/>
                      <a:r>
                        <a:rPr sz="1050" b="0" i="0">
                          <a:solidFill>
                            <a:srgbClr val="0F9E8E"/>
                          </a:solidFill>
                          <a:latin typeface="Noto Sans CJK JP"/>
                        </a:rPr>
                        <a:t>&lt;-&gt;</a:t>
                      </a:r>
                    </a:p>
                  </a:txBody>
                  <a:tcPr marL="0" marR="0" marT="0" marB="0" anchor="ctr">
                    <a:solidFill>
                      <a:srgbClr val="FFFFFF"/>
                    </a:solidFill>
                  </a:tcPr>
                </a:tc>
                <a:tc>
                  <a:txBody>
                    <a:bodyPr/>
                    <a:lstStyle/>
                    <a:p>
                      <a:pPr algn="ctr"/>
                      <a:r>
                        <a:rPr sz="1050" b="1" i="0">
                          <a:solidFill>
                            <a:srgbClr val="1A2238"/>
                          </a:solidFill>
                          <a:latin typeface="Noto Sans CJK JP"/>
                        </a:rPr>
                        <a:t>⋮</a:t>
                      </a:r>
                    </a:p>
                  </a:txBody>
                  <a:tcPr marL="0" marR="0" marT="0" marB="0" anchor="ctr">
                    <a:solidFill>
                      <a:srgbClr val="FFFFFF"/>
                    </a:solidFill>
                  </a:tcPr>
                </a:tc>
              </a:tr>
              <a:tr h="270000">
                <a:tc>
                  <a:txBody>
                    <a:bodyPr/>
                    <a:lstStyle/>
                    <a:p>
                      <a:pPr algn="ctr"/>
                      <a:r>
                        <a:rPr sz="1050" b="1" i="0">
                          <a:solidFill>
                            <a:srgbClr val="1A2238"/>
                          </a:solidFill>
                          <a:latin typeface="Noto Sans CJK JP"/>
                        </a:rPr>
                        <a:t>ζⁿ⁻¹α</a:t>
                      </a:r>
                    </a:p>
                  </a:txBody>
                  <a:tcPr marL="0" marR="0" marT="0" marB="0" anchor="ctr">
                    <a:solidFill>
                      <a:srgbClr val="FFFFFF"/>
                    </a:solidFill>
                  </a:tcPr>
                </a:tc>
                <a:tc>
                  <a:txBody>
                    <a:bodyPr/>
                    <a:lstStyle/>
                    <a:p>
                      <a:pPr algn="ctr"/>
                      <a:r>
                        <a:rPr sz="1050" b="0" i="0">
                          <a:solidFill>
                            <a:srgbClr val="0F9E8E"/>
                          </a:solidFill>
                          <a:latin typeface="Noto Sans CJK JP"/>
                        </a:rPr>
                        <a:t>&lt;-&gt;</a:t>
                      </a:r>
                    </a:p>
                  </a:txBody>
                  <a:tcPr marL="0" marR="0" marT="0" marB="0" anchor="ctr">
                    <a:solidFill>
                      <a:srgbClr val="FFFFFF"/>
                    </a:solidFill>
                  </a:tcPr>
                </a:tc>
                <a:tc>
                  <a:txBody>
                    <a:bodyPr/>
                    <a:lstStyle/>
                    <a:p>
                      <a:pPr algn="ctr"/>
                      <a:r>
                        <a:rPr sz="1050" b="1" i="0">
                          <a:solidFill>
                            <a:srgbClr val="1A2238"/>
                          </a:solidFill>
                          <a:latin typeface="Noto Sans CJK JP"/>
                        </a:rPr>
                        <a:t>gⁿ⁻¹H</a:t>
                      </a:r>
                    </a:p>
                  </a:txBody>
                  <a:tcPr marL="0" marR="0" marT="0" marB="0" anchor="ctr">
                    <a:solidFill>
                      <a:srgbClr val="FFFFFF"/>
                    </a:solidFill>
                  </a:tcPr>
                </a:tc>
              </a:tr>
            </a:tbl>
          </a:graphicData>
        </a:graphic>
      </p:graphicFrame>
      <p:sp>
        <p:nvSpPr>
          <p:cNvPr id="30" name="TextBox 29"/>
          <p:cNvSpPr txBox="1"/>
          <p:nvPr/>
        </p:nvSpPr>
        <p:spPr>
          <a:xfrm>
            <a:off x="5840080" y="2260000"/>
            <a:ext cx="2800000" cy="300000"/>
          </a:xfrm>
          <a:prstGeom prst="rect">
            <a:avLst/>
          </a:prstGeom>
          <a:noFill/>
        </p:spPr>
        <p:txBody>
          <a:bodyPr wrap="square" lIns="0" rIns="0" tIns="0" bIns="0" anchor="t">
            <a:spAutoFit/>
          </a:bodyPr>
          <a:lstStyle/>
          <a:p>
            <a:pPr algn="ctr"/>
            <a:r>
              <a:rPr sz="1250" b="1" i="0">
                <a:solidFill>
                  <a:srgbClr val="1A2238"/>
                </a:solidFill>
                <a:latin typeface="Noto Sans CJK JP"/>
              </a:rPr>
              <a:t>Cycling of the Quotient Group</a:t>
            </a:r>
          </a:p>
        </p:txBody>
      </p:sp>
      <p:cxnSp>
        <p:nvCxnSpPr>
          <p:cNvPr id="31" name="Connector 30"/>
          <p:cNvCxnSpPr/>
          <p:nvPr/>
        </p:nvCxnSpPr>
        <p:spPr>
          <a:xfrm>
            <a:off x="7391366" y="2999915"/>
            <a:ext cx="439251" cy="319135"/>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107861" y="2709696"/>
            <a:ext cx="1500000" cy="220000"/>
          </a:xfrm>
          <a:prstGeom prst="rect">
            <a:avLst/>
          </a:prstGeom>
          <a:noFill/>
        </p:spPr>
        <p:txBody>
          <a:bodyPr wrap="square" lIns="0" rIns="0" tIns="0" bIns="0" anchor="t">
            <a:spAutoFit/>
          </a:bodyPr>
          <a:lstStyle/>
          <a:p>
            <a:pPr algn="ctr"/>
            <a:r>
              <a:rPr sz="850" b="1" i="0">
                <a:solidFill>
                  <a:srgbClr val="0F9E8E"/>
                </a:solidFill>
                <a:latin typeface="Noto Sans CJK JP"/>
              </a:rPr>
              <a:t>advance by gH</a:t>
            </a:r>
          </a:p>
        </p:txBody>
      </p:sp>
      <p:cxnSp>
        <p:nvCxnSpPr>
          <p:cNvPr id="33" name="Connector 32"/>
          <p:cNvCxnSpPr/>
          <p:nvPr/>
        </p:nvCxnSpPr>
        <p:spPr>
          <a:xfrm flipH="1">
            <a:off x="7756338" y="3606814"/>
            <a:ext cx="167779" cy="516371"/>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968607" y="4301033"/>
            <a:ext cx="542945" cy="0"/>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6556042" y="3606814"/>
            <a:ext cx="167779" cy="516371"/>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6649542" y="2999915"/>
            <a:ext cx="439251" cy="319135"/>
          </a:xfrm>
          <a:prstGeom prst="line">
            <a:avLst/>
          </a:prstGeom>
          <a:ln w="13000">
            <a:solidFill>
              <a:srgbClr val="0F9E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7065080" y="2715000"/>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H</a:t>
            </a:r>
          </a:p>
        </p:txBody>
      </p:sp>
      <p:sp>
        <p:nvSpPr>
          <p:cNvPr id="38" name="Oval 37"/>
          <p:cNvSpPr/>
          <p:nvPr/>
        </p:nvSpPr>
        <p:spPr>
          <a:xfrm>
            <a:off x="7806904" y="3253966"/>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gH</a:t>
            </a:r>
          </a:p>
        </p:txBody>
      </p:sp>
      <p:sp>
        <p:nvSpPr>
          <p:cNvPr id="39" name="Oval 38"/>
          <p:cNvSpPr/>
          <p:nvPr/>
        </p:nvSpPr>
        <p:spPr>
          <a:xfrm>
            <a:off x="7523552" y="4126033"/>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g²H</a:t>
            </a:r>
          </a:p>
        </p:txBody>
      </p:sp>
      <p:sp>
        <p:nvSpPr>
          <p:cNvPr id="40" name="Oval 39"/>
          <p:cNvSpPr/>
          <p:nvPr/>
        </p:nvSpPr>
        <p:spPr>
          <a:xfrm>
            <a:off x="6606607" y="4126033"/>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a:t>
            </a:r>
          </a:p>
        </p:txBody>
      </p:sp>
      <p:sp>
        <p:nvSpPr>
          <p:cNvPr id="41" name="Oval 40"/>
          <p:cNvSpPr/>
          <p:nvPr/>
        </p:nvSpPr>
        <p:spPr>
          <a:xfrm>
            <a:off x="6323255" y="3253966"/>
            <a:ext cx="350000" cy="350000"/>
          </a:xfrm>
          <a:prstGeom prst="ellipse">
            <a:avLst/>
          </a:prstGeom>
          <a:solidFill>
            <a:srgbClr val="E5F5F2"/>
          </a:solidFill>
          <a:ln w="110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i="0">
                <a:solidFill>
                  <a:srgbClr val="1A2238"/>
                </a:solidFill>
                <a:latin typeface="Noto Sans CJK JP"/>
              </a:rPr>
              <a:t>gⁿ⁻¹H</a:t>
            </a:r>
          </a:p>
        </p:txBody>
      </p:sp>
      <p:sp>
        <p:nvSpPr>
          <p:cNvPr id="42" name="TextBox 41"/>
          <p:cNvSpPr txBox="1"/>
          <p:nvPr/>
        </p:nvSpPr>
        <p:spPr>
          <a:xfrm>
            <a:off x="5810080" y="4690000"/>
            <a:ext cx="2860000" cy="760000"/>
          </a:xfrm>
          <a:prstGeom prst="rect">
            <a:avLst/>
          </a:prstGeom>
          <a:noFill/>
        </p:spPr>
        <p:txBody>
          <a:bodyPr wrap="square" lIns="0" rIns="0" tIns="0" bIns="0" anchor="t">
            <a:spAutoFit/>
          </a:bodyPr>
          <a:lstStyle/>
          <a:p>
            <a:pPr algn="ctr">
              <a:lnSpc>
                <a:spcPct val="112000"/>
              </a:lnSpc>
            </a:pPr>
            <a:r>
              <a:rPr sz="1100" b="1" i="0">
                <a:solidFill>
                  <a:srgbClr val="3457A6"/>
                </a:solidFill>
                <a:latin typeface="Noto Sans CJK JP"/>
              </a:rPr>
              <a:t>G/H = &lt;gH&gt; ≅ Cₙ</a:t>
            </a:r>
          </a:p>
          <a:p>
            <a:pPr algn="ctr">
              <a:lnSpc>
                <a:spcPct val="112000"/>
              </a:lnSpc>
            </a:pPr>
            <a:r>
              <a:rPr sz="900" b="0" i="0">
                <a:solidFill>
                  <a:srgbClr val="6B7180"/>
                </a:solidFill>
                <a:latin typeface="Noto Sans CJK JP"/>
              </a:rPr>
              <a:t>(G = Gal(L/M), H = {id})</a:t>
            </a:r>
          </a:p>
        </p:txBody>
      </p:sp>
      <p:sp>
        <p:nvSpPr>
          <p:cNvPr id="43" name="TextBox 42"/>
          <p:cNvSpPr txBox="1"/>
          <p:nvPr/>
        </p:nvSpPr>
        <p:spPr>
          <a:xfrm>
            <a:off x="8930080" y="2260000"/>
            <a:ext cx="2592800" cy="620000"/>
          </a:xfrm>
          <a:prstGeom prst="rect">
            <a:avLst/>
          </a:prstGeom>
          <a:noFill/>
        </p:spPr>
        <p:txBody>
          <a:bodyPr wrap="square" lIns="0" rIns="0" tIns="0" bIns="0" anchor="t">
            <a:spAutoFit/>
          </a:bodyPr>
          <a:lstStyle/>
          <a:p>
            <a:pPr algn="ctr"/>
            <a:r>
              <a:rPr sz="1200" b="1" i="0">
                <a:solidFill>
                  <a:srgbClr val="1A2238"/>
                </a:solidFill>
                <a:latin typeface="Noto Sans CJK JP"/>
              </a:rPr>
              <a:t>What Is the 1-to-1 Correspondence, Exactly?</a:t>
            </a:r>
          </a:p>
        </p:txBody>
      </p:sp>
      <p:sp>
        <p:nvSpPr>
          <p:cNvPr id="44" name="TextBox 43"/>
          <p:cNvSpPr txBox="1"/>
          <p:nvPr/>
        </p:nvSpPr>
        <p:spPr>
          <a:xfrm>
            <a:off x="8940080" y="3020000"/>
            <a:ext cx="2572800" cy="700000"/>
          </a:xfrm>
          <a:prstGeom prst="rect">
            <a:avLst/>
          </a:prstGeom>
          <a:noFill/>
        </p:spPr>
        <p:txBody>
          <a:bodyPr wrap="square" lIns="0" rIns="0" tIns="0" bIns="0" anchor="t">
            <a:spAutoFit/>
          </a:bodyPr>
          <a:lstStyle/>
          <a:p>
            <a:pPr algn="ctr">
              <a:lnSpc>
                <a:spcPct val="118000"/>
              </a:lnSpc>
            </a:pPr>
            <a:r>
              <a:rPr sz="1050" b="0" i="0">
                <a:solidFill>
                  <a:srgbClr val="33384A"/>
                </a:solidFill>
                <a:latin typeface="Noto Sans CJK JP"/>
              </a:rPr>
              <a:t>The coset gᵏH corresponds to</a:t>
            </a:r>
          </a:p>
          <a:p>
            <a:pPr algn="ctr">
              <a:lnSpc>
                <a:spcPct val="118000"/>
              </a:lnSpc>
            </a:pPr>
            <a:r>
              <a:rPr sz="1050" b="0" i="0">
                <a:solidFill>
                  <a:srgbClr val="33384A"/>
                </a:solidFill>
                <a:latin typeface="Noto Sans CJK JP"/>
              </a:rPr>
              <a:t>α's image ζᵏα</a:t>
            </a:r>
          </a:p>
        </p:txBody>
      </p:sp>
      <p:sp>
        <p:nvSpPr>
          <p:cNvPr id="45" name="Rounded Rectangle 44"/>
          <p:cNvSpPr/>
          <p:nvPr/>
        </p:nvSpPr>
        <p:spPr>
          <a:xfrm>
            <a:off x="8940080" y="3720000"/>
            <a:ext cx="2572800" cy="500000"/>
          </a:xfrm>
          <a:prstGeom prst="roundRect">
            <a:avLst>
              <a:gd name="adj" fmla="val 18000"/>
            </a:avLst>
          </a:prstGeom>
          <a:solidFill>
            <a:srgbClr val="E5F5F2"/>
          </a:solidFill>
          <a:ln w="12700">
            <a:solidFill>
              <a:srgbClr val="0F9E8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i="0">
                <a:solidFill>
                  <a:srgbClr val="3457A6"/>
                </a:solidFill>
                <a:latin typeface="Noto Sans CJK JP"/>
              </a:rPr>
              <a:t>(gᵏH)(α) = ζᵏα</a:t>
            </a:r>
          </a:p>
        </p:txBody>
      </p:sp>
      <p:sp>
        <p:nvSpPr>
          <p:cNvPr id="46" name="Rectangle 45"/>
          <p:cNvSpPr/>
          <p:nvPr/>
        </p:nvSpPr>
        <p:spPr>
          <a:xfrm>
            <a:off x="640080" y="5540950"/>
            <a:ext cx="64008" cy="851034"/>
          </a:xfrm>
          <a:prstGeom prst="rect">
            <a:avLst/>
          </a:prstGeom>
          <a:solidFill>
            <a:srgbClr val="1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640080" y="5540950"/>
            <a:ext cx="8600000" cy="851034"/>
          </a:xfrm>
          <a:prstGeom prst="roundRect">
            <a:avLst>
              <a:gd name="adj" fmla="val 6000"/>
            </a:avLst>
          </a:prstGeom>
          <a:solidFill>
            <a:srgbClr val="E5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40080" y="5540950"/>
            <a:ext cx="64008" cy="851034"/>
          </a:xfrm>
          <a:prstGeom prst="rect">
            <a:avLst/>
          </a:prstGeom>
          <a:solidFill>
            <a:srgbClr val="1A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0080" y="5565950"/>
            <a:ext cx="8300000" cy="801034"/>
          </a:xfrm>
          <a:prstGeom prst="rect">
            <a:avLst/>
          </a:prstGeom>
          <a:noFill/>
        </p:spPr>
        <p:txBody>
          <a:bodyPr wrap="square" lIns="0" rIns="0" tIns="0" bIns="0" anchor="t">
            <a:spAutoFit/>
          </a:bodyPr>
          <a:lstStyle/>
          <a:p>
            <a:pPr algn="l">
              <a:lnSpc>
                <a:spcPct val="105000"/>
              </a:lnSpc>
            </a:pPr>
            <a:r>
              <a:rPr sz="1050" b="1" i="0">
                <a:solidFill>
                  <a:srgbClr val="1A2238"/>
                </a:solidFill>
                <a:latin typeface="Noto Sans CJK JP"/>
              </a:rPr>
              <a:t>Summary:</a:t>
            </a:r>
          </a:p>
          <a:p>
            <a:pPr algn="l">
              <a:lnSpc>
                <a:spcPct val="105000"/>
              </a:lnSpc>
            </a:pPr>
            <a:r>
              <a:rPr sz="1000" b="1" i="0">
                <a:solidFill>
                  <a:srgbClr val="33384A"/>
                </a:solidFill>
                <a:latin typeface="Noto Sans CJK JP"/>
              </a:rPr>
              <a:t>① The generator σ: α↦ζα cycles the conjugates.</a:t>
            </a:r>
          </a:p>
          <a:p>
            <a:pPr algn="l">
              <a:lnSpc>
                <a:spcPct val="105000"/>
              </a:lnSpc>
            </a:pPr>
            <a:r>
              <a:rPr sz="1000" b="1" i="0">
                <a:solidFill>
                  <a:srgbClr val="33384A"/>
                </a:solidFill>
                <a:latin typeface="Noto Sans CJK JP"/>
              </a:rPr>
              <a:t>② The generator gH cycles the quotient group G/H.</a:t>
            </a:r>
          </a:p>
          <a:p>
            <a:pPr algn="l">
              <a:lnSpc>
                <a:spcPct val="105000"/>
              </a:lnSpc>
            </a:pPr>
            <a:r>
              <a:rPr sz="1000" b="1" i="0">
                <a:solidFill>
                  <a:srgbClr val="33384A"/>
                </a:solidFill>
                <a:latin typeface="Noto Sans CJK JP"/>
              </a:rPr>
              <a:t>③ Its k-th power sends α to ζᵏα — the same cyclic structure appears both ways.</a:t>
            </a:r>
          </a:p>
        </p:txBody>
      </p:sp>
      <p:sp>
        <p:nvSpPr>
          <p:cNvPr id="50" name="TextBox 49"/>
          <p:cNvSpPr txBox="1"/>
          <p:nvPr/>
        </p:nvSpPr>
        <p:spPr>
          <a:xfrm>
            <a:off x="11338560" y="6355080"/>
            <a:ext cx="457200" cy="274320"/>
          </a:xfrm>
          <a:prstGeom prst="rect">
            <a:avLst/>
          </a:prstGeom>
          <a:noFill/>
        </p:spPr>
        <p:txBody>
          <a:bodyPr wrap="square" lIns="0" rIns="0" tIns="0" bIns="0" anchor="ctr">
            <a:spAutoFit/>
          </a:bodyPr>
          <a:lstStyle/>
          <a:p>
            <a:pPr algn="r"/>
            <a:r>
              <a:rPr sz="1100" b="0" i="0">
                <a:solidFill>
                  <a:srgbClr val="6B7180"/>
                </a:solidFill>
                <a:latin typeface="Noto Sans CJK JP"/>
              </a:rPr>
              <a:t>15</a:t>
            </a:r>
          </a:p>
        </p:txBody>
      </p:sp>
      <p:sp>
        <p:nvSpPr>
          <p:cNvPr id="51" name="TextBox 50"/>
          <p:cNvSpPr txBox="1"/>
          <p:nvPr/>
        </p:nvSpPr>
        <p:spPr>
          <a:xfrm>
            <a:off x="457200" y="6355080"/>
            <a:ext cx="4572000" cy="274320"/>
          </a:xfrm>
          <a:prstGeom prst="rect">
            <a:avLst/>
          </a:prstGeom>
          <a:noFill/>
        </p:spPr>
        <p:txBody>
          <a:bodyPr wrap="square" lIns="0" rIns="0" tIns="0" bIns="0" anchor="ctr">
            <a:spAutoFit/>
          </a:bodyPr>
          <a:lstStyle/>
          <a:p>
            <a:pPr algn="l"/>
            <a:r>
              <a:rPr sz="1000" b="0" i="0">
                <a:solidFill>
                  <a:srgbClr val="6B7180"/>
                </a:solidFill>
                <a:latin typeface="Noto Sans CJK JP"/>
              </a:rPr>
              <a:t>5garashi.com Design Office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502920"/>
            <a:ext cx="146304" cy="146304"/>
          </a:xfrm>
          <a:prstGeom prst="ellipse">
            <a:avLst/>
          </a:prstGeom>
          <a:solidFill>
            <a:srgbClr val="0F9E8E"/>
          </a:solidFill>
          <a:ln/>
        </p:spPr>
        <p:txBody>
          <a:bodyPr/>
          <a:p/>
        </p:txBody>
      </p:sp>
      <p:sp>
        <p:nvSpPr>
          <p:cNvPr id="3" name="Text 1"/>
          <p:cNvSpPr/>
          <p:nvPr/>
        </p:nvSpPr>
        <p:spPr>
          <a:xfrm>
            <a:off x="896112" y="393192"/>
            <a:ext cx="5486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Appendix 2</a:t>
            </a:r>
            <a:endParaRPr lang="en-US" sz="1600" dirty="0"/>
          </a:p>
        </p:txBody>
      </p:sp>
      <p:sp>
        <p:nvSpPr>
          <p:cNvPr id="4" name="Text 2"/>
          <p:cNvSpPr/>
          <p:nvPr/>
        </p:nvSpPr>
        <p:spPr>
          <a:xfrm>
            <a:off x="640080" y="822960"/>
            <a:ext cx="10972800" cy="640080"/>
          </a:xfrm>
          <a:prstGeom prst="rect">
            <a:avLst/>
          </a:prstGeom>
          <a:noFill/>
          <a:ln/>
        </p:spPr>
        <p:txBody>
          <a:bodyPr wrap="square" lIns="0" tIns="0" rIns="0" bIns="0" rtlCol="0" anchor="ctr"/>
          <a:lstStyle/>
          <a:p>
            <a:pPr marL="0" indent="0">
              <a:buNone/>
            </a:pPr>
            <a:r>
              <a:rPr lang="en-US" sz="2800" b="1" dirty="0">
                <a:solidFill>
                  <a:srgbClr val="1A2238"/>
                </a:solidFill>
                <a:latin typeface="Noto Sans CJK JP" pitchFamily="34" charset="0"/>
                <a:ea typeface="Noto Sans CJK JP"/>
                <a:cs typeface="Noto Sans CJK JP" pitchFamily="34" charset="-120"/>
              </a:rPr>
              <a:t>The shrinking chain for x³−2 and the solvability conclusion</a:t>
            </a:r>
            <a:endParaRPr lang="en-US" sz="2800" dirty="0"/>
          </a:p>
        </p:txBody>
      </p:sp>
      <p:sp>
        <p:nvSpPr>
          <p:cNvPr id="5" name="Text 3"/>
          <p:cNvSpPr/>
          <p:nvPr/>
        </p:nvSpPr>
        <p:spPr>
          <a:xfrm>
            <a:off x="640080" y="1554480"/>
            <a:ext cx="10058400" cy="365760"/>
          </a:xfrm>
          <a:prstGeom prst="rect">
            <a:avLst/>
          </a:prstGeom>
          <a:noFill/>
          <a:ln/>
        </p:spPr>
        <p:txBody>
          <a:bodyPr wrap="square" lIns="0" tIns="0" rIns="0" bIns="0" rtlCol="0" anchor="ctr"/>
          <a:lstStyle/>
          <a:p>
            <a:pPr marL="0" indent="0">
              <a:buNone/>
            </a:pPr>
            <a:r>
              <a:rPr lang="en-US" sz="1600" b="1" dirty="0">
                <a:solidFill>
                  <a:srgbClr val="0F9E8E"/>
                </a:solidFill>
                <a:latin typeface="Noto Sans CJK JP" pitchFamily="34" charset="0"/>
                <a:ea typeface="Noto Sans CJK JP"/>
                <a:cs typeface="Noto Sans CJK JP" pitchFamily="34" charset="-120"/>
              </a:rPr>
              <a:t>Two steps to solve x³−2=0</a:t>
            </a:r>
            <a:endParaRPr lang="en-US" sz="1600" dirty="0"/>
          </a:p>
        </p:txBody>
      </p:sp>
      <p:sp>
        <p:nvSpPr>
          <p:cNvPr id="6" name="Shape 4"/>
          <p:cNvSpPr/>
          <p:nvPr/>
        </p:nvSpPr>
        <p:spPr>
          <a:xfrm>
            <a:off x="640080" y="1965960"/>
            <a:ext cx="5303520" cy="1371600"/>
          </a:xfrm>
          <a:prstGeom prst="roundRect">
            <a:avLst>
              <a:gd name="adj" fmla="val 5333"/>
            </a:avLst>
          </a:prstGeom>
          <a:solidFill>
            <a:srgbClr val="E5F5F2"/>
          </a:solidFill>
          <a:ln w="12700">
            <a:solidFill>
              <a:srgbClr val="0F9E8E"/>
            </a:solidFill>
            <a:prstDash val="solid"/>
          </a:ln>
        </p:spPr>
        <p:txBody>
          <a:bodyPr/>
          <a:p/>
        </p:txBody>
      </p:sp>
      <p:sp>
        <p:nvSpPr>
          <p:cNvPr id="7" name="Text 5"/>
          <p:cNvSpPr/>
          <p:nvPr/>
        </p:nvSpPr>
        <p:spPr>
          <a:xfrm>
            <a:off x="868680" y="2075688"/>
            <a:ext cx="4846320" cy="365760"/>
          </a:xfrm>
          <a:prstGeom prst="rect">
            <a:avLst/>
          </a:prstGeom>
          <a:noFill/>
          <a:ln/>
        </p:spPr>
        <p:txBody>
          <a:bodyPr wrap="square" lIns="0" tIns="0" rIns="0" bIns="0" rtlCol="0" anchor="ctr"/>
          <a:lstStyle/>
          <a:p>
            <a:pPr marL="0" indent="0">
              <a:buNone/>
            </a:pPr>
            <a:r>
              <a:rPr lang="en-US" sz="1600" b="1" dirty="0">
                <a:solidFill>
                  <a:srgbClr val="1A2238"/>
                </a:solidFill>
                <a:latin typeface="Noto Sans CJK JP" pitchFamily="34" charset="0"/>
                <a:ea typeface="Noto Sans CJK JP"/>
                <a:cs typeface="Noto Sans CJK JP" pitchFamily="34" charset="-120"/>
              </a:rPr>
              <a:t>STEP 1: adjoin ω</a:t>
            </a:r>
            <a:endParaRPr lang="en-US" sz="1600" dirty="0"/>
          </a:p>
        </p:txBody>
      </p:sp>
      <p:sp>
        <p:nvSpPr>
          <p:cNvPr id="8" name="Text 6"/>
          <p:cNvSpPr/>
          <p:nvPr/>
        </p:nvSpPr>
        <p:spPr>
          <a:xfrm>
            <a:off x="868680" y="2450592"/>
            <a:ext cx="4937760" cy="868680"/>
          </a:xfrm>
          <a:prstGeom prst="rect">
            <a:avLst/>
          </a:prstGeom>
          <a:noFill/>
          <a:ln/>
        </p:spPr>
        <p:txBody>
          <a:bodyPr wrap="square" lIns="0" tIns="0" rIns="0" bIns="0" rtlCol="0" anchor="t"/>
          <a:lstStyle/>
          <a:p>
            <a:pPr marL="0" indent="0">
              <a:lnSpc>
                <a:spcPct val="120000"/>
              </a:lnSpc>
              <a:buNone/>
            </a:pPr>
            <a:r>
              <a:rPr lang="en-US" sz="1300" dirty="0">
                <a:solidFill>
                  <a:srgbClr val="33384A"/>
                </a:solidFill>
                <a:latin typeface="Noto Sans CJK JP" pitchFamily="34" charset="0"/>
                <a:ea typeface="Noto Sans CJK JP"/>
                <a:cs typeface="Noto Sans CJK JP" pitchFamily="34" charset="-120"/>
              </a:rPr>
              <a:t>field: Q → L = Q(ω)</a:t>
            </a:r>
            <a:endParaRPr lang="en-US" sz="1300" dirty="0"/>
          </a:p>
          <a:p>
            <a:pPr marL="0" indent="0">
              <a:lnSpc>
                <a:spcPct val="120000"/>
              </a:lnSpc>
              <a:buNone/>
            </a:pPr>
            <a:r>
              <a:rPr lang="en-US" sz="1300" dirty="0">
                <a:solidFill>
                  <a:srgbClr val="33384A"/>
                </a:solidFill>
                <a:latin typeface="Noto Sans CJK JP" pitchFamily="34" charset="0"/>
                <a:ea typeface="Noto Sans CJK JP"/>
                <a:cs typeface="Noto Sans CJK JP" pitchFamily="34" charset="-120"/>
              </a:rPr>
              <a:t>group: S₃ → A₃ (order 3)</a:t>
            </a:r>
            <a:endParaRPr lang="en-US" sz="1300" dirty="0"/>
          </a:p>
          <a:p>
            <a:pPr marL="0" indent="0">
              <a:lnSpc>
                <a:spcPct val="120000"/>
              </a:lnSpc>
              <a:buNone/>
            </a:pPr>
            <a:r>
              <a:rPr lang="en-US" sz="1300" dirty="0">
                <a:solidFill>
                  <a:srgbClr val="3457A6"/>
                </a:solidFill>
                <a:latin typeface="Noto Sans CJK JP" pitchFamily="34" charset="0"/>
                <a:ea typeface="Noto Sans CJK JP"/>
                <a:cs typeface="Noto Sans CJK JP" pitchFamily="34" charset="-120"/>
              </a:rPr>
              <a:t>quotient order 2 = square root (√−3)</a:t>
            </a:r>
            <a:endParaRPr lang="en-US" sz="1300" dirty="0"/>
          </a:p>
        </p:txBody>
      </p:sp>
      <p:sp>
        <p:nvSpPr>
          <p:cNvPr id="9" name="Shape 7"/>
          <p:cNvSpPr/>
          <p:nvPr/>
        </p:nvSpPr>
        <p:spPr>
          <a:xfrm>
            <a:off x="6217920" y="1965960"/>
            <a:ext cx="5303520" cy="1371600"/>
          </a:xfrm>
          <a:prstGeom prst="roundRect">
            <a:avLst>
              <a:gd name="adj" fmla="val 5333"/>
            </a:avLst>
          </a:prstGeom>
          <a:solidFill>
            <a:srgbClr val="E5F5F2"/>
          </a:solidFill>
          <a:ln w="12700">
            <a:solidFill>
              <a:srgbClr val="0F9E8E"/>
            </a:solidFill>
            <a:prstDash val="solid"/>
          </a:ln>
        </p:spPr>
        <p:txBody>
          <a:bodyPr/>
          <a:p/>
        </p:txBody>
      </p:sp>
      <p:sp>
        <p:nvSpPr>
          <p:cNvPr id="10" name="Text 8"/>
          <p:cNvSpPr/>
          <p:nvPr/>
        </p:nvSpPr>
        <p:spPr>
          <a:xfrm>
            <a:off x="6446520" y="2075688"/>
            <a:ext cx="4846320" cy="365760"/>
          </a:xfrm>
          <a:prstGeom prst="rect">
            <a:avLst/>
          </a:prstGeom>
          <a:noFill/>
          <a:ln/>
        </p:spPr>
        <p:txBody>
          <a:bodyPr wrap="square" lIns="0" tIns="0" rIns="0" bIns="0" rtlCol="0" anchor="ctr"/>
          <a:lstStyle/>
          <a:p>
            <a:pPr marL="0" indent="0">
              <a:buNone/>
            </a:pPr>
            <a:r>
              <a:rPr lang="en-US" sz="1600" b="1" dirty="0">
                <a:solidFill>
                  <a:srgbClr val="1A2238"/>
                </a:solidFill>
                <a:latin typeface="Noto Sans CJK JP" pitchFamily="34" charset="0"/>
                <a:ea typeface="Noto Sans CJK JP"/>
                <a:cs typeface="Noto Sans CJK JP" pitchFamily="34" charset="-120"/>
              </a:rPr>
              <a:t>STEP 2: adjoin ³√2</a:t>
            </a:r>
            <a:endParaRPr lang="en-US" sz="1600" dirty="0"/>
          </a:p>
        </p:txBody>
      </p:sp>
      <p:sp>
        <p:nvSpPr>
          <p:cNvPr id="11" name="Text 9"/>
          <p:cNvSpPr/>
          <p:nvPr/>
        </p:nvSpPr>
        <p:spPr>
          <a:xfrm>
            <a:off x="6446520" y="2450592"/>
            <a:ext cx="4937760" cy="868680"/>
          </a:xfrm>
          <a:prstGeom prst="rect">
            <a:avLst/>
          </a:prstGeom>
          <a:noFill/>
          <a:ln/>
        </p:spPr>
        <p:txBody>
          <a:bodyPr wrap="square" lIns="0" tIns="0" rIns="0" bIns="0" rtlCol="0" anchor="t"/>
          <a:lstStyle/>
          <a:p>
            <a:pPr marL="0" indent="0">
              <a:lnSpc>
                <a:spcPct val="120000"/>
              </a:lnSpc>
              <a:buNone/>
            </a:pPr>
            <a:r>
              <a:rPr lang="en-US" sz="1300" dirty="0">
                <a:solidFill>
                  <a:srgbClr val="33384A"/>
                </a:solidFill>
                <a:latin typeface="Noto Sans CJK JP" pitchFamily="34" charset="0"/>
                <a:ea typeface="Noto Sans CJK JP"/>
                <a:cs typeface="Noto Sans CJK JP" pitchFamily="34" charset="-120"/>
              </a:rPr>
              <a:t>field: L → K = Q(ω, ³√2)</a:t>
            </a:r>
            <a:endParaRPr lang="en-US" sz="1300" dirty="0"/>
          </a:p>
          <a:p>
            <a:pPr marL="0" indent="0">
              <a:lnSpc>
                <a:spcPct val="120000"/>
              </a:lnSpc>
              <a:buNone/>
            </a:pPr>
            <a:r>
              <a:rPr lang="en-US" sz="1300" dirty="0">
                <a:solidFill>
                  <a:srgbClr val="33384A"/>
                </a:solidFill>
                <a:latin typeface="Noto Sans CJK JP" pitchFamily="34" charset="0"/>
                <a:ea typeface="Noto Sans CJK JP"/>
                <a:cs typeface="Noto Sans CJK JP" pitchFamily="34" charset="-120"/>
              </a:rPr>
              <a:t>group: A₃ → { e }</a:t>
            </a:r>
            <a:endParaRPr lang="en-US" sz="1300" dirty="0"/>
          </a:p>
          <a:p>
            <a:pPr marL="0" indent="0">
              <a:lnSpc>
                <a:spcPct val="120000"/>
              </a:lnSpc>
              <a:buNone/>
            </a:pPr>
            <a:r>
              <a:rPr lang="en-US" sz="1300" dirty="0">
                <a:solidFill>
                  <a:srgbClr val="3457A6"/>
                </a:solidFill>
                <a:latin typeface="Noto Sans CJK JP" pitchFamily="34" charset="0"/>
                <a:ea typeface="Noto Sans CJK JP"/>
                <a:cs typeface="Noto Sans CJK JP" pitchFamily="34" charset="-120"/>
              </a:rPr>
              <a:t>quotient order 3 = cube root</a:t>
            </a:r>
            <a:endParaRPr lang="en-US" sz="1300" dirty="0"/>
          </a:p>
        </p:txBody>
      </p:sp>
      <p:sp>
        <p:nvSpPr>
          <p:cNvPr id="12" name="Text 10"/>
          <p:cNvSpPr/>
          <p:nvPr/>
        </p:nvSpPr>
        <p:spPr>
          <a:xfrm>
            <a:off x="640080" y="3474720"/>
            <a:ext cx="10881360" cy="365760"/>
          </a:xfrm>
          <a:prstGeom prst="rect">
            <a:avLst/>
          </a:prstGeom>
          <a:noFill/>
          <a:ln/>
        </p:spPr>
        <p:txBody>
          <a:bodyPr wrap="square" lIns="0" tIns="0" rIns="0" bIns="0" rtlCol="0" anchor="ctr"/>
          <a:lstStyle/>
          <a:p>
            <a:pPr marL="0" indent="0">
              <a:buNone/>
            </a:pPr>
            <a:r>
              <a:rPr lang="en-US" sz="1400" i="1" dirty="0">
                <a:solidFill>
                  <a:srgbClr val="6B7180"/>
                </a:solidFill>
                <a:latin typeface="Noto Sans CJK JP" pitchFamily="34" charset="0"/>
                <a:ea typeface="Noto Sans CJK JP"/>
                <a:cs typeface="Noto Sans CJK JP" pitchFamily="34" charset="-120"/>
              </a:rPr>
              <a:t>Once the group shrinks to { e }, no unknowns remain and the adjoined elements express the roots.</a:t>
            </a:r>
            <a:endParaRPr lang="en-US" sz="1400" dirty="0"/>
          </a:p>
        </p:txBody>
      </p:sp>
      <p:sp>
        <p:nvSpPr>
          <p:cNvPr id="13" name="Shape 11"/>
          <p:cNvSpPr/>
          <p:nvPr/>
        </p:nvSpPr>
        <p:spPr>
          <a:xfrm>
            <a:off x="640080" y="4023360"/>
            <a:ext cx="64008" cy="2011680"/>
          </a:xfrm>
          <a:prstGeom prst="rect">
            <a:avLst/>
          </a:prstGeom>
          <a:solidFill>
            <a:srgbClr val="1A2238"/>
          </a:solidFill>
          <a:ln/>
        </p:spPr>
        <p:txBody>
          <a:bodyPr/>
          <a:p/>
        </p:txBody>
      </p:sp>
      <p:sp>
        <p:nvSpPr>
          <p:cNvPr id="14" name="Text 12"/>
          <p:cNvSpPr/>
          <p:nvPr/>
        </p:nvSpPr>
        <p:spPr>
          <a:xfrm>
            <a:off x="868680" y="3977640"/>
            <a:ext cx="10058400" cy="365760"/>
          </a:xfrm>
          <a:prstGeom prst="rect">
            <a:avLst/>
          </a:prstGeom>
          <a:noFill/>
          <a:ln/>
        </p:spPr>
        <p:txBody>
          <a:bodyPr wrap="square" lIns="0" tIns="0" rIns="0" bIns="0" rtlCol="0" anchor="ctr"/>
          <a:lstStyle/>
          <a:p>
            <a:pPr marL="0" indent="0">
              <a:buNone/>
            </a:pPr>
            <a:r>
              <a:rPr lang="en-US" sz="1600" b="1" dirty="0">
                <a:solidFill>
                  <a:srgbClr val="1A2238"/>
                </a:solidFill>
                <a:latin typeface="Noto Sans CJK JP" pitchFamily="34" charset="0"/>
                <a:ea typeface="Noto Sans CJK JP"/>
                <a:cs typeface="Noto Sans CJK JP" pitchFamily="34" charset="-120"/>
              </a:rPr>
              <a:t>Generalization: what "solvable by radicals" means</a:t>
            </a:r>
            <a:endParaRPr lang="en-US" sz="1600" dirty="0"/>
          </a:p>
        </p:txBody>
      </p:sp>
      <p:sp>
        <p:nvSpPr>
          <p:cNvPr id="15" name="Text 13"/>
          <p:cNvSpPr/>
          <p:nvPr/>
        </p:nvSpPr>
        <p:spPr>
          <a:xfrm>
            <a:off x="868680" y="4370832"/>
            <a:ext cx="10607040" cy="1828800"/>
          </a:xfrm>
          <a:prstGeom prst="rect">
            <a:avLst/>
          </a:prstGeom>
          <a:noFill/>
          <a:ln/>
        </p:spPr>
        <p:txBody>
          <a:bodyPr wrap="square" lIns="0" tIns="0" rIns="0" bIns="0" rtlCol="0" anchor="ctr"/>
          <a:lstStyle/>
          <a:p>
            <a:pPr marL="0" indent="0">
              <a:lnSpc>
                <a:spcPct val="125000"/>
              </a:lnSpc>
              <a:buNone/>
            </a:pPr>
            <a:r>
              <a:rPr lang="en-US" sz="1400" dirty="0">
                <a:solidFill>
                  <a:srgbClr val="33384A"/>
                </a:solidFill>
                <a:latin typeface="Noto Sans CJK JP" pitchFamily="34" charset="0"/>
                <a:ea typeface="Noto Sans CJK JP"/>
                <a:cs typeface="Noto Sans CJK JP" pitchFamily="34" charset="-120"/>
              </a:rPr>
              <a:t>At each step, the quotient of the larger group by the smaller (normal) subgroup must be cyclic. The order of that cyclic group equals the index of the radical adjoined at that step.</a:t>
            </a:r>
            <a:endParaRPr lang="en-US" sz="1400" dirty="0"/>
          </a:p>
          <a:p>
            <a:pPr marL="0" indent="0">
              <a:lnSpc>
                <a:spcPct val="125000"/>
              </a:lnSpc>
              <a:buNone/>
            </a:pPr>
            <a:r>
              <a:rPr lang="en-US" sz="1400" dirty="0">
                <a:solidFill>
                  <a:srgbClr val="33384A"/>
                </a:solidFill>
                <a:latin typeface="Noto Sans CJK JP" pitchFamily="34" charset="0"/>
                <a:ea typeface="Noto Sans CJK JP"/>
                <a:cs typeface="Noto Sans CJK JP" pitchFamily="34" charset="-120"/>
              </a:rPr>
              <a:t>Being solvable by radicals means this shrinking-and-growing repeats until the group reaches { e } and the field K reaches the splitting field.</a:t>
            </a:r>
            <a:endParaRPr lang="en-US" sz="1400" dirty="0"/>
          </a:p>
          <a:p>
            <a:pPr marL="0" indent="0">
              <a:lnSpc>
                <a:spcPct val="125000"/>
              </a:lnSpc>
              <a:buNone/>
            </a:pPr>
            <a:r>
              <a:rPr lang="en-US" sz="1400" b="1" dirty="0">
                <a:solidFill>
                  <a:srgbClr val="D8593A"/>
                </a:solidFill>
                <a:latin typeface="Noto Sans CJK JP" pitchFamily="34" charset="0"/>
                <a:ea typeface="Noto Sans CJK JP"/>
                <a:cs typeface="Noto Sans CJK JP" pitchFamily="34" charset="-120"/>
              </a:rPr>
              <a:t>Up to degree 4, such a chain exists for any coefficients, so all are solvable by radicals. From degree 5 up, some equations have no such chain; those that cannot reach { e } are not solvable by radicals.</a:t>
            </a:r>
            <a:endParaRPr lang="en-US" sz="1400" dirty="0"/>
          </a:p>
        </p:txBody>
      </p:sp>
      <p:sp>
        <p:nvSpPr>
          <p:cNvPr id="16" name="Text 14"/>
          <p:cNvSpPr/>
          <p:nvPr/>
        </p:nvSpPr>
        <p:spPr>
          <a:xfrm>
            <a:off x="11338560" y="6355080"/>
            <a:ext cx="457200" cy="274320"/>
          </a:xfrm>
          <a:prstGeom prst="rect">
            <a:avLst/>
          </a:prstGeom>
          <a:noFill/>
          <a:ln/>
        </p:spPr>
        <p:txBody>
          <a:bodyPr wrap="square" lIns="0" tIns="0" rIns="0" bIns="0" rtlCol="0" anchor="ctr"/>
          <a:lstStyle/>
          <a:p>
            <a:pPr marL="0" indent="0" algn="r">
              <a:buNone/>
            </a:pPr>
            <a:r>
              <a:rPr lang="en-US" sz="1100" dirty="0">
                <a:solidFill>
                  <a:srgbClr val="6B7180"/>
                </a:solidFill>
                <a:latin typeface="Noto Sans CJK JP" pitchFamily="34" charset="0"/>
                <a:ea typeface="Noto Sans CJK JP"/>
                <a:cs typeface="Noto Sans CJK JP" pitchFamily="34" charset="-120"/>
              </a:rPr>
              <a:t>16</a:t>
            </a:r>
            <a:endParaRPr lang="en-US" sz="1100" dirty="0"/>
          </a:p>
        </p:txBody>
      </p:sp>
      <p:sp>
        <p:nvSpPr>
          <p:cNvPr id="17" name="Text 15"/>
          <p:cNvSpPr/>
          <p:nvPr/>
        </p:nvSpPr>
        <p:spPr>
          <a:xfrm>
            <a:off x="457200" y="6355080"/>
            <a:ext cx="4572000" cy="274320"/>
          </a:xfrm>
          <a:prstGeom prst="rect">
            <a:avLst/>
          </a:prstGeom>
          <a:noFill/>
          <a:ln/>
        </p:spPr>
        <p:txBody>
          <a:bodyPr wrap="square" lIns="0" tIns="0" rIns="0" bIns="0" rtlCol="0" anchor="ctr"/>
          <a:lstStyle/>
          <a:p>
            <a:pPr marL="0" indent="0" algn="l">
              <a:buNone/>
            </a:pPr>
            <a:r>
              <a:rPr lang="en-US" sz="1000" dirty="0">
                <a:solidFill>
                  <a:srgbClr val="6B7180"/>
                </a:solidFill>
                <a:latin typeface="Noto Sans CJK JP" pitchFamily="34" charset="0"/>
                <a:ea typeface="Noto Sans CJK JP"/>
                <a:cs typeface="Noto Sans CJK JP" pitchFamily="34" charset="-120"/>
              </a:rPr>
              <a:t>5garashi.com Design Office</a:t>
            </a:r>
            <a:endParaRPr lang="en-US" sz="10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02920"/>
            <a:ext cx="146304" cy="146304"/>
          </a:xfrm>
          <a:prstGeom prst="ellipse">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93192"/>
            <a:ext cx="5486400" cy="365760"/>
          </a:xfrm>
          <a:prstGeom prst="rect">
            <a:avLst/>
          </a:prstGeom>
          <a:noFill/>
        </p:spPr>
        <p:txBody>
          <a:bodyPr wrap="square" anchor="t" lIns="0" rIns="0" tIns="0" bIns="0">
            <a:spAutoFit/>
          </a:bodyPr>
          <a:lstStyle/>
          <a:p>
            <a:pPr algn="l"/>
            <a:r>
              <a:rPr sz="1600" b="1" i="0">
                <a:solidFill>
                  <a:srgbClr val="0F9E8E"/>
                </a:solidFill>
                <a:latin typeface="Noto Sans CJK JP"/>
                <a:ea typeface="Noto Sans CJK JP"/>
              </a:rPr>
              <a:t>Appendix 3</a:t>
            </a:r>
          </a:p>
        </p:txBody>
      </p:sp>
      <p:sp>
        <p:nvSpPr>
          <p:cNvPr id="4" name="TextBox 3"/>
          <p:cNvSpPr txBox="1"/>
          <p:nvPr/>
        </p:nvSpPr>
        <p:spPr>
          <a:xfrm>
            <a:off x="640080" y="822960"/>
            <a:ext cx="10972800" cy="640080"/>
          </a:xfrm>
          <a:prstGeom prst="rect">
            <a:avLst/>
          </a:prstGeom>
          <a:noFill/>
        </p:spPr>
        <p:txBody>
          <a:bodyPr wrap="square" anchor="t" lIns="0" rIns="0" tIns="0" bIns="0">
            <a:spAutoFit/>
          </a:bodyPr>
          <a:lstStyle/>
          <a:p>
            <a:pPr algn="l"/>
            <a:r>
              <a:rPr sz="2600" b="1" i="0">
                <a:solidFill>
                  <a:srgbClr val="1A2238"/>
                </a:solidFill>
                <a:latin typeface="Noto Sans CJK JP"/>
                <a:ea typeface="Noto Sans CJK JP"/>
              </a:rPr>
              <a:t>Common early stumbling points (1/2)</a:t>
            </a:r>
          </a:p>
        </p:txBody>
      </p:sp>
      <p:sp>
        <p:nvSpPr>
          <p:cNvPr id="5" name="Rectangle 4"/>
          <p:cNvSpPr/>
          <p:nvPr/>
        </p:nvSpPr>
        <p:spPr>
          <a:xfrm>
            <a:off x="640080" y="155448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1</a:t>
            </a:r>
          </a:p>
        </p:txBody>
      </p:sp>
      <p:sp>
        <p:nvSpPr>
          <p:cNvPr id="7" name="TextBox 6"/>
          <p:cNvSpPr txBox="1"/>
          <p:nvPr/>
        </p:nvSpPr>
        <p:spPr>
          <a:xfrm>
            <a:off x="1325880" y="153619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Roots are not missing — they may just be inexpressible by radicals</a:t>
            </a:r>
            <a:r>
              <a:rPr sz="1200" b="0" i="0">
                <a:solidFill>
                  <a:srgbClr val="0F9E8E"/>
                </a:solidFill>
                <a:latin typeface="Noto Sans CJK JP"/>
                <a:ea typeface="Noto Sans CJK JP"/>
              </a:rPr>
              <a:t>   (main → P9)</a:t>
            </a:r>
          </a:p>
        </p:txBody>
      </p:sp>
      <p:sp>
        <p:nvSpPr>
          <p:cNvPr id="8" name="TextBox 7"/>
          <p:cNvSpPr txBox="1"/>
          <p:nvPr/>
        </p:nvSpPr>
        <p:spPr>
          <a:xfrm>
            <a:off x="1325880" y="2011680"/>
            <a:ext cx="10058400" cy="1097280"/>
          </a:xfrm>
          <a:prstGeom prst="rect">
            <a:avLst/>
          </a:prstGeom>
          <a:noFill/>
        </p:spPr>
        <p:txBody>
          <a:bodyPr wrap="square" lIns="0" rIns="0" tIns="0" bIns="0">
            <a:spAutoFit/>
          </a:bodyPr>
          <a:lstStyle/>
          <a:p>
            <a:pPr>
              <a:lnSpc>
                <a:spcPct val="118000"/>
              </a:lnSpc>
            </a:pPr>
            <a:r>
              <a:rPr sz="1300" b="0">
                <a:solidFill>
                  <a:srgbClr val="5A6072"/>
                </a:solidFill>
                <a:latin typeface="Noto Sans CJK JP"/>
                <a:ea typeface="Noto Sans CJK JP"/>
              </a:rPr>
              <a:t>For degree ≥ 5, roots always exist if we allow complex numbers. The question is not whether roots exist, but whether they can be written using only </a:t>
            </a:r>
            <a:r>
              <a:rPr sz="1300" b="1">
                <a:solidFill>
                  <a:srgbClr val="1A2238"/>
                </a:solidFill>
                <a:latin typeface="Noto Sans CJK JP"/>
                <a:ea typeface="Noto Sans CJK JP"/>
              </a:rPr>
              <a:t>the four operations and radicals</a:t>
            </a:r>
            <a:r>
              <a:rPr sz="1300" b="0">
                <a:solidFill>
                  <a:srgbClr val="5A6072"/>
                </a:solidFill>
                <a:latin typeface="Noto Sans CJK JP"/>
                <a:ea typeface="Noto Sans CJK JP"/>
              </a:rPr>
              <a:t>.</a:t>
            </a:r>
          </a:p>
          <a:p>
            <a:pPr>
              <a:lnSpc>
                <a:spcPct val="118000"/>
              </a:lnSpc>
            </a:pPr>
            <a:r>
              <a:rPr sz="1300" b="0">
                <a:solidFill>
                  <a:srgbClr val="5A6072"/>
                </a:solidFill>
                <a:latin typeface="Noto Sans CJK JP"/>
                <a:ea typeface="Noto Sans CJK JP"/>
              </a:rPr>
              <a:t>"No solution formula" does not mean there are no roots — it means no uniform procedure expresses the roots by radicals alone.</a:t>
            </a:r>
          </a:p>
        </p:txBody>
      </p:sp>
      <p:sp>
        <p:nvSpPr>
          <p:cNvPr id="9" name="Rectangle 8"/>
          <p:cNvSpPr/>
          <p:nvPr/>
        </p:nvSpPr>
        <p:spPr>
          <a:xfrm>
            <a:off x="640080" y="310896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0896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2</a:t>
            </a:r>
          </a:p>
        </p:txBody>
      </p:sp>
      <p:sp>
        <p:nvSpPr>
          <p:cNvPr id="11" name="TextBox 10"/>
          <p:cNvSpPr txBox="1"/>
          <p:nvPr/>
        </p:nvSpPr>
        <p:spPr>
          <a:xfrm>
            <a:off x="1325880" y="309067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Some individual quintics are solvable</a:t>
            </a:r>
            <a:r>
              <a:rPr sz="1200" b="0" i="0">
                <a:solidFill>
                  <a:srgbClr val="0F9E8E"/>
                </a:solidFill>
                <a:latin typeface="Noto Sans CJK JP"/>
                <a:ea typeface="Noto Sans CJK JP"/>
              </a:rPr>
              <a:t>   (main → P9)</a:t>
            </a:r>
          </a:p>
        </p:txBody>
      </p:sp>
      <p:sp>
        <p:nvSpPr>
          <p:cNvPr id="12" name="TextBox 11"/>
          <p:cNvSpPr txBox="1"/>
          <p:nvPr/>
        </p:nvSpPr>
        <p:spPr>
          <a:xfrm>
            <a:off x="1325880" y="3566160"/>
            <a:ext cx="10058400" cy="1097280"/>
          </a:xfrm>
          <a:prstGeom prst="rect">
            <a:avLst/>
          </a:prstGeom>
          <a:noFill/>
        </p:spPr>
        <p:txBody>
          <a:bodyPr wrap="square" lIns="0" rIns="0" tIns="0" bIns="0">
            <a:spAutoFit/>
          </a:bodyPr>
          <a:lstStyle/>
          <a:p>
            <a:pPr>
              <a:lnSpc>
                <a:spcPct val="118000"/>
              </a:lnSpc>
            </a:pPr>
            <a:r>
              <a:rPr sz="1300" b="0">
                <a:solidFill>
                  <a:srgbClr val="5A6072"/>
                </a:solidFill>
                <a:latin typeface="Noto Sans CJK JP"/>
                <a:ea typeface="Noto Sans CJK JP"/>
              </a:rPr>
              <a:t>"No formula for the quintic" does not mean every quintic is unsolvable. Some quintics are solvable by radicals (e.g. x⁵−1=0).</a:t>
            </a:r>
          </a:p>
          <a:p>
            <a:pPr>
              <a:lnSpc>
                <a:spcPct val="118000"/>
              </a:lnSpc>
            </a:pPr>
            <a:r>
              <a:rPr sz="1300" b="0">
                <a:solidFill>
                  <a:srgbClr val="5A6072"/>
                </a:solidFill>
                <a:latin typeface="Noto Sans CJK JP"/>
                <a:ea typeface="Noto Sans CJK JP"/>
              </a:rPr>
              <a:t>The point is that for the </a:t>
            </a:r>
            <a:r>
              <a:rPr sz="1300" b="1">
                <a:solidFill>
                  <a:srgbClr val="1A2238"/>
                </a:solidFill>
                <a:latin typeface="Noto Sans CJK JP"/>
                <a:ea typeface="Noto Sans CJK JP"/>
              </a:rPr>
              <a:t>general quintic with literal coefficients</a:t>
            </a:r>
            <a:r>
              <a:rPr sz="1300" b="0">
                <a:solidFill>
                  <a:srgbClr val="5A6072"/>
                </a:solidFill>
                <a:latin typeface="Noto Sans CJK JP"/>
                <a:ea typeface="Noto Sans CJK JP"/>
              </a:rPr>
              <a:t>, no uniform formula in the four operations and radicals exists.</a:t>
            </a:r>
          </a:p>
        </p:txBody>
      </p:sp>
      <p:sp>
        <p:nvSpPr>
          <p:cNvPr id="13" name="Rectangle 12"/>
          <p:cNvSpPr/>
          <p:nvPr/>
        </p:nvSpPr>
        <p:spPr>
          <a:xfrm>
            <a:off x="640080" y="466344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66344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3</a:t>
            </a:r>
          </a:p>
        </p:txBody>
      </p:sp>
      <p:sp>
        <p:nvSpPr>
          <p:cNvPr id="15" name="TextBox 14"/>
          <p:cNvSpPr txBox="1"/>
          <p:nvPr/>
        </p:nvSpPr>
        <p:spPr>
          <a:xfrm>
            <a:off x="1325880" y="464515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The Galois group is not all permutations of the roots</a:t>
            </a:r>
            <a:r>
              <a:rPr sz="1200" b="0" i="0">
                <a:solidFill>
                  <a:srgbClr val="0F9E8E"/>
                </a:solidFill>
                <a:latin typeface="Noto Sans CJK JP"/>
                <a:ea typeface="Noto Sans CJK JP"/>
              </a:rPr>
              <a:t>   (main → P3)</a:t>
            </a:r>
          </a:p>
        </p:txBody>
      </p:sp>
      <p:sp>
        <p:nvSpPr>
          <p:cNvPr id="16" name="TextBox 15"/>
          <p:cNvSpPr txBox="1"/>
          <p:nvPr/>
        </p:nvSpPr>
        <p:spPr>
          <a:xfrm>
            <a:off x="1325880" y="5120640"/>
            <a:ext cx="10058400" cy="1097280"/>
          </a:xfrm>
          <a:prstGeom prst="rect">
            <a:avLst/>
          </a:prstGeom>
          <a:noFill/>
        </p:spPr>
        <p:txBody>
          <a:bodyPr wrap="square" lIns="0" rIns="0" tIns="0" bIns="0">
            <a:spAutoFit/>
          </a:bodyPr>
          <a:lstStyle/>
          <a:p>
            <a:pPr>
              <a:lnSpc>
                <a:spcPct val="118000"/>
              </a:lnSpc>
            </a:pPr>
            <a:r>
              <a:rPr sz="1300" b="0">
                <a:solidFill>
                  <a:srgbClr val="5A6072"/>
                </a:solidFill>
                <a:latin typeface="Noto Sans CJK JP"/>
                <a:ea typeface="Noto Sans CJK JP"/>
              </a:rPr>
              <a:t>The Galois group is not every rearrangement of the roots, but only </a:t>
            </a:r>
            <a:r>
              <a:rPr sz="1300" b="1">
                <a:solidFill>
                  <a:srgbClr val="1A2238"/>
                </a:solidFill>
                <a:latin typeface="Noto Sans CJK JP"/>
                <a:ea typeface="Noto Sans CJK JP"/>
              </a:rPr>
              <a:t>the swaps that preserve the value of rational expressions built from the roots</a:t>
            </a:r>
            <a:r>
              <a:rPr sz="1300" b="0">
                <a:solidFill>
                  <a:srgbClr val="5A6072"/>
                </a:solidFill>
                <a:latin typeface="Noto Sans CJK JP"/>
                <a:ea typeface="Noto Sans CJK JP"/>
              </a:rPr>
              <a:t>.</a:t>
            </a:r>
          </a:p>
          <a:p>
            <a:pPr>
              <a:lnSpc>
                <a:spcPct val="118000"/>
              </a:lnSpc>
            </a:pPr>
            <a:r>
              <a:rPr sz="1300" b="0">
                <a:solidFill>
                  <a:srgbClr val="5A6072"/>
                </a:solidFill>
                <a:latin typeface="Noto Sans CJK JP"/>
                <a:ea typeface="Noto Sans CJK JP"/>
              </a:rPr>
              <a:t>Roots indistinguishable from the rationals may be swapped, but swaps that break relations like sums or products are not allowed.</a:t>
            </a:r>
          </a:p>
        </p:txBody>
      </p:sp>
      <p:sp>
        <p:nvSpPr>
          <p:cNvPr id="17" name="TextBox 16"/>
          <p:cNvSpPr txBox="1"/>
          <p:nvPr/>
        </p:nvSpPr>
        <p:spPr>
          <a:xfrm>
            <a:off x="11369040" y="6355080"/>
            <a:ext cx="457200" cy="274320"/>
          </a:xfrm>
          <a:prstGeom prst="rect">
            <a:avLst/>
          </a:prstGeom>
          <a:noFill/>
        </p:spPr>
        <p:txBody>
          <a:bodyPr wrap="square" anchor="t" lIns="0" rIns="0" tIns="0" bIns="0">
            <a:spAutoFit/>
          </a:bodyPr>
          <a:lstStyle/>
          <a:p>
            <a:pPr algn="r"/>
            <a:r>
              <a:rPr sz="1100" b="0" i="0">
                <a:solidFill>
                  <a:srgbClr val="6B7180"/>
                </a:solidFill>
                <a:latin typeface="Noto Sans CJK JP"/>
                <a:ea typeface="Noto Sans CJK JP"/>
              </a:rPr>
              <a:t>17</a:t>
            </a:r>
          </a:p>
        </p:txBody>
      </p:sp>
      <p:sp>
        <p:nvSpPr>
          <p:cNvPr id="18" name="TextBox 17"/>
          <p:cNvSpPr txBox="1"/>
          <p:nvPr/>
        </p:nvSpPr>
        <p:spPr>
          <a:xfrm>
            <a:off x="457200" y="6355080"/>
            <a:ext cx="4572000" cy="274320"/>
          </a:xfrm>
          <a:prstGeom prst="rect">
            <a:avLst/>
          </a:prstGeom>
          <a:noFill/>
        </p:spPr>
        <p:txBody>
          <a:bodyPr wrap="square" anchor="t" lIns="0" rIns="0" tIns="0" bIns="0">
            <a:spAutoFit/>
          </a:bodyPr>
          <a:lstStyle/>
          <a:p>
            <a:pPr algn="l"/>
            <a:r>
              <a:rPr sz="1000" b="0" i="0">
                <a:solidFill>
                  <a:srgbClr val="6B7180"/>
                </a:solidFill>
                <a:latin typeface="Noto Sans CJK JP"/>
                <a:ea typeface="Noto Sans CJK JP"/>
              </a:rPr>
              <a:t>5garashi.com Design Office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640080" y="502920"/>
            <a:ext cx="146304" cy="146304"/>
          </a:xfrm>
          <a:prstGeom prst="ellipse">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96112" y="393192"/>
            <a:ext cx="5486400" cy="365760"/>
          </a:xfrm>
          <a:prstGeom prst="rect">
            <a:avLst/>
          </a:prstGeom>
          <a:noFill/>
        </p:spPr>
        <p:txBody>
          <a:bodyPr wrap="square" anchor="t" lIns="0" rIns="0" tIns="0" bIns="0">
            <a:spAutoFit/>
          </a:bodyPr>
          <a:lstStyle/>
          <a:p>
            <a:pPr algn="l"/>
            <a:r>
              <a:rPr sz="1600" b="1" i="0">
                <a:solidFill>
                  <a:srgbClr val="0F9E8E"/>
                </a:solidFill>
                <a:latin typeface="Noto Sans CJK JP"/>
                <a:ea typeface="Noto Sans CJK JP"/>
              </a:rPr>
              <a:t>Appendix 3</a:t>
            </a:r>
          </a:p>
        </p:txBody>
      </p:sp>
      <p:sp>
        <p:nvSpPr>
          <p:cNvPr id="4" name="TextBox 3"/>
          <p:cNvSpPr txBox="1"/>
          <p:nvPr/>
        </p:nvSpPr>
        <p:spPr>
          <a:xfrm>
            <a:off x="640080" y="822960"/>
            <a:ext cx="10972800" cy="640080"/>
          </a:xfrm>
          <a:prstGeom prst="rect">
            <a:avLst/>
          </a:prstGeom>
          <a:noFill/>
        </p:spPr>
        <p:txBody>
          <a:bodyPr wrap="square" anchor="t" lIns="0" rIns="0" tIns="0" bIns="0">
            <a:spAutoFit/>
          </a:bodyPr>
          <a:lstStyle/>
          <a:p>
            <a:pPr algn="l"/>
            <a:r>
              <a:rPr sz="2600" b="1" i="0">
                <a:solidFill>
                  <a:srgbClr val="1A2238"/>
                </a:solidFill>
                <a:latin typeface="Noto Sans CJK JP"/>
                <a:ea typeface="Noto Sans CJK JP"/>
              </a:rPr>
              <a:t>Common early stumbling points (2/2)</a:t>
            </a:r>
          </a:p>
        </p:txBody>
      </p:sp>
      <p:sp>
        <p:nvSpPr>
          <p:cNvPr id="5" name="Rectangle 4"/>
          <p:cNvSpPr/>
          <p:nvPr/>
        </p:nvSpPr>
        <p:spPr>
          <a:xfrm>
            <a:off x="640080" y="155448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4</a:t>
            </a:r>
          </a:p>
        </p:txBody>
      </p:sp>
      <p:sp>
        <p:nvSpPr>
          <p:cNvPr id="7" name="TextBox 6"/>
          <p:cNvSpPr txBox="1"/>
          <p:nvPr/>
        </p:nvSpPr>
        <p:spPr>
          <a:xfrm>
            <a:off x="1325880" y="153619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"The group shrinks" means fewer allowed swaps</a:t>
            </a:r>
            <a:r>
              <a:rPr sz="1200" b="0" i="0">
                <a:solidFill>
                  <a:srgbClr val="0F9E8E"/>
                </a:solidFill>
                <a:latin typeface="Noto Sans CJK JP"/>
                <a:ea typeface="Noto Sans CJK JP"/>
              </a:rPr>
              <a:t>   (main → P4)</a:t>
            </a:r>
          </a:p>
        </p:txBody>
      </p:sp>
      <p:sp>
        <p:nvSpPr>
          <p:cNvPr id="8" name="TextBox 7"/>
          <p:cNvSpPr txBox="1"/>
          <p:nvPr/>
        </p:nvSpPr>
        <p:spPr>
          <a:xfrm>
            <a:off x="1325880" y="2011680"/>
            <a:ext cx="10058400" cy="1097280"/>
          </a:xfrm>
          <a:prstGeom prst="rect">
            <a:avLst/>
          </a:prstGeom>
          <a:noFill/>
        </p:spPr>
        <p:txBody>
          <a:bodyPr wrap="square" lIns="0" rIns="0" tIns="0" bIns="0">
            <a:spAutoFit/>
          </a:bodyPr>
          <a:lstStyle/>
          <a:p>
            <a:pPr>
              <a:lnSpc>
                <a:spcPct val="118000"/>
              </a:lnSpc>
            </a:pPr>
            <a:r>
              <a:rPr sz="1300" b="0">
                <a:solidFill>
                  <a:srgbClr val="5A6072"/>
                </a:solidFill>
                <a:latin typeface="Noto Sans CJK JP"/>
                <a:ea typeface="Noto Sans CJK JP"/>
              </a:rPr>
              <a:t>Adjoining a new element to the field makes previously indistinguishable numbers distinguishable, so fewer swaps are allowed.</a:t>
            </a:r>
          </a:p>
          <a:p>
            <a:pPr>
              <a:lnSpc>
                <a:spcPct val="118000"/>
              </a:lnSpc>
            </a:pPr>
            <a:r>
              <a:rPr sz="1300" b="0">
                <a:solidFill>
                  <a:srgbClr val="1A2238"/>
                </a:solidFill>
                <a:latin typeface="Noto Sans CJK JP"/>
                <a:ea typeface="Noto Sans CJK JP"/>
              </a:rPr>
              <a:t>field grows → more known numbers → more numbers to fix → fewer allowed swaps → the Galois group shrinks.</a:t>
            </a:r>
          </a:p>
        </p:txBody>
      </p:sp>
      <p:sp>
        <p:nvSpPr>
          <p:cNvPr id="9" name="Rectangle 8"/>
          <p:cNvSpPr/>
          <p:nvPr/>
        </p:nvSpPr>
        <p:spPr>
          <a:xfrm>
            <a:off x="640080" y="310896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0896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5</a:t>
            </a:r>
          </a:p>
        </p:txBody>
      </p:sp>
      <p:sp>
        <p:nvSpPr>
          <p:cNvPr id="11" name="TextBox 10"/>
          <p:cNvSpPr txBox="1"/>
          <p:nvPr/>
        </p:nvSpPr>
        <p:spPr>
          <a:xfrm>
            <a:off x="1325880" y="309067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The quotient’s order corresponds to which n-th root is adjoined</a:t>
            </a:r>
            <a:r>
              <a:rPr sz="1200" b="0" i="0">
                <a:solidFill>
                  <a:srgbClr val="0F9E8E"/>
                </a:solidFill>
                <a:latin typeface="Noto Sans CJK JP"/>
                <a:ea typeface="Noto Sans CJK JP"/>
              </a:rPr>
              <a:t>   (main → P4 ・ App.2 P15)</a:t>
            </a:r>
          </a:p>
        </p:txBody>
      </p:sp>
      <p:sp>
        <p:nvSpPr>
          <p:cNvPr id="12" name="TextBox 11"/>
          <p:cNvSpPr txBox="1"/>
          <p:nvPr/>
        </p:nvSpPr>
        <p:spPr>
          <a:xfrm>
            <a:off x="1325880" y="3566160"/>
            <a:ext cx="10058400" cy="1097280"/>
          </a:xfrm>
          <a:prstGeom prst="rect">
            <a:avLst/>
          </a:prstGeom>
          <a:noFill/>
        </p:spPr>
        <p:txBody>
          <a:bodyPr wrap="square" lIns="0" rIns="0" tIns="0" bIns="0">
            <a:spAutoFit/>
          </a:bodyPr>
          <a:lstStyle/>
          <a:p>
            <a:pPr>
              <a:lnSpc>
                <a:spcPct val="105000"/>
              </a:lnSpc>
            </a:pPr>
            <a:r>
              <a:rPr sz="1200">
                <a:solidFill>
                  <a:srgbClr val="1A2238"/>
                </a:solidFill>
                <a:latin typeface="Noto Sans CJK JP"/>
                <a:ea typeface="Noto Sans CJK JP"/>
              </a:rPr>
              <a:t>The quotient’s order equals the number of permutation steps to cycle once through the radical’s conjugate candidates and return.</a:t>
            </a:r>
          </a:p>
          <a:p>
            <a:pPr>
              <a:lnSpc>
                <a:spcPct val="105000"/>
              </a:lnSpc>
            </a:pPr>
            <a:r>
              <a:rPr sz="1200">
                <a:solidFill>
                  <a:srgbClr val="1A2238"/>
                </a:solidFill>
                <a:latin typeface="Noto Sans CJK JP"/>
                <a:ea typeface="Noto Sans CJK JP"/>
              </a:rPr>
              <a:t>For a square root the candidates are √a, −√a (2 of them): √a → −√a → √a returns after 2 steps.</a:t>
            </a:r>
          </a:p>
          <a:p>
            <a:pPr>
              <a:lnSpc>
                <a:spcPct val="105000"/>
              </a:lnSpc>
            </a:pPr>
            <a:r>
              <a:rPr sz="1200">
                <a:solidFill>
                  <a:srgbClr val="1A2238"/>
                </a:solidFill>
                <a:latin typeface="Noto Sans CJK JP"/>
                <a:ea typeface="Noto Sans CJK JP"/>
              </a:rPr>
              <a:t>For a cube root the candidates are ³√a, ω³√a, ω²³√a (3 of them): ³√a → ω³√a → ω²³√a → ³√a returns after 3 steps.</a:t>
            </a:r>
          </a:p>
        </p:txBody>
      </p:sp>
      <p:sp>
        <p:nvSpPr>
          <p:cNvPr id="13" name="Rectangle 12"/>
          <p:cNvSpPr/>
          <p:nvPr/>
        </p:nvSpPr>
        <p:spPr>
          <a:xfrm>
            <a:off x="640080" y="4663440"/>
            <a:ext cx="502920" cy="502920"/>
          </a:xfrm>
          <a:prstGeom prst="rect">
            <a:avLst/>
          </a:prstGeom>
          <a:solidFill>
            <a:srgbClr val="0F9E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663440"/>
            <a:ext cx="502920" cy="502920"/>
          </a:xfrm>
          <a:prstGeom prst="rect">
            <a:avLst/>
          </a:prstGeom>
          <a:noFill/>
        </p:spPr>
        <p:txBody>
          <a:bodyPr wrap="square" anchor="ctr" lIns="0" rIns="0" tIns="0" bIns="0">
            <a:spAutoFit/>
          </a:bodyPr>
          <a:lstStyle/>
          <a:p>
            <a:pPr algn="ctr"/>
            <a:r>
              <a:rPr sz="2200" b="1" i="0">
                <a:solidFill>
                  <a:srgbClr val="FFFFFF"/>
                </a:solidFill>
                <a:latin typeface="Noto Sans CJK JP"/>
                <a:ea typeface="Noto Sans CJK JP"/>
              </a:rPr>
              <a:t>6</a:t>
            </a:r>
          </a:p>
        </p:txBody>
      </p:sp>
      <p:sp>
        <p:nvSpPr>
          <p:cNvPr id="15" name="TextBox 14"/>
          <p:cNvSpPr txBox="1"/>
          <p:nvPr/>
        </p:nvSpPr>
        <p:spPr>
          <a:xfrm>
            <a:off x="1325880" y="4645152"/>
            <a:ext cx="10058400" cy="411480"/>
          </a:xfrm>
          <a:prstGeom prst="rect">
            <a:avLst/>
          </a:prstGeom>
          <a:noFill/>
        </p:spPr>
        <p:txBody>
          <a:bodyPr wrap="square" anchor="ctr" lIns="0" rIns="0" tIns="0" bIns="0">
            <a:spAutoFit/>
          </a:bodyPr>
          <a:lstStyle/>
          <a:p>
            <a:pPr algn="l"/>
            <a:r>
              <a:rPr sz="1600" b="1" i="0">
                <a:solidFill>
                  <a:srgbClr val="1A2238"/>
                </a:solidFill>
                <a:latin typeface="Noto Sans CJK JP"/>
                <a:ea typeface="Noto Sans CJK JP"/>
              </a:rPr>
              <a:t>The adjoined element is not always a root itself</a:t>
            </a:r>
            <a:r>
              <a:rPr sz="1200" b="0" i="0">
                <a:solidFill>
                  <a:srgbClr val="0F9E8E"/>
                </a:solidFill>
                <a:latin typeface="Noto Sans CJK JP"/>
                <a:ea typeface="Noto Sans CJK JP"/>
              </a:rPr>
              <a:t>   (App.1 P13 ・ App.2 P15)</a:t>
            </a:r>
          </a:p>
        </p:txBody>
      </p:sp>
      <p:sp>
        <p:nvSpPr>
          <p:cNvPr id="16" name="TextBox 15"/>
          <p:cNvSpPr txBox="1"/>
          <p:nvPr/>
        </p:nvSpPr>
        <p:spPr>
          <a:xfrm>
            <a:off x="1325880" y="5120640"/>
            <a:ext cx="10058400" cy="1097280"/>
          </a:xfrm>
          <a:prstGeom prst="rect">
            <a:avLst/>
          </a:prstGeom>
          <a:noFill/>
        </p:spPr>
        <p:txBody>
          <a:bodyPr wrap="square" lIns="0" rIns="0" tIns="0" bIns="0">
            <a:spAutoFit/>
          </a:bodyPr>
          <a:lstStyle/>
          <a:p>
            <a:pPr>
              <a:lnSpc>
                <a:spcPct val="105000"/>
              </a:lnSpc>
            </a:pPr>
            <a:r>
              <a:rPr sz="1200">
                <a:solidFill>
                  <a:srgbClr val="1A2238"/>
                </a:solidFill>
                <a:latin typeface="Noto Sans CJK JP"/>
                <a:ea typeface="Noto Sans CJK JP"/>
              </a:rPr>
              <a:t>The element adjoined when shrinking is not necessarily a root of the equation; a helper number needed to express the roots may be adjoined first.</a:t>
            </a:r>
          </a:p>
          <a:p>
            <a:pPr>
              <a:lnSpc>
                <a:spcPct val="105000"/>
              </a:lnSpc>
            </a:pPr>
            <a:r>
              <a:rPr sz="1200">
                <a:solidFill>
                  <a:srgbClr val="1A2238"/>
                </a:solidFill>
                <a:latin typeface="Noto Sans CJK JP"/>
                <a:ea typeface="Noto Sans CJK JP"/>
              </a:rPr>
              <a:t>Example: in ax²+bx+c=0, the √(b²−4ac) in the quadratic formula is not a root itself but a radical adjoined to express the roots.</a:t>
            </a:r>
          </a:p>
          <a:p>
            <a:pPr>
              <a:lnSpc>
                <a:spcPct val="105000"/>
              </a:lnSpc>
            </a:pPr>
            <a:r>
              <a:rPr sz="1200">
                <a:solidFill>
                  <a:srgbClr val="1A2238"/>
                </a:solidFill>
                <a:latin typeface="Noto Sans CJK JP"/>
                <a:ea typeface="Noto Sans CJK JP"/>
              </a:rPr>
              <a:t>For x³−2 too, among the roots α,αω,αω² (α=³√2), ω is not a root, yet expressing all three needs ω.</a:t>
            </a:r>
          </a:p>
          <a:p>
            <a:pPr>
              <a:lnSpc>
                <a:spcPct val="105000"/>
              </a:lnSpc>
            </a:pPr>
            <a:r>
              <a:rPr sz="1200">
                <a:solidFill>
                  <a:srgbClr val="1A2238"/>
                </a:solidFill>
                <a:latin typeface="Noto Sans CJK JP"/>
                <a:ea typeface="Noto Sans CJK JP"/>
              </a:rPr>
              <a:t>Solving by radicals = adjoining the needed numbers in order until the group shrinks to {e}.</a:t>
            </a:r>
          </a:p>
        </p:txBody>
      </p:sp>
      <p:sp>
        <p:nvSpPr>
          <p:cNvPr id="17" name="TextBox 16"/>
          <p:cNvSpPr txBox="1"/>
          <p:nvPr/>
        </p:nvSpPr>
        <p:spPr>
          <a:xfrm>
            <a:off x="11369040" y="6355080"/>
            <a:ext cx="457200" cy="274320"/>
          </a:xfrm>
          <a:prstGeom prst="rect">
            <a:avLst/>
          </a:prstGeom>
          <a:noFill/>
        </p:spPr>
        <p:txBody>
          <a:bodyPr wrap="square" anchor="t" lIns="0" rIns="0" tIns="0" bIns="0">
            <a:spAutoFit/>
          </a:bodyPr>
          <a:lstStyle/>
          <a:p>
            <a:pPr algn="r"/>
            <a:r>
              <a:rPr sz="1100" b="0" i="0">
                <a:solidFill>
                  <a:srgbClr val="6B7180"/>
                </a:solidFill>
                <a:latin typeface="Noto Sans CJK JP"/>
                <a:ea typeface="Noto Sans CJK JP"/>
              </a:rPr>
              <a:t>18</a:t>
            </a:r>
          </a:p>
        </p:txBody>
      </p:sp>
      <p:sp>
        <p:nvSpPr>
          <p:cNvPr id="18" name="TextBox 17"/>
          <p:cNvSpPr txBox="1"/>
          <p:nvPr/>
        </p:nvSpPr>
        <p:spPr>
          <a:xfrm>
            <a:off x="457200" y="6355080"/>
            <a:ext cx="4572000" cy="274320"/>
          </a:xfrm>
          <a:prstGeom prst="rect">
            <a:avLst/>
          </a:prstGeom>
          <a:noFill/>
        </p:spPr>
        <p:txBody>
          <a:bodyPr wrap="square" anchor="t" lIns="0" rIns="0" tIns="0" bIns="0">
            <a:spAutoFit/>
          </a:bodyPr>
          <a:lstStyle/>
          <a:p>
            <a:pPr algn="l"/>
            <a:r>
              <a:rPr sz="1000" b="0" i="0">
                <a:solidFill>
                  <a:srgbClr val="6B7180"/>
                </a:solidFill>
                <a:latin typeface="Noto Sans CJK JP"/>
                <a:ea typeface="Noto Sans CJK JP"/>
              </a:rPr>
              <a:t>5garashi.com Design Office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1780</Words>
  <Application>Microsoft Office PowerPoint</Application>
  <PresentationFormat>ワイド画面</PresentationFormat>
  <Paragraphs>202</Paragraphs>
  <Slides>15</Slides>
  <Notes>15</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15</vt:i4>
      </vt:variant>
    </vt:vector>
  </HeadingPairs>
  <TitlesOfParts>
    <vt:vector size="18"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Galois Theory — Introduction</dc:title>
  <dc:subject>PptxGenJS Presentation</dc:subject>
  <dc:creator>Galois Theory Deck</dc:creator>
  <cp:lastModifiedBy>Igarashi</cp:lastModifiedBy>
  <cp:revision>2</cp:revision>
  <dcterms:created xsi:type="dcterms:W3CDTF">2026-06-06T22:22:52Z</dcterms:created>
  <dcterms:modified xsi:type="dcterms:W3CDTF">2026-06-06T22:33:14Z</dcterms:modified>
</cp:coreProperties>
</file>